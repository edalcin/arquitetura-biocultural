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1" r:id="rId30"/>
    <p:sldId id="282" r:id="rId31"/>
    <p:sldId id="280" r:id="rId29"/>
    <p:sldId id="279" r:id="rId28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7.xml"/><Relationship Id="rId29" Type="http://schemas.openxmlformats.org/officeDocument/2006/relationships/slide" Target="slides/slide26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Abertura: apresentar a proposta como um convite, não como um sistema de TI.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Visão geral do que será mostrado, em cinco blocos.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o primeiro bloco: o problema, contado como história.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Estabelece a urgência: o conhecimento existe, mas está fragmentado e sob risco.</a:t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por que copiar o modelo acadêmico não funciona para conhecimento tradicional.</a:t>
            </a:r>
            <a:endParaRPr/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o segundo bloco: as quatro fontes de evidência.</a:t>
            </a:r>
            <a:endParaRPr/>
          </a:p>
        </p:txBody>
      </p:sp>
      <p:sp>
        <p:nvSpPr>
          <p:cNvPr id="72" name="Google Shape;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quatro fontes de evidência que a arquitetura acolhe.</a:t>
            </a:r>
            <a:endParaRPr/>
          </a:p>
        </p:txBody>
      </p:sp>
      <p:sp>
        <p:nvSpPr>
          <p:cNvPr id="78" name="Google Shape;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Explica o papel do BioCultTermos como dicionário vivo e compartilhado, sem impor o nome científico.</a:t>
            </a:r>
          </a:p>
          <a:p>
            <a:r>
              <a:t>Para o público acadêmico: SKOS-XL (W3C) trata o rótulo como recurso de primeira classe, e é isso que permite pendurar accessLevel, povo detentor e consentimento em cada forma textual — inclusive tratar o nome em língua indígena com nível de acesso diferente do nome em português. Alinhamento com GBIF/Darwin Core acontece na camada de mapeamento do Pluriverso, não dentro do vocabulário da comunidade.</a:t>
            </a:r>
          </a:p>
        </p:txBody>
      </p:sp>
      <p:sp>
        <p:nvSpPr>
          <p:cNvPr id="93" name="Google Shape;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o terceiro bloco: o problema da confiança e a solução federada.</a:t>
            </a:r>
            <a:endParaRPr/>
          </a:p>
        </p:txBody>
      </p:sp>
      <p:sp>
        <p:nvSpPr>
          <p:cNvPr id="103" name="Google Shape;1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9034d40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69034d40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69034d40c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por que a desconfiança das comunidades é legítima — casos reais de apropriação indevida.</a:t>
            </a:r>
            <a:endParaRPr/>
          </a:p>
        </p:txBody>
      </p:sp>
      <p:sp>
        <p:nvSpPr>
          <p:cNvPr id="115" name="Google Shape;1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9034d40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69034d40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69034d40c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soberania federada: sem central, cada participante controla seus próprios dados.</a:t>
            </a:r>
            <a:endParaRPr/>
          </a:p>
        </p:txBody>
      </p:sp>
      <p:sp>
        <p:nvSpPr>
          <p:cNvPr id="129" name="Google Shape;1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9034d40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9034d40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69034d40c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o papel de ponto de encontro do Pluriverso, sem jargão técnico.</a:t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9034d40c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69034d40c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69034d40c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o bloco da linha do tempo da arquitetura.</a:t>
            </a:r>
            <a:endParaRPr/>
          </a:p>
        </p:txBody>
      </p:sp>
      <p:sp>
        <p:nvSpPr>
          <p:cNvPr id="158" name="Google Shape;1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evolução da arquitetura em quatro marcos, sem números de versão.</a:t>
            </a:r>
            <a:endParaRPr/>
          </a:p>
        </p:txBody>
      </p:sp>
      <p:sp>
        <p:nvSpPr>
          <p:cNvPr id="164" name="Google Shape;1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o bloco final: princípios e governança.</a:t>
            </a:r>
            <a:endParaRPr/>
          </a:p>
        </p:txBody>
      </p:sp>
      <p:sp>
        <p:nvSpPr>
          <p:cNvPr id="172" name="Google Shape;1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quatro princípios CARE explicados em linguagem simples.</a:t>
            </a:r>
            <a:endParaRPr/>
          </a:p>
        </p:txBody>
      </p:sp>
      <p:sp>
        <p:nvSpPr>
          <p:cNvPr id="178" name="Google Shape;1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três camadas de governança, em linguagem simples, mais o respaldo legal.</a:t>
            </a:r>
            <a:endParaRPr/>
          </a:p>
        </p:txBody>
      </p:sp>
      <p:sp>
        <p:nvSpPr>
          <p:cNvPr id="192" name="Google Shape;1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9034d40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9034d40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69034d40c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9034d40c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69034d40c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69034d40c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Fechamento com chamado à ação — participação é essencial, não opcional.</a:t>
            </a:r>
            <a:endParaRPr/>
          </a:p>
        </p:txBody>
      </p:sp>
      <p:sp>
        <p:nvSpPr>
          <p:cNvPr id="235" name="Google Shape;23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de escuta, não de exposição. Fazer as quatro perguntas e parar de falar.</a:t>
            </a:r>
          </a:p>
          <a:p>
            <a:r>
              <a:t>Contexto de cada uma, se perguntarem:</a:t>
            </a:r>
          </a:p>
          <a:p>
            <a:r>
              <a:t>1) Nome de quem fala — há um conflito real entre dar crédito (direito da pessoa, previsto na Lei 13.123) e proteger dados sensíveis (LGPD, art. 11). A saída recomendada é o pseudônimo escolhido pela própria pessoa, e é a única que exige perguntar.</a:t>
            </a:r>
          </a:p>
          <a:p>
            <a:r>
              <a:t>2) O que não registrar — a documentação do projeto já assume que há conhecimento sagrado que é mais bem protegido pela não existência do registro do que por qualquer camada de acesso.</a:t>
            </a:r>
          </a:p>
          <a:p>
            <a:r>
              <a:t>3) Marcas de uso — são os TK/BC Labels do Local Contexts. Só a comunidade pode aplicá-los; quando aplicados por terceiro, chamam-se Notices e valem menos.</a:t>
            </a:r>
          </a:p>
          <a:p>
            <a:r>
              <a:t>4) Gravações — o registro em vídeo captura prática, não só fala: o gesto, a sequência, o material escolhido. Pode não haver uma palavra dita, e ainda assim é conhecimento inteiro. Em gravação coletiva, cada participante tem direito próprio sobre a própria voz e imagem: a regra adotada por ora é a mais conservadora — se um pede reserva, a gravação inteira sai, e não editamos para suprimir alguém por conta própria. Caso concreto: o vídeo de 42 segundos em língua Panará, sem consentimento formalizado, sem transcrição com falante nativo e sem conferência da grafia — fora de qualquer publicação até que isso se resolva.</a:t>
            </a:r>
          </a:p>
          <a:p>
            <a:r>
              <a:t>Registrar as respostas na hora; elas destravam o desenho do modelo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avanço mais recente da arquitetura, e o mais difícil de enxergar de fora.</a:t>
            </a:r>
          </a:p>
          <a:p>
            <a:r>
              <a:t>Até agora tudo era chamado de 'evidência', inclusive a fala da própria comunidade — o que colocava, sem querer, o registro do pesquisador e a palavra do detentor no mesmo lugar.</a:t>
            </a:r>
          </a:p>
          <a:p>
            <a:r>
              <a:t>A distinção NÃO é sobre qualidade ou veracidade: é sobre quem tem autoridade para classificar o acesso. Evidência não vale menos; é conhecimento com outro dono.</a:t>
            </a:r>
          </a:p>
          <a:p>
            <a:r>
              <a:t>Consequência prática: em registro de Conhecimento, só a comunidade aplica as marcas de uso; a instituição, no máximo, declara um aviso. E a narrativa da comunidade sobre uma peça de museu fica guardada com a comunidade, não dentro do banco do museu — as duas se encontram sem que uma engula a outra.</a:t>
            </a:r>
          </a:p>
          <a:p>
            <a:r>
              <a:t>Emenda para o próximo slide: é justamente por causa dessa distinção que as quatro perguntas seguintes não podem ser respondidas por nós.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de consolidação: o que a arquitetura ganhou, em quatro marcos, na ordem em que apareceram.</a:t>
            </a:r>
          </a:p>
          <a:p>
            <a:r>
              <a:t>1) Federação (v3.0) — abandono do banco único compartilhado; cada unidade com seu próprio SQLite soberano, Pluriverso como ponto de encontro que só indexa o que foi publicado, e purge imediato na saída.</a:t>
            </a:r>
          </a:p>
          <a:p>
            <a:r>
              <a:t>2) SKOS-XL — rótulo como recurso de primeira classe, o que permite accessLevel, povo detentor e consentimento por forma textual; e nome científico fora do escopo do vocabulário controlado (ADR-014), porque sua autoridade já é externa.</a:t>
            </a:r>
          </a:p>
          <a:p>
            <a:r>
              <a:t>3) Governança — três camadas de decisão, CLPI como ciclo com estágios, rotulagem cultural TK/BC, repartição rastreável; respaldo na Lei 13.123, no Protocolo de Nagoya e na LGPD.</a:t>
            </a:r>
          </a:p>
          <a:p>
            <a:r>
              <a:t>4) Conhecimento × evidência (o mais recente) — a distinção é deôntica, não epistêmica: não diz o que é mais verdadeiro, diz quem tem autoridade para classificar o acesso.</a:t>
            </a:r>
          </a:p>
          <a:p>
            <a:r>
              <a:t>Se houver tempo para uma só frase: os três primeiros protegem o dado; o quarto protege quem decide sobre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320403" y="3452813"/>
            <a:ext cx="17155597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71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Arquitetura BioCultural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371600" y="4942523"/>
            <a:ext cx="10722660" cy="2044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29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201F1D"/>
                </a:solidFill>
              </a:rPr>
              <a:t>Como garantir o registro, a proteção e a soberania dos conhecimentos tradicionais mantidos por gerações sobre as plantas e os animais.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71600" y="9250680"/>
            <a:ext cx="181431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Eduardo Dalcin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192423" y="9250680"/>
            <a:ext cx="13335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421023" y="9250680"/>
            <a:ext cx="67056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Neste convite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371600" y="3457575"/>
            <a:ext cx="1554480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371600" y="2692718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183130" y="2586038"/>
            <a:ext cx="630208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conhecimento que corre risco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371600" y="4941570"/>
            <a:ext cx="1554480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371600" y="4176712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183130" y="4070033"/>
            <a:ext cx="7471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Quatro fontes, uma linguagem comum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71600" y="6425565"/>
            <a:ext cx="1554480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371600" y="5660707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183130" y="5554028"/>
            <a:ext cx="81992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arquitetura para proteger quem sabe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71600" y="7909560"/>
            <a:ext cx="1554480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371600" y="7144703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183130" y="7038023"/>
            <a:ext cx="48771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Como chegamos até aqui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371600" y="9393555"/>
            <a:ext cx="1554480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371600" y="8628698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183130" y="8522018"/>
            <a:ext cx="960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Princípios, governança e o que falta perguntar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371600" y="10887075"/>
            <a:ext cx="1047750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525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1342906" y="4986338"/>
            <a:ext cx="91650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3F2F2"/>
                </a:solidFill>
                <a:latin typeface="Arial"/>
                <a:ea typeface="Arial"/>
                <a:cs typeface="Arial"/>
                <a:sym typeface="Arial"/>
              </a:rPr>
              <a:t>O conhecimento que corre risco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saber espalhado — e em risco de se perder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342901" y="3118400"/>
            <a:ext cx="14538000" cy="5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Guardado em artigos científicos que poucos leem, fora do alcance de quem detém o saber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Vivo na memória das comunidades, passado de boca a ouvido — e ameaçado quando os mais velhos partem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Preservado em acervos de museus e arquivos, muitas vezes esquecido em prateleiras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Registrado por viajantes que passaram pelo Brasil há séculos, em livros hoje raros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que o nome científico não é o ponto de partida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3716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olhar da ciência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371600" y="4257675"/>
            <a:ext cx="749541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Tradicionalmente, organizamos o conhecimento sobre plantas e animais a partir do nome científico: ele é o centro, e tudo — nome popular, uso, história — gira em torno dele.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96393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olhar da comunidade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639300" y="4257675"/>
            <a:ext cx="7495413" cy="2219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Para uma comunidade tradicional, o nome científico simplesmente não existe. O que importa é o nome que a planta tem ali, o uso que ela tem, e quem ensinou esse uso — e é daí que uma arquitetura de respeito precisa partir.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525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1342906" y="4986338"/>
            <a:ext cx="897659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3F2F2"/>
                </a:solidFill>
                <a:latin typeface="Arial"/>
                <a:ea typeface="Arial"/>
                <a:cs typeface="Arial"/>
                <a:sym typeface="Arial"/>
              </a:rPr>
              <a:t>Quatro fontes, uma arquitetura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De onde vem o que a arquitetura reúne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13716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Artigos científicos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1371600" y="42576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pesquisadores já publicaram sobre o uso de plantas e animais por comunidades tradicionais.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96012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Relatos das comunidades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9601200" y="4257675"/>
            <a:ext cx="753465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as próprias comunidades registram e compartilham diretamente, sempre com seu consentimento explícito.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1371600" y="5596370"/>
            <a:ext cx="804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Acervos e museus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1371600" y="6235844"/>
            <a:ext cx="7534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Coleções, registros e documentos históricos preservados em museus e arquivos ao longo do tempo.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9601200" y="5596370"/>
            <a:ext cx="804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Obras de naturalistas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9601200" y="6235844"/>
            <a:ext cx="75348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Relatos de viajantes que passaram pelo Brasil entre os séculos XVII e XIX, registrando o que viram e aprenderam.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1507975" y="8165781"/>
            <a:ext cx="15447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i="0" lang="en-US" sz="2150" u="none" cap="none" strike="noStrike">
                <a:solidFill>
                  <a:srgbClr val="201F1D"/>
                </a:solidFill>
              </a:rPr>
              <a:t>Três dessas fontes trazem o registro feito por um terceiro. Uma delas — os relatos — traz a própria comunidade falando. A diferença parece pequena, e é ela que decide quem manda em cada registro.</a:t>
            </a:r>
            <a:endParaRPr b="1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linguagem comum entre as quatro fontes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371600" y="3722375"/>
            <a:ext cx="150579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fonte fala com suas próprias palavras — nomes populares, sinônimos, usos descritos à maneira e na lí</a:t>
            </a:r>
            <a:r>
              <a:rPr lang="en-US" sz="2700">
                <a:solidFill>
                  <a:srgbClr val="201F1D"/>
                </a:solidFill>
              </a:rPr>
              <a:t>ngua</a:t>
            </a: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 de cada comunidade. O BioCultTermos organiza esses termos como um dicionário vivo, sem exigir que ninguém troque sua forma de nomear pela da ciência.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1131570" y="6198870"/>
            <a:ext cx="16251174" cy="11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40030" lvl="0" marL="240030" marR="0" rtl="0" algn="l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comunidade ou iniciativa mantém sua própria cópia desse dicionário, sob seu próprio controle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1131570" y="7261860"/>
            <a:ext cx="16251174" cy="11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40030" lvl="0" marL="240030" marR="0" rtl="0" algn="l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Ajuda a relacionar nomes diferentes para a mesma planta, ou um mesmo nome usado por comunidades diferentes, em diferentes línguas.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1133856" y="8458200"/>
            <a:ext cx="162488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40030" lvl="0" marL="240030" marR="0" rtl="0" algn="l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baixo, é um padrão internacional — SKOS-XL — com dados próprios para cada nome.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525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/>
          <p:nvPr/>
        </p:nvSpPr>
        <p:spPr>
          <a:xfrm>
            <a:off x="1342906" y="4986338"/>
            <a:ext cx="1194029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3F2F2"/>
                </a:solidFill>
                <a:latin typeface="Arial"/>
                <a:ea typeface="Arial"/>
                <a:cs typeface="Arial"/>
                <a:sym typeface="Arial"/>
              </a:rPr>
              <a:t>Uma arquitetura para proteger quem sabe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150" y="0"/>
            <a:ext cx="1469570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738934" y="1552575"/>
            <a:ext cx="171309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risco que nenhuma comunidade quer correr de novo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1131576" y="3722375"/>
            <a:ext cx="15297900" cy="4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9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Casos como o do cupuaçu, da ayahuasca e do jaborandi mostram o que acontece quando um saber tradicional vira patente ou produto sem autorização, nem retorno para quem o originou.</a:t>
            </a:r>
            <a:endParaRPr b="0" i="0" sz="2900" u="none" cap="none" strike="noStrike">
              <a:solidFill>
                <a:srgbClr val="201F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t/>
            </a:r>
            <a:endParaRPr sz="2900">
              <a:solidFill>
                <a:srgbClr val="201F1D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9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isso, muitas comunidades desconfiam — com toda razão — de qualquer sistema que peça seus saberes.</a:t>
            </a:r>
            <a:endParaRPr b="0" i="0" sz="2900" u="none" cap="none" strike="noStrike">
              <a:solidFill>
                <a:srgbClr val="201F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t/>
            </a:r>
            <a:endParaRPr sz="2900">
              <a:solidFill>
                <a:srgbClr val="201F1D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9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arquitetura que ignora esse risco não vai ganhar a confiança de quem mais precisa confiar nela.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989897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875" y="0"/>
            <a:ext cx="15434260" cy="10286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resposta: cada um guarda a própria chave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371600" y="3722370"/>
            <a:ext cx="127539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Em vez de um único sistema central — do qual todos passariam a depender —, cada comunidade, cada acervo, cada iniciativa mantém seus próprios registros, sob seu próprio controle.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371600" y="8507210"/>
            <a:ext cx="15716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25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Nada é compartilhado sem que essa comunidade ou iniciativa decida, explicitamente, o que tornar público.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50" y="6043812"/>
            <a:ext cx="17231698" cy="16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275" y="0"/>
            <a:ext cx="1624346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Pluriverso: um ponto de encontro, não um dono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371600" y="7789545"/>
            <a:ext cx="14716125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23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Periodicamente, o Pluriverso reúne o que cada participante decidiu tornar público e oferece um só lugar de busca — sem nunca ser dono dos dados de ninguém. Se um participante decide sair, seus dados somem de imediato do índice comum.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92559"/>
            <a:ext cx="17983201" cy="412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38" y="0"/>
            <a:ext cx="14962920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52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1342906" y="4986338"/>
            <a:ext cx="71493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3F2F2"/>
                </a:solidFill>
                <a:latin typeface="Arial"/>
                <a:ea typeface="Arial"/>
                <a:cs typeface="Arial"/>
                <a:sym typeface="Arial"/>
              </a:rPr>
              <a:t>Como chegamos até aqui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ideia que foi se corrigindo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971800"/>
            <a:ext cx="155448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1371600" y="6265545"/>
            <a:ext cx="14716125" cy="1202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24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arquitetura nasceu de uma provocação sobre como registramos o saber tradicional, passou por uma tentativa de sistema único, e hoje é uma federação onde cada participante é dono dos próprios dados — com uma camada explícita sobre quem decide o quê.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525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1342906" y="4986338"/>
            <a:ext cx="757078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3F2F2"/>
                </a:solidFill>
                <a:latin typeface="Arial"/>
                <a:ea typeface="Arial"/>
                <a:cs typeface="Arial"/>
                <a:sym typeface="Arial"/>
              </a:rPr>
              <a:t>Princípios que guiam tudo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Quatro princípios, sempre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3716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Benefício coletivo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371600" y="42576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Os dados devem beneficiar, antes de tudo, as comunidades que os originaram — nunca terceiros.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6012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Autoridade para decidir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601200" y="4257675"/>
            <a:ext cx="753465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comunidade mantém o controle sobre seu próprio conhecimento: o que registrar, o que publicar, o que retirar.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371600" y="66484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Responsabilidade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72294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lida com esses dados responde por como os trata, protege e compartilha.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01200" y="66484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9601200" y="72294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Respeito às práticas, aos valores e à cultura de cada comunidade, sempre.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decide o quê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1371600" y="4444246"/>
            <a:ext cx="2007156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1371600" y="3875763"/>
            <a:ext cx="1816656" cy="197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020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201C"/>
                </a:solidFill>
                <a:latin typeface="Arial"/>
                <a:ea typeface="Arial"/>
                <a:cs typeface="Arial"/>
                <a:sym typeface="Arial"/>
              </a:rPr>
              <a:t>CAMADA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3378756" y="4444246"/>
            <a:ext cx="5970984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3645456" y="3875763"/>
            <a:ext cx="5616714" cy="197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020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201C"/>
                </a:solidFill>
                <a:latin typeface="Arial"/>
                <a:ea typeface="Arial"/>
                <a:cs typeface="Arial"/>
                <a:sym typeface="Arial"/>
              </a:rPr>
              <a:t>QUEM DECIDE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9349740" y="4444246"/>
            <a:ext cx="756666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9616440" y="3875763"/>
            <a:ext cx="7260260" cy="197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020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201C"/>
                </a:solidFill>
                <a:latin typeface="Arial"/>
                <a:ea typeface="Arial"/>
                <a:cs typeface="Arial"/>
                <a:sym typeface="Arial"/>
              </a:rPr>
              <a:t>SOBRE O QUÊ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1371600" y="5432941"/>
            <a:ext cx="2007156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1371600" y="4842391"/>
            <a:ext cx="181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378756" y="5432941"/>
            <a:ext cx="5970984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3645456" y="4842391"/>
            <a:ext cx="56167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própria comunidade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9349740" y="5432941"/>
            <a:ext cx="756666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9616440" y="4842391"/>
            <a:ext cx="7260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se registra, o que se publica, o que se retira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1371600" y="6421636"/>
            <a:ext cx="2007156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1371600" y="5831086"/>
            <a:ext cx="181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378756" y="6421636"/>
            <a:ext cx="5970984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3645456" y="5831086"/>
            <a:ext cx="56167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mantém cada sistema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9349740" y="6421636"/>
            <a:ext cx="756666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9616440" y="5831086"/>
            <a:ext cx="7260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atualizações, cópias de segurança, proteção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1371600" y="7410331"/>
            <a:ext cx="2007156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1371600" y="6819781"/>
            <a:ext cx="181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378756" y="7410331"/>
            <a:ext cx="5970984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3645456" y="6819781"/>
            <a:ext cx="56167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comitê com todos os participantes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9349740" y="7410331"/>
            <a:ext cx="756666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9616440" y="6819781"/>
            <a:ext cx="7260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as regras gerais e quem pode entrar na federação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1371600" y="8239006"/>
            <a:ext cx="14716125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Isso não é só uma boa prática — é também respaldado por lei: a Lei da Biodiversidade e o Protocolo de Nagoya exigem consentimento e retorno de benefícios sempre que o conhecimento tradicional for usado.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95" y="0"/>
            <a:ext cx="1714221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200" y="0"/>
            <a:ext cx="1469160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Google Shape;63;p7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Conhecimento e evidência não são a mesma coisa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3716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Evidência: contada por outros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371600" y="4257675"/>
            <a:ext cx="749541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um pesquisador, um museu ou um livro de trezentos anos registra que uma comunidade usa certa planta, quem está falando é quem registrou. É um testemunho de terceiro. Tem valor, e muita coisa só sobreviveu assim — mas a autoridade sobre aquele registro é de quem o guarda.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96393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Conhecimento: dito por vocês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639300" y="4257675"/>
            <a:ext cx="7495413" cy="2219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é a própria comunidade que diz, na sua língua, o que sabe e de quem aprendeu, isso é outra coisa. Não vale mais nem menos: tem outro dono. E é esse dono — a comunidade — que decide o que pode ser publicado, o que fica reservado e o que se retira depois.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745980"/>
            <a:ext cx="2841308" cy="160020"/>
          </a:xfrm>
          <a:prstGeom prst="rect">
            <a:avLst/>
          </a:prstGeom>
        </p:spPr>
      </p:pic>
      <p:sp>
        <p:nvSpPr>
          <p:cNvPr id="65" name="Google Shape;65;p7"/>
          <p:cNvSpPr/>
          <p:nvPr/>
        </p:nvSpPr>
        <p:spPr>
          <a:xfrm>
            <a:off x="1371600" y="7863840"/>
            <a:ext cx="16276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arquitetura passou a marcar essa diferença em cada registro. Não para dizer o que é mais verdadeiro — os dois são conhecimento —, mas para saber, sempre, quem tem autoridade para decidir sobre aquilo. Quando o registro é de vocês, quem decide são vocês.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2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Quatro avanços, e o que cada um protege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371600" y="3566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um guarda a própria chave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371600" y="411480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Não existe um banco central. Cada comunidade e cada instituição mantém os próprios registros, e quem sai leva tudo embora do índice comum na hora.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601200" y="3566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dicionário vivo, não uma imposição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601200" y="411480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Os nomes de cada comunidade, em cada língua, são registro de primeira classe — com dono, origem e nível de acesso próprios. O nome científico deixa de ser o centro.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371600" y="59893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Regras escritas antes do conflito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653796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decide o quê, em três camadas; consentimento como processo, não como assinatura; e marcas de uso definidas pela comunidade. Com respaldo em lei.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01200" y="59893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Conhecimento e evidência separados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9601200" y="653796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registro passa a dizer se é a comunidade falando ou um terceiro registrando — e é isso que define quem tem autoridade sobre ele.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8366760"/>
            <a:ext cx="1471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Nenhum dos quatro é sobre tecnologia. Os quatro são sobre quem decide — e é por isso que a parte mais difícil não se resolve programando.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2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Quatro perguntas que só vocês podem responder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371600" y="3566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Como quem sabe quer ser nomeado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371600" y="411480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alguém conta um saber, que nome deve aparecer: o nome de verdade, um nome escolhido pela pessoa, ou só “a comunidade”?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601200" y="3566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não deve ser registrado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601200" y="411480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Há saberes que talvez não devam entrar em sistema nenhum. Precisamos saber onde fica essa linha antes de escrever qualquer coisa.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371600" y="59893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 marcas de uso valem aqui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653796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Existem selos que dizem como um saber pode ser usado: só em certa época, só por certas pessoas, nunca para fins comerciais. Quais valem — e quem diz isso por todos?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01200" y="59893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As gravações e as oficinas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9601200" y="653796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Filmar alguém fazendo um chá ou trançando uma cesta é registrar um saber. Numa oficina, são muitas pessoas de uma vez. Quem autoriza — cada um, ou o grupo?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8366760"/>
            <a:ext cx="1471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Nenhuma dessas perguntas tem resposta técnica, e nenhuma delas vamos responder sozinhos. Enquanto vocês não responderem, elas ficam registradas como pendências abertas — e nada é publicado.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1320403" y="3118485"/>
            <a:ext cx="17155597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71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convite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1371600" y="4608195"/>
            <a:ext cx="10722660" cy="2712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29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Essa arquitetura só existe se comunidades, pesquisadores e instituições ajudarem a construí-la, testá-la e corrigi-la. Participe, contribua, avalie.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1371600" y="9250680"/>
            <a:ext cx="1838932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eduardo.dalc.in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3214807" y="9250680"/>
            <a:ext cx="13335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3443407" y="9250680"/>
            <a:ext cx="529231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github.com/edalcin/Arquitetura-BioCultural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