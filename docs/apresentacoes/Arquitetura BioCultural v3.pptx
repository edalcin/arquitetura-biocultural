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83" r:id="rId32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5"/>
    <p:sldId id="268" r:id="rId17"/>
    <p:sldId id="265" r:id="rId14"/>
    <p:sldId id="267" r:id="rId16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69" r:id="rId18"/>
    <p:sldId id="281" r:id="rId30"/>
    <p:sldId id="282" r:id="rId31"/>
    <p:sldId id="280" r:id="rId29"/>
    <p:sldId id="279" r:id="rId28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3.xml"/><Relationship Id="rId15" Type="http://schemas.openxmlformats.org/officeDocument/2006/relationships/slide" Target="slides/slide11.xml"/><Relationship Id="rId16" Type="http://schemas.openxmlformats.org/officeDocument/2006/relationships/slide" Target="slides/slide14.xml"/><Relationship Id="rId17" Type="http://schemas.openxmlformats.org/officeDocument/2006/relationships/slide" Target="slides/slide12.xml"/><Relationship Id="rId18" Type="http://schemas.openxmlformats.org/officeDocument/2006/relationships/slide" Target="slides/slide2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8.xml"/><Relationship Id="rId29" Type="http://schemas.openxmlformats.org/officeDocument/2006/relationships/slide" Target="slides/slide27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Abertura. Não anunciar um 'sistema de TI'. Dizer que veio mostrar o plano de uma casa — e que plano de casa só se aprova com quem vai morar nela.</a:t>
            </a: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 caminho em cinco partes, na imagem da casa: por que construir, com que materiais, qual é a planta, como o plano evoluiu na obra, e quais são as regras da casa — incluindo o que só as lideranças podem decidir.</a:t>
            </a: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Primeiro bloco: por que essa casa precisa existir. Contar como história, não como diagnóstico.</a:t>
            </a:r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 saber existe, mas está espalhado em quatro lugares — e em risco em todos eles. A casa é o lugar onde esses pedaços podem se encontrar sem se perder.</a:t>
            </a:r>
          </a:p>
        </p:txBody>
      </p:sp>
      <p:sp>
        <p:nvSpPr>
          <p:cNvPr id="53" name="Google Shape;5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Uma casa se desenha em função de quem mora. Se quem mora é a comunidade, a porta de entrada não pode ser o nome científico: é o nome que a planta tem ali, o uso que ela tem, e quem ensinou esse uso.</a:t>
            </a:r>
          </a:p>
        </p:txBody>
      </p:sp>
      <p:sp>
        <p:nvSpPr>
          <p:cNvPr id="61" name="Google Shape;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Segundo bloco: os materiais da construção.</a:t>
            </a:r>
          </a:p>
        </p:txBody>
      </p:sp>
      <p:sp>
        <p:nvSpPr>
          <p:cNvPr id="72" name="Google Shape;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As quatro fontes. Sublinhar a frase final: três trazem o registro feito por um terceiro; uma traz a própria comunidade falando — e é essa diferença que decide quem manda em cada registro.</a:t>
            </a:r>
          </a:p>
        </p:txBody>
      </p:sp>
      <p:sp>
        <p:nvSpPr>
          <p:cNvPr id="78" name="Google Shape;7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 BioCultTermos como dicionário vivo e compartilhado, sem impor o nome científico — na casa, é a língua que se fala dentro dela. Para o público acadêmico: SKOS-XL (W3C) trata o rótulo como recurso de primeira classe, o que permite pendurar accessLevel, povo detentor e consentimento em cada forma textual — inclusive tratar o nome em língua indígena com nível de acesso diferente do nome em português. Alinhamento com GBIF/Darwin Core acontece na camada de mapeamento do Pluriverso, não dentro do vocabulário da comunidade.</a:t>
            </a:r>
          </a:p>
        </p:txBody>
      </p:sp>
      <p:sp>
        <p:nvSpPr>
          <p:cNvPr id="93" name="Google Shape;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Terceiro bloco: a planta da casa. Antes de mostrá-la, o medo que ela precisa responder.</a:t>
            </a:r>
          </a:p>
        </p:txBody>
      </p:sp>
      <p:sp>
        <p:nvSpPr>
          <p:cNvPr id="103" name="Google Shape;1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69034d40c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69034d40c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 planta no papel. Não ler o diagrama: apontar que cada caixa de cima é uma casa soberana (um arquivo, um container, um dono) e que o encontro acontece embaixo, só com o que cada um decidiu tornar público. Para acadêmicos: harvest REST periódico, SQLite por unidade, sem banco central.</a:t>
            </a:r>
          </a:p>
        </p:txBody>
      </p:sp>
      <p:sp>
        <p:nvSpPr>
          <p:cNvPr id="109" name="Google Shape;109;g3f69034d40c_0_3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 desconfiança das comunidades é legítima — cupuaçu, ayahuasca e jaborandi são casos reais de apropriação sem autorização nem retorno. Uma casa que ignora esse medo não recebe morador.</a:t>
            </a:r>
          </a:p>
        </p:txBody>
      </p:sp>
      <p:sp>
        <p:nvSpPr>
          <p:cNvPr id="115" name="Google Shape;11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69034d40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69034d40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Os cômodos da casa: o que fica na varanda (público), o que fica na sala (restrito a convidados), o que fica no quarto (só a comunidade) e o que não se mostra — e que talvez seja melhor nem registrar. A decisão de camada é da comunidade e pode ser revista a qualquer tempo.</a:t>
            </a:r>
          </a:p>
        </p:txBody>
      </p:sp>
      <p:sp>
        <p:nvSpPr>
          <p:cNvPr id="123" name="Google Shape;123;g3f69034d40c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 resposta da planta: não existe um prédio único onde todos são obrigados a guardar seus bens. Cada família tem a sua casa e a sua chave. Nada sai de casa sem decisão explícita de quem mora.</a:t>
            </a:r>
          </a:p>
        </p:txBody>
      </p:sp>
      <p:sp>
        <p:nvSpPr>
          <p:cNvPr id="129" name="Google Shape;1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9034d40c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69034d40c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Se alguém usar o saber e gerar benefício, o uso deixa rastro, e o rastro permite repartição — monetária ou não. Sem rastro de uso, repartição é só promessa. O log de uso é instrumento de justiça, não de vigilância.</a:t>
            </a:r>
          </a:p>
        </p:txBody>
      </p:sp>
      <p:sp>
        <p:nvSpPr>
          <p:cNvPr id="138" name="Google Shape;138;g3f69034d40c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 Pluriverso é a praça da vila, não o cartório: reúne o que cada casa decidiu mostrar na janela e oferece um só lugar de busca — sem nunca ser dono de nada. Quem sai da vila some do índice na hora.</a:t>
            </a:r>
          </a:p>
        </p:txBody>
      </p:sp>
      <p:sp>
        <p:nvSpPr>
          <p:cNvPr id="144" name="Google Shape;14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69034d40c_0_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69034d40c_0_3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Pode haver mais de uma praça: uma associação pode manter a sua, fechada para seus membros, e a praça pública convive com ela sem hierarquia. Para acadêmicos: instâncias independentes, membership e escopo próprios por instância.</a:t>
            </a:r>
          </a:p>
        </p:txBody>
      </p:sp>
      <p:sp>
        <p:nvSpPr>
          <p:cNvPr id="152" name="Google Shape;152;g3f69034d40c_0_3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Quarto bloco: a obra — como o plano foi se corrigindo.</a:t>
            </a:r>
          </a:p>
        </p:txBody>
      </p:sp>
      <p:sp>
        <p:nvSpPr>
          <p:cNvPr id="158" name="Google Shape;1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Não ler versão por versão. A história em uma frase: começou como um prédio único, virou uma vila de casas soberanas — e cada correção do plano veio de ouvir quem vai morar.</a:t>
            </a:r>
          </a:p>
        </p:txBody>
      </p:sp>
      <p:sp>
        <p:nvSpPr>
          <p:cNvPr id="164" name="Google Shape;1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Bloco final: as regras da casa.</a:t>
            </a:r>
          </a:p>
        </p:txBody>
      </p:sp>
      <p:sp>
        <p:nvSpPr>
          <p:cNvPr id="172" name="Google Shape;17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Os alicerces da casa. São os princípios CARE ditos em linguagem simples: benefício coletivo, autoridade para decidir, responsabilidade, ética. Tudo o que vem depois está apoiado neles.</a:t>
            </a:r>
          </a:p>
        </p:txBody>
      </p:sp>
      <p:sp>
        <p:nvSpPr>
          <p:cNvPr id="178" name="Google Shape;178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As três camadas de decisão, em linguagem simples, mais o respaldo legal: Lei da Biodiversidade (13.123) e Protocolo de Nagoya exigem consentimento e repartição de benefícios.</a:t>
            </a:r>
          </a:p>
        </p:txBody>
      </p:sp>
      <p:sp>
        <p:nvSpPr>
          <p:cNvPr id="192" name="Google Shape;19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69034d40c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69034d40c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A mesma tabela em desenho. A frase que importa: nenhuma decisão técnica sobrepõe a decisão da comunidade.</a:t>
            </a:r>
          </a:p>
        </p:txBody>
      </p:sp>
      <p:sp>
        <p:nvSpPr>
          <p:cNvPr id="223" name="Google Shape;223;g3f69034d40c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9034d40c_0_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69034d40c_0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Consentir não é assinar um papel uma vez: é um ciclo que pode ser revisto — e revogado. Revogar tira o dado da federação e do índice derivado, a qualquer tempo, sem justificativa.</a:t>
            </a:r>
          </a:p>
        </p:txBody>
      </p:sp>
      <p:sp>
        <p:nvSpPr>
          <p:cNvPr id="229" name="Google Shape;229;g3f69034d40c_0_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Fechar voltando à casa: o plano está desenhado, mas casa não se constrói sozinha — e esta só fica de pé se quem vai morar nela aprovar cada parede. Convite: participar, contribuir, corrigir o plano.</a:t>
            </a:r>
          </a:p>
        </p:txBody>
      </p:sp>
      <p:sp>
        <p:nvSpPr>
          <p:cNvPr id="235" name="Google Shape;23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de escuta, não de exposição. Fazer as cinco perguntas e parar de falar. Registrar as respostas na hora; elas destravam o desenho do modelo de dados. Contexto de cada uma, se perguntarem: 1) Nome de quem fala — há um conflito real entre dar crédito (direito da pessoa, previsto na Lei 13.123) e proteger dados sensíveis (LGPD, art. 11). A saída recomendada é o pseudônimo escolhido pela própria pessoa, e é a única que exige perguntar. 2) O que não registrar — a documentação do projeto já assume que há conhecimento sagrado que é mais bem protegido pela não existência do registro do que por qualquer camada de acesso. 3) Marcas de uso — são os TK/BC Labels do Local Contexts. Só a comunidade pode aplicá-los; quando aplicados por terceiro, chamam-se Notices e valem menos. 4) Gravações — o registro em vídeo captura prática, não só fala: o gesto, a sequência, o material escolhido. Pode não haver uma palavra dita, e ainda assim é conhecimento inteiro. Em gravação coletiva, cada participante tem direito próprio sobre a própria voz e imagem: a regra adotada por ora é a mais conservadora — se um pede reserva, a gravação inteira sai, e não editamos para suprimir alguém por conta própria. Caso concreto: o vídeo de 42 segundos em língua Panará, sem consentimento formalizado, sem transcrição com falante nativo e sem conferência da grafia — fora de qualquer publicação até que isso se resolva. 5) O sagrado — quem declara que um saber é sagrado, e se o registro deve sumir por inteiro ou ficar visível apenas a existência.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distinção mais recente da arquitetura, e a mais difícil de enxergar de fora. Até agora tudo era chamado de 'evidência', inclusive a fala da própria comunidade — o que colocava, sem querer, o registro do pesquisador e a palavra do detentor no mesmo lugar. A distinção NÃO é sobre qualidade ou veracidade: é sobre quem tem autoridade para classificar o acesso. Evidência não vale menos; é conhecimento com outro dono. Consequência prática: em registro de Conhecimento, só a comunidade aplica as marcas de uso; a instituição, no máximo, declara um aviso. E a narrativa da comunidade sobre uma peça de museu fica guardada com a comunidade, não dentro do banco do museu — as duas se encontram sem que uma engula a outra. Emenda para o slide seguinte: é justamente por causa dessa distinção que as perguntas finais não podem ser respondidas por nós.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Consolidação: o que a arquitetura ganhou, em quatro marcos, na ordem em que apareceram. 1) Federação (v3.0) — abandono do banco único compartilhado; cada unidade com seu próprio SQLite soberano, Pluriverso como ponto de encontro que só indexa o que foi publicado, e purge imediato na saída. 2) SKOS-XL — rótulo como recurso de primeira classe, o que permite accessLevel, povo detentor e consentimento por forma textual; e nome científico fora do escopo do vocabulário controlado (ADR-014), porque sua autoridade já é externa. 3) Governança — três camadas de decisão, CLPI como ciclo com estágios, rotulagem cultural TK/BC, repartição rastreável; respaldo na Lei 13.123, no Protocolo de Nagoya e na LGPD. 4) Conhecimento × evidência (o mais recente) — a distinção é deôntica, não epistêmica: não diz o que é mais verdadeiro, diz quem tem autoridade para classificar o acesso. Se houver tempo para uma só frase: os três primeiros protegem o dado; o quarto protege quem decide sobre o dado.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analogia que sustenta a apresentação inteira. Falar devagar. 'Arquitetura' não é palavra de computador: é o plano de uma casa, feito em função de quem mora e de como usa. Se essa imagem ficar, o resto da apresentação é só voltar a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201F1D"/>
        </a:buClr>
        <a:buFont typeface="Arial"/>
        <a:defRPr b="0" i="0" spc="0" sz="1400" u="none" cap="none" strike="noStrike">
          <a:solidFill>
            <a:srgbClr val="201F1D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320403" y="3452813"/>
            <a:ext cx="17155597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71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Arquitetura BioCultural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371600" y="4942523"/>
            <a:ext cx="10722660" cy="204406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29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201F1D"/>
                </a:solidFill>
              </a:rPr>
              <a:t>Como garantir o registro, a proteção e a soberania dos conhecimentos tradicionais mantidos por gerações sobre as plantas e os animais. 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371600" y="9250680"/>
            <a:ext cx="181431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Eduardo Dalcin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192423" y="9250680"/>
            <a:ext cx="13335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421023" y="9250680"/>
            <a:ext cx="67056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/>
      <p:sp>
        <p:nvSpPr>
          <p:cNvPr id="131" name="Google Shape;131;p15"/>
          <p:cNvSpPr/>
          <p:nvPr/>
        </p:nvSpPr>
        <p:spPr>
          <a:xfrm>
            <a:off x="1342906" y="1552575"/>
            <a:ext cx="1709928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casa se constrói para quem vai morar nela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371600" y="3474720"/>
            <a:ext cx="15727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Ninguém constrói uma casa começando pelos tijolos. Primeiro vem a conversa: quem vai morar ali, como essa família vive, o que ela precisa guardar, quem pode entrar em cada cômodo. Desse entendimento nasce o plano da casa — a sua arquitetura.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371600" y="6217920"/>
            <a:ext cx="157276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Com um lugar que guarda saberes acontece o mesmo. O que vamos mostrar aqui é o plano de uma casa para o conhecimento tradicional. E, como em toda casa, quem vai morar nela é quem tem a palavra final sobre o plano — antes de qualquer tijolo.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Neste convite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371600" y="3457575"/>
            <a:ext cx="1554480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371600" y="2692718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2183130" y="2586038"/>
            <a:ext cx="1280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que esta casa precisa existir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371600" y="4941570"/>
            <a:ext cx="1554480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371600" y="4176712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183130" y="4070033"/>
            <a:ext cx="1280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Os materiais: quatro fontes, uma linguagem comum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71600" y="6425565"/>
            <a:ext cx="1554480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371600" y="5660707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2183130" y="5554028"/>
            <a:ext cx="1280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planta: cada um guarda a própria chave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371600" y="7909560"/>
            <a:ext cx="1554480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1371600" y="7144703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183130" y="7038023"/>
            <a:ext cx="1280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obra: como o plano foi se corrigindo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371600" y="9393555"/>
            <a:ext cx="1554480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371600" y="8628698"/>
            <a:ext cx="37338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B68235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6823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2183130" y="8522018"/>
            <a:ext cx="12801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3621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As regras da casa — e o que só vocês decidem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371600" y="10887075"/>
            <a:ext cx="1047750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21D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1342906" y="4986338"/>
            <a:ext cx="15544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AF6EF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AF6EF"/>
                </a:solidFill>
                <a:latin typeface="Arial"/>
                <a:ea typeface="Arial"/>
                <a:cs typeface="Arial"/>
                <a:sym typeface="Arial"/>
              </a:rPr>
              <a:t>Por que esta casa precisa existir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saber espalhado — e em risco de se perder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342901" y="3118400"/>
            <a:ext cx="14538000" cy="52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Guardado em artigos científicos que poucos leem, fora do alcance de quem detém o saber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Vivo na memória das comunidades, passado de boca a ouvido — e ameaçado quando os mais velhos partem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Preservado em acervos de museus e arquivos, muitas vezes esquecido em prateleiras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085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500"/>
              <a:buFont typeface="Arial"/>
              <a:buChar char="●"/>
            </a:pPr>
            <a:r>
              <a:rPr b="0" i="0" lang="en-US" sz="35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Registrado por viajantes que passaram pelo Brasil há séculos, em livros hoje raros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que o nome científico não é o ponto de partida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3716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olhar da ciência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371600" y="4257675"/>
            <a:ext cx="749541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Tradicionalmente, organizamos o conhecimento sobre plantas e animais a partir do nome científico: ele é o centro, e tudo — nome popular, uso, história — gira em torno dele.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96393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olhar da comunidade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639300" y="4257675"/>
            <a:ext cx="7495413" cy="2219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Para uma comunidade tradicional, o nome científico simplesmente não existe. O que importa é o nome que a planta tem ali, o uso que ela tem, e quem ensinou esse uso — e é daí que uma arquitetura de respeito precisa partir.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8" name="Google Shape;6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21D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1342906" y="4986338"/>
            <a:ext cx="15544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AF6EF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AF6EF"/>
                </a:solidFill>
                <a:latin typeface="Arial"/>
                <a:ea typeface="Arial"/>
                <a:cs typeface="Arial"/>
                <a:sym typeface="Arial"/>
              </a:rPr>
              <a:t>Os materiais: quatro fontes, uma linguagem comum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De onde vem o que a arquitetura reúne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13716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Artigos científicos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1371600" y="42576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pesquisadores já publicaram sobre o uso de plantas e animais por comunidades tradicionais.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96012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Relatos das comunidades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9"/>
          <p:cNvSpPr/>
          <p:nvPr/>
        </p:nvSpPr>
        <p:spPr>
          <a:xfrm>
            <a:off x="9601200" y="4257675"/>
            <a:ext cx="753465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as próprias comunidades registram e compartilham diretamente, sempre com seu consentimento explícito.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9"/>
          <p:cNvSpPr/>
          <p:nvPr/>
        </p:nvSpPr>
        <p:spPr>
          <a:xfrm>
            <a:off x="1371600" y="5596370"/>
            <a:ext cx="804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Acervos e museus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9"/>
          <p:cNvSpPr/>
          <p:nvPr/>
        </p:nvSpPr>
        <p:spPr>
          <a:xfrm>
            <a:off x="1371600" y="6235844"/>
            <a:ext cx="75348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Coleções, registros e documentos históricos preservados em museus e arquivos ao longo do tempo.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9"/>
          <p:cNvSpPr/>
          <p:nvPr/>
        </p:nvSpPr>
        <p:spPr>
          <a:xfrm>
            <a:off x="9601200" y="5596370"/>
            <a:ext cx="80466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Obras de naturalistas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9601200" y="6235844"/>
            <a:ext cx="7534800" cy="12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Relatos de viajantes que passaram pelo Brasil entre os séculos XVII e XIX, registrando o que viram e aprenderam.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1507975" y="8165781"/>
            <a:ext cx="15447600" cy="8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i="0" lang="en-US" sz="2150" u="none" cap="none" strike="noStrike">
                <a:solidFill>
                  <a:srgbClr val="201F1D"/>
                </a:solidFill>
              </a:rPr>
              <a:t>Três dessas fontes trazem o registro feito por um terceiro. Uma delas — os relatos — traz a própria comunidade falando. A diferença parece pequena, e é ela que decide quem manda em cada registro.</a:t>
            </a:r>
            <a:endParaRPr b="1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linguagem comum entre as quatro fontes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371600" y="3722375"/>
            <a:ext cx="150579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fonte fala com suas próprias palavras — nomes populares, sinônimos, usos descritos à maneira e na lí</a:t>
            </a:r>
            <a:r>
              <a:rPr lang="en-US" sz="2700">
                <a:solidFill>
                  <a:srgbClr val="201F1D"/>
                </a:solidFill>
              </a:rPr>
              <a:t>ngua</a:t>
            </a: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 de cada comunidade. O BioCultTermos organiza esses termos como um dicionário vivo, sem exigir que ninguém troque sua forma de nomear pela da ciência.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0"/>
          <p:cNvSpPr/>
          <p:nvPr/>
        </p:nvSpPr>
        <p:spPr>
          <a:xfrm>
            <a:off x="1131570" y="6198870"/>
            <a:ext cx="16251174" cy="11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40030" lvl="0" marL="240030" marR="0" rtl="0" algn="l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comunidade ou iniciativa mantém sua própria cópia desse dicionário, sob seu próprio controle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0"/>
          <p:cNvSpPr/>
          <p:nvPr/>
        </p:nvSpPr>
        <p:spPr>
          <a:xfrm>
            <a:off x="1131570" y="7261860"/>
            <a:ext cx="16251174" cy="11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40030" lvl="0" marL="240030" marR="0" rtl="0" algn="l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Ajuda a relacionar nomes diferentes para a mesma planta, ou um mesmo nome usado por comunidades diferentes, em diferentes línguas.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9" name="Google Shape;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841308" cy="1600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0"/>
          <p:cNvSpPr/>
          <p:nvPr/>
        </p:nvSpPr>
        <p:spPr>
          <a:xfrm>
            <a:off x="1133856" y="8458200"/>
            <a:ext cx="1624888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-240030" lvl="0" marL="240030" marR="0" rtl="0" algn="l">
              <a:lnSpc>
                <a:spcPct val="134135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baixo, é um padrão internacional — SKOS-XL — com dados próprios para cada nome.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21D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/>
          <p:nvPr/>
        </p:nvSpPr>
        <p:spPr>
          <a:xfrm>
            <a:off x="1342906" y="4986338"/>
            <a:ext cx="15544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AF6EF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AF6EF"/>
                </a:solidFill>
                <a:latin typeface="Arial"/>
                <a:ea typeface="Arial"/>
                <a:cs typeface="Arial"/>
                <a:sym typeface="Arial"/>
              </a:rPr>
              <a:t>A planta: uma casa que protege quem sabe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738934" y="1552575"/>
            <a:ext cx="171309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risco que nenhuma comunidade quer correr de novo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1131576" y="3722375"/>
            <a:ext cx="15297900" cy="4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9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Casos como o do cupuaçu, da ayahuasca e do jaborandi mostram o que acontece quando um saber tradicional vira patente ou produto sem autorização, nem retorno para quem o originou.</a:t>
            </a:r>
            <a:endParaRPr b="0" i="0" sz="2900" u="none" cap="none" strike="noStrike">
              <a:solidFill>
                <a:srgbClr val="201F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t/>
            </a:r>
            <a:endParaRPr sz="2900">
              <a:solidFill>
                <a:srgbClr val="201F1D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9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Por isso, muitas comunidades desconfiam — com toda razão — de qualquer sistema que peça seus saberes.</a:t>
            </a:r>
            <a:endParaRPr b="0" i="0" sz="2900" u="none" cap="none" strike="noStrike">
              <a:solidFill>
                <a:srgbClr val="201F1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t/>
            </a:r>
            <a:endParaRPr sz="2900">
              <a:solidFill>
                <a:srgbClr val="201F1D"/>
              </a:solidFill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9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arquitetura que ignora esse risco não vai ganhar a confiança de quem mais precisa confiar nela.</a:t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9745980"/>
            <a:ext cx="2989897" cy="160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resposta: cada um guarda a própria chave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1371600" y="3722370"/>
            <a:ext cx="127539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Em vez de um único sistema central — do qual todos passariam a depender —, cada comunidade, cada acervo, cada iniciativa mantém seus próprios registros, sob seu próprio controle.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1371600" y="8507210"/>
            <a:ext cx="15716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25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Nada é compartilhado sem que essa comunidade ou iniciativa decida, explicitamente, o que tornar público.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4" name="Google Shape;1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50" y="6043812"/>
            <a:ext cx="17231698" cy="16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6150" y="0"/>
            <a:ext cx="1469570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6875" y="0"/>
            <a:ext cx="15434260" cy="10286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Pluriverso: um ponto de encontro, não um dono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371600" y="7789545"/>
            <a:ext cx="14716125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23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Periodicamente, o Pluriverso reúne o que cada participante decidiu tornar público e oferece um só lugar de busca — sem nunca ser dono dos dados de ninguém. Se um participante decide sair, seus dados somem de imediato do índice comum.</a:t>
            </a:r>
            <a:endParaRPr b="0" i="0" sz="2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92559"/>
            <a:ext cx="17983201" cy="4127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2538" y="0"/>
            <a:ext cx="14962920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21D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9"/>
          <p:cNvSpPr/>
          <p:nvPr/>
        </p:nvSpPr>
        <p:spPr>
          <a:xfrm>
            <a:off x="1342906" y="4986338"/>
            <a:ext cx="15544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AF6EF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AF6EF"/>
                </a:solidFill>
                <a:latin typeface="Arial"/>
                <a:ea typeface="Arial"/>
                <a:cs typeface="Arial"/>
                <a:sym typeface="Arial"/>
              </a:rPr>
              <a:t>A obra: como o plano foi se corrigindo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Uma ideia que foi se corrigindo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0"/>
          <p:cNvSpPr/>
          <p:nvPr/>
        </p:nvSpPr>
        <p:spPr>
          <a:xfrm>
            <a:off x="1783080" y="9144000"/>
            <a:ext cx="14712696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arquitetura nasceu de uma provocação sobre como registramos o saber tradicional, passou por uma tentativa de sistema único, e hoje é uma federação onde cada participante é dono dos próprios dados — com uma camada explícita sobre quem decide o quê.</a:t>
            </a:r>
            <a:endParaRPr b="0" i="0" sz="2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914400" y="5760720"/>
            <a:ext cx="16459200" cy="15240"/>
          </a:xfrm>
          <a:prstGeom prst="rect">
            <a:avLst/>
          </a:prstGeom>
          <a:solidFill>
            <a:srgbClr val="C9B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746504" y="5685739"/>
            <a:ext cx="164592" cy="164592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932688" y="5230368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jan/2025 · </a:t>
            </a:r>
            <a:r>
              <a:rPr sz="1350" b="1">
                <a:solidFill>
                  <a:srgbClr val="2E6B4F"/>
                </a:solidFill>
                <a:latin typeface="Arial"/>
              </a:rPr>
              <a:t>v1.0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41832" y="301752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2E6B4F"/>
                </a:solidFill>
                <a:latin typeface="Arial"/>
              </a:rPr>
              <a:t>A proposta inicial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três etapas: adquirir, curar e apresentar os dados</a:t>
            </a:r>
          </a:p>
        </p:txBody>
      </p:sp>
      <p:sp>
        <p:nvSpPr>
          <p:cNvPr id="173" name="Oval 172"/>
          <p:cNvSpPr/>
          <p:nvPr/>
        </p:nvSpPr>
        <p:spPr>
          <a:xfrm>
            <a:off x="3575304" y="5685739"/>
            <a:ext cx="164592" cy="164592"/>
          </a:xfrm>
          <a:prstGeom prst="ellipse">
            <a:avLst/>
          </a:prstGeom>
          <a:solidFill>
            <a:srgbClr val="B4542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761488" y="5989320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dez/2025 · </a:t>
            </a:r>
            <a:r>
              <a:rPr sz="1350" b="1">
                <a:solidFill>
                  <a:srgbClr val="B4542F"/>
                </a:solidFill>
                <a:latin typeface="Arial"/>
              </a:rPr>
              <a:t>v1.2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770632" y="635508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B4542F"/>
                </a:solidFill>
                <a:latin typeface="Arial"/>
              </a:rPr>
              <a:t>Primeiras ferramentas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BioCultDB e a extração de artigos saem do papel</a:t>
            </a:r>
          </a:p>
        </p:txBody>
      </p:sp>
      <p:sp>
        <p:nvSpPr>
          <p:cNvPr id="176" name="Oval 175"/>
          <p:cNvSpPr/>
          <p:nvPr/>
        </p:nvSpPr>
        <p:spPr>
          <a:xfrm>
            <a:off x="5404104" y="5685739"/>
            <a:ext cx="164592" cy="164592"/>
          </a:xfrm>
          <a:prstGeom prst="ellipse">
            <a:avLst/>
          </a:prstGeom>
          <a:solidFill>
            <a:srgbClr val="A8801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590288" y="5230368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jun/2026 · </a:t>
            </a:r>
            <a:r>
              <a:rPr sz="1350" b="1">
                <a:solidFill>
                  <a:srgbClr val="A8801F"/>
                </a:solidFill>
                <a:latin typeface="Arial"/>
              </a:rPr>
              <a:t>v2.0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99432" y="301752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A8801F"/>
                </a:solidFill>
                <a:latin typeface="Arial"/>
              </a:rPr>
              <a:t>A comunidade entra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nasce o BioCultRelatos, com consentimento (CLPI) obrigatório</a:t>
            </a:r>
          </a:p>
        </p:txBody>
      </p:sp>
      <p:sp>
        <p:nvSpPr>
          <p:cNvPr id="179" name="Oval 178"/>
          <p:cNvSpPr/>
          <p:nvPr/>
        </p:nvSpPr>
        <p:spPr>
          <a:xfrm>
            <a:off x="7232904" y="5685739"/>
            <a:ext cx="164592" cy="164592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419088" y="5989320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jun/2026 · </a:t>
            </a:r>
            <a:r>
              <a:rPr sz="1350" b="1">
                <a:solidFill>
                  <a:srgbClr val="3D5A80"/>
                </a:solidFill>
                <a:latin typeface="Arial"/>
              </a:rPr>
              <a:t>v3.0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428232" y="635508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3D5A80"/>
                </a:solidFill>
                <a:latin typeface="Arial"/>
              </a:rPr>
              <a:t>A virada federada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cada participante soberano; nasce o Pluriverso</a:t>
            </a:r>
          </a:p>
        </p:txBody>
      </p:sp>
      <p:sp>
        <p:nvSpPr>
          <p:cNvPr id="182" name="Oval 181"/>
          <p:cNvSpPr/>
          <p:nvPr/>
        </p:nvSpPr>
        <p:spPr>
          <a:xfrm>
            <a:off x="9061704" y="5685739"/>
            <a:ext cx="164592" cy="164592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247888" y="5230368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jul/2026 · </a:t>
            </a:r>
            <a:r>
              <a:rPr sz="1350" b="1">
                <a:solidFill>
                  <a:srgbClr val="2E6B4F"/>
                </a:solidFill>
                <a:latin typeface="Arial"/>
              </a:rPr>
              <a:t>v3.1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257031" y="301752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2E6B4F"/>
                </a:solidFill>
                <a:latin typeface="Arial"/>
              </a:rPr>
              <a:t>O dado mora em casa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um arquivo próprio por unidade, sem banco central</a:t>
            </a:r>
          </a:p>
        </p:txBody>
      </p:sp>
      <p:sp>
        <p:nvSpPr>
          <p:cNvPr id="185" name="Oval 184"/>
          <p:cNvSpPr/>
          <p:nvPr/>
        </p:nvSpPr>
        <p:spPr>
          <a:xfrm>
            <a:off x="10890504" y="5685739"/>
            <a:ext cx="164592" cy="164592"/>
          </a:xfrm>
          <a:prstGeom prst="ellipse">
            <a:avLst/>
          </a:prstGeom>
          <a:solidFill>
            <a:srgbClr val="B4542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0076688" y="5989320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jul/2026 · </a:t>
            </a:r>
            <a:r>
              <a:rPr sz="1350" b="1">
                <a:solidFill>
                  <a:srgbClr val="B4542F"/>
                </a:solidFill>
                <a:latin typeface="Arial"/>
              </a:rPr>
              <a:t>v3.2–3.3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10085832" y="635508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B4542F"/>
                </a:solidFill>
                <a:latin typeface="Arial"/>
              </a:rPr>
              <a:t>Quatro fontes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entram acervos, museus e naturalistas; Pluriverso em várias instâncias</a:t>
            </a:r>
          </a:p>
        </p:txBody>
      </p:sp>
      <p:sp>
        <p:nvSpPr>
          <p:cNvPr id="188" name="Oval 187"/>
          <p:cNvSpPr/>
          <p:nvPr/>
        </p:nvSpPr>
        <p:spPr>
          <a:xfrm>
            <a:off x="12719304" y="5685739"/>
            <a:ext cx="164592" cy="164592"/>
          </a:xfrm>
          <a:prstGeom prst="ellipse">
            <a:avLst/>
          </a:prstGeom>
          <a:solidFill>
            <a:srgbClr val="A8801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11905488" y="5230368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ago/2026 · </a:t>
            </a:r>
            <a:r>
              <a:rPr sz="1350" b="1">
                <a:solidFill>
                  <a:srgbClr val="A8801F"/>
                </a:solidFill>
                <a:latin typeface="Arial"/>
              </a:rPr>
              <a:t>v3.4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1914632" y="301752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A8801F"/>
                </a:solidFill>
                <a:latin typeface="Arial"/>
              </a:rPr>
              <a:t>Regras escritas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governança em três camadas: quem decide o quê</a:t>
            </a:r>
          </a:p>
        </p:txBody>
      </p:sp>
      <p:sp>
        <p:nvSpPr>
          <p:cNvPr id="191" name="Oval 190"/>
          <p:cNvSpPr/>
          <p:nvPr/>
        </p:nvSpPr>
        <p:spPr>
          <a:xfrm>
            <a:off x="14548104" y="5685739"/>
            <a:ext cx="164592" cy="164592"/>
          </a:xfrm>
          <a:prstGeom prst="ellipse">
            <a:avLst/>
          </a:prstGeom>
          <a:solidFill>
            <a:srgbClr val="3D5A80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13734288" y="5989320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ago/2026 · </a:t>
            </a:r>
            <a:r>
              <a:rPr sz="1350" b="1">
                <a:solidFill>
                  <a:srgbClr val="3D5A80"/>
                </a:solidFill>
                <a:latin typeface="Arial"/>
              </a:rPr>
              <a:t>v3.5–3.6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3743432" y="635508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3D5A80"/>
                </a:solidFill>
                <a:latin typeface="Arial"/>
              </a:rPr>
              <a:t>Simplificação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extração por IA dentro do BioCultDB; nome científico deixa de ser o centro</a:t>
            </a:r>
          </a:p>
        </p:txBody>
      </p:sp>
      <p:sp>
        <p:nvSpPr>
          <p:cNvPr id="194" name="Oval 193"/>
          <p:cNvSpPr/>
          <p:nvPr/>
        </p:nvSpPr>
        <p:spPr>
          <a:xfrm>
            <a:off x="16376904" y="5685739"/>
            <a:ext cx="164592" cy="164592"/>
          </a:xfrm>
          <a:prstGeom prst="ellipse">
            <a:avLst/>
          </a:prstGeom>
          <a:solidFill>
            <a:srgbClr val="2E6B4F"/>
          </a:solidFill>
          <a:ln w="19050">
            <a:solidFill>
              <a:srgbClr val="FAF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5563088" y="5230368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01F1D"/>
                </a:solidFill>
                <a:latin typeface="Arial"/>
              </a:rPr>
              <a:t>ago/2026 · </a:t>
            </a:r>
            <a:r>
              <a:rPr sz="1350" b="1">
                <a:solidFill>
                  <a:srgbClr val="2E6B4F"/>
                </a:solidFill>
                <a:latin typeface="Arial"/>
              </a:rPr>
              <a:t>v3.7–3.9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15572232" y="3017520"/>
            <a:ext cx="1773936" cy="2121408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600" b="1">
                <a:solidFill>
                  <a:srgbClr val="2E6B4F"/>
                </a:solidFill>
                <a:latin typeface="Arial"/>
              </a:rPr>
              <a:t>Conhecimento ≠ evidência</a:t>
            </a:r>
          </a:p>
          <a:p>
            <a:pPr algn="ctr">
              <a:spcBef>
                <a:spcPts val="400"/>
              </a:spcBef>
            </a:pPr>
            <a:r>
              <a:rPr sz="1250" b="0">
                <a:solidFill>
                  <a:srgbClr val="5C554C"/>
                </a:solidFill>
                <a:latin typeface="Arial"/>
              </a:rPr>
              <a:t>o Relato, o consentimento como processo, as gravações e as oficinas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221D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/>
          <p:nvPr/>
        </p:nvSpPr>
        <p:spPr>
          <a:xfrm>
            <a:off x="1342906" y="4986338"/>
            <a:ext cx="155448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FAF6EF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AF6EF"/>
                </a:solidFill>
                <a:latin typeface="Arial"/>
                <a:ea typeface="Arial"/>
                <a:cs typeface="Arial"/>
                <a:sym typeface="Arial"/>
              </a:rPr>
              <a:t>As regras da casa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Os alicerces: quatro princípios, sempre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3716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Benefício coletivo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371600" y="42576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Os dados devem beneficiar, antes de tudo, as comunidades que os originaram — nunca terceiros.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601200" y="36766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Autoridade para decidir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601200" y="4257675"/>
            <a:ext cx="753465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comunidade mantém o controle sobre seu próprio conhecimento: o que registrar, o que publicar, o que retirar.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371600" y="66484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Responsabilidade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72294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lida com esses dados responde por como os trata, protege e compartilha.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01200" y="6648450"/>
            <a:ext cx="804672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Ética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9601200" y="7229475"/>
            <a:ext cx="7534656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Respeito às práticas, aos valores e à cultura de cada comunidade, sempre.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decide o quê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1371600" y="4444246"/>
            <a:ext cx="2007156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1371600" y="3875763"/>
            <a:ext cx="1816656" cy="197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020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201C"/>
                </a:solidFill>
                <a:latin typeface="Arial"/>
                <a:ea typeface="Arial"/>
                <a:cs typeface="Arial"/>
                <a:sym typeface="Arial"/>
              </a:rPr>
              <a:t>CAMADA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3"/>
          <p:cNvSpPr/>
          <p:nvPr/>
        </p:nvSpPr>
        <p:spPr>
          <a:xfrm>
            <a:off x="3378756" y="4444246"/>
            <a:ext cx="5970984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3"/>
          <p:cNvSpPr/>
          <p:nvPr/>
        </p:nvSpPr>
        <p:spPr>
          <a:xfrm>
            <a:off x="3645456" y="3875763"/>
            <a:ext cx="5616714" cy="197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020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201C"/>
                </a:solidFill>
                <a:latin typeface="Arial"/>
                <a:ea typeface="Arial"/>
                <a:cs typeface="Arial"/>
                <a:sym typeface="Arial"/>
              </a:rPr>
              <a:t>QUEM DECIDE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3"/>
          <p:cNvSpPr/>
          <p:nvPr/>
        </p:nvSpPr>
        <p:spPr>
          <a:xfrm>
            <a:off x="9349740" y="4444246"/>
            <a:ext cx="756666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3"/>
          <p:cNvSpPr/>
          <p:nvPr/>
        </p:nvSpPr>
        <p:spPr>
          <a:xfrm>
            <a:off x="9616440" y="3875763"/>
            <a:ext cx="7260260" cy="19791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0201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20201C"/>
                </a:solidFill>
                <a:latin typeface="Arial"/>
                <a:ea typeface="Arial"/>
                <a:cs typeface="Arial"/>
                <a:sym typeface="Arial"/>
              </a:rPr>
              <a:t>SOBRE O QUÊ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1371600" y="5432941"/>
            <a:ext cx="2007156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1371600" y="4842391"/>
            <a:ext cx="181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Dados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3378756" y="5432941"/>
            <a:ext cx="5970984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3645456" y="4842391"/>
            <a:ext cx="56167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própria comunidade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9349740" y="5432941"/>
            <a:ext cx="756666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9616440" y="4842391"/>
            <a:ext cx="7260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se registra, o que se publica, o que se retira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1371600" y="6421636"/>
            <a:ext cx="2007156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1371600" y="5831086"/>
            <a:ext cx="181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Ferramentas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3378756" y="6421636"/>
            <a:ext cx="5970984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>
            <a:off x="3645456" y="5831086"/>
            <a:ext cx="56167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mantém cada sistema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9349740" y="6421636"/>
            <a:ext cx="756666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>
            <a:off x="9616440" y="5831086"/>
            <a:ext cx="7260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atualizações, cópias de segurança, proteção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1371600" y="7410331"/>
            <a:ext cx="2007156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3"/>
          <p:cNvSpPr/>
          <p:nvPr/>
        </p:nvSpPr>
        <p:spPr>
          <a:xfrm>
            <a:off x="1371600" y="6819781"/>
            <a:ext cx="1816656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3378756" y="7410331"/>
            <a:ext cx="5970984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3645456" y="6819781"/>
            <a:ext cx="5616714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comitê com todos os participantes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9349740" y="7410331"/>
            <a:ext cx="7566660" cy="9525"/>
          </a:xfrm>
          <a:prstGeom prst="rect">
            <a:avLst/>
          </a:prstGeom>
          <a:solidFill>
            <a:srgbClr val="201F1D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/>
          <p:nvPr/>
        </p:nvSpPr>
        <p:spPr>
          <a:xfrm>
            <a:off x="9616440" y="6819781"/>
            <a:ext cx="726026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174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as regras gerais e quem pode entrar na federação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1371600" y="8239006"/>
            <a:ext cx="14716125" cy="706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75676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Isso não é só uma boa prática — é também respaldado por lei: a Lei da Biodiversidade e o Protocolo de Nagoya exigem consentimento e retorno de benefícios sempre que o conhecimento tradicional for usado.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895" y="0"/>
            <a:ext cx="17142216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8200" y="0"/>
            <a:ext cx="14691604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2275" y="0"/>
            <a:ext cx="1624346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3" name="Google Shape;63;p7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Conhecimento e evidência não são a mesma coisa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13716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Evidência: contada por outros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371600" y="4257675"/>
            <a:ext cx="7495413" cy="17240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um pesquisador, um museu ou um livro de trezentos anos registra que uma comunidade usa certa planta, quem está falando é quem registrou. É um testemunho de terceiro. Tem valor, e muita coisa só sobreviveu assim — mas a autoridade sobre aquele registro é de quem o guarda.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9639300" y="3676650"/>
            <a:ext cx="800481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Conhecimento: dito por vocês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639300" y="4257675"/>
            <a:ext cx="7495413" cy="22193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é a própria comunidade que diz, na sua língua, o que sabe e de quem aprendeu, isso é outra coisa. Não vale mais nem menos: tem outro dono. E é esse dono — a comunidade — que decide o que pode ser publicado, o que fica reservado e o que se retira depois.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745980"/>
            <a:ext cx="2841308" cy="160020"/>
          </a:xfrm>
          <a:prstGeom prst="rect">
            <a:avLst/>
          </a:prstGeom>
        </p:spPr>
      </p:pic>
      <p:sp>
        <p:nvSpPr>
          <p:cNvPr id="65" name="Google Shape;65;p7"/>
          <p:cNvSpPr/>
          <p:nvPr/>
        </p:nvSpPr>
        <p:spPr>
          <a:xfrm>
            <a:off x="1371600" y="7863840"/>
            <a:ext cx="162763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just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 arquitetura passou a marcar essa diferença em cada registro. Não para dizer o que é mais verdadeiro — os dois são conhecimento —, mas para saber, sempre, quem tem autoridade para decidir sobre aquilo. Quando o registro é de vocês, quem decide são vocês.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2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Quatro avanços, e o que cada um protege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371600" y="35661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um guarda a própria chave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371600" y="411480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Não existe um banco central. Cada comunidade e cada instituição mantém os próprios registros, e quem sai leva tudo embora do índice comum na hora.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601200" y="356616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0" spcFirstLastPara="1" rIns="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dicionário vivo, não uma imposição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601200" y="411480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Os nomes de cada comunidade, em cada língua, são registro de primeira classe — com dono, origem e nível de acesso próprios. O nome científico deixa de ser o centro.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371600" y="59893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Regras escritas antes do conflito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653796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Quem decide o quê, em três camadas; consentimento como processo, não como assinatura; e marcas de uso definidas pela comunidade. Com respaldo em lei.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01200" y="598932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Conhecimento e evidência separados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9601200" y="653796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Cada registro passa a dizer se é a comunidade falando ou um terceiro registrando — e é isso que define quem tem autoridade sobre ele.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8366760"/>
            <a:ext cx="1471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Nenhum dos quatro é sobre tecnologia. Os quatro são sobre quem decide — e é por isso que a parte mais difícil não se resolve programando.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0" name="Google Shape;180;p22"/>
          <p:cNvSpPr/>
          <p:nvPr/>
        </p:nvSpPr>
        <p:spPr>
          <a:xfrm>
            <a:off x="1342906" y="1552575"/>
            <a:ext cx="17130844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660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Cinco perguntas que só vocês podem responder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371600" y="2750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Como quem sabe quer ser nomeado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1371600" y="329864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alguém conta um saber, que nome deve aparecer: o nome de verdade, um nome escolhido pela pessoa, ou só “a comunidade”?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9601200" y="2750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não deve ser registrado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9601200" y="329864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Há saberes que talvez não devam entrar em sistema nenhum. Precisamos saber onde fica essa linha antes de escrever qualquer coisa.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1371600" y="5000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Que marcas de uso valem aqui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554864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Existem selos que dizem como um saber pode ser usado: só em certa época, só por certas pessoas, nunca para fins comerciais. Quais valem — e quem diz isso por todos?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9601200" y="500000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As gravações e as oficinas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9601200" y="5548640"/>
            <a:ext cx="753465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Filmar alguém fazendo um chá ou trançando uma cesta é registrar um saber. Numa oficina, são muitas pessoas de uma vez. Quem autoriza — cada um, ou o grupo?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1371600" y="9050000"/>
            <a:ext cx="147126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Nenhuma dessas perguntas tem resposta técnica, e nenhuma delas vamos responder sozinhos. Enquanto vocês não responderem, elas ficam registradas como pendências abertas — e nada é publicado.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371600" y="7250000"/>
            <a:ext cx="14712696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20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O que é sagrado — e o que acontece com ele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1371600" y="7800000"/>
            <a:ext cx="14712696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16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Quando um saber é sagrado, o registro dele deve sumir por inteiro, ou pode ficar visível que ele existe, sem mostrar o conteúdo? E quem diz que um saber é sagrado?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6E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1320403" y="3118485"/>
            <a:ext cx="17155597" cy="1127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7717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Um convite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6"/>
          <p:cNvSpPr/>
          <p:nvPr/>
        </p:nvSpPr>
        <p:spPr>
          <a:xfrm>
            <a:off x="1371600" y="4608195"/>
            <a:ext cx="10722660" cy="27127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1293"/>
              </a:lnSpc>
              <a:spcBef>
                <a:spcPts val="0"/>
              </a:spcBef>
              <a:spcAft>
                <a:spcPts val="0"/>
              </a:spcAft>
              <a:buClr>
                <a:srgbClr val="201F1D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01F1D"/>
                </a:solidFill>
                <a:latin typeface="Arial"/>
                <a:ea typeface="Arial"/>
                <a:cs typeface="Arial"/>
                <a:sym typeface="Arial"/>
              </a:rPr>
              <a:t>Essa arquitetura só existe se comunidades, pesquisadores e instituições ajudarem a construí-la, testá-la e corrigi-la. Participe, contribua, avalie.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6"/>
          <p:cNvSpPr/>
          <p:nvPr/>
        </p:nvSpPr>
        <p:spPr>
          <a:xfrm>
            <a:off x="1371600" y="9250680"/>
            <a:ext cx="1838932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eduardo.dalc.in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6"/>
          <p:cNvSpPr/>
          <p:nvPr/>
        </p:nvSpPr>
        <p:spPr>
          <a:xfrm>
            <a:off x="3214807" y="9250680"/>
            <a:ext cx="133350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6"/>
          <p:cNvSpPr/>
          <p:nvPr/>
        </p:nvSpPr>
        <p:spPr>
          <a:xfrm>
            <a:off x="3443407" y="9250680"/>
            <a:ext cx="5292316" cy="198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6765"/>
              </a:lnSpc>
              <a:spcBef>
                <a:spcPts val="0"/>
              </a:spcBef>
              <a:spcAft>
                <a:spcPts val="0"/>
              </a:spcAft>
              <a:buClr>
                <a:srgbClr val="211F1D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11F1D"/>
                </a:solidFill>
                <a:latin typeface="Arial"/>
                <a:ea typeface="Arial"/>
                <a:cs typeface="Arial"/>
                <a:sym typeface="Arial"/>
              </a:rPr>
              <a:t>github.com/edalcin/Arquitetura-BioCultural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201F1D"/>
      </a:dk1>
      <a:lt1>
        <a:srgbClr val="FAF6E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201F1D"/>
      </a:dk1>
      <a:lt1>
        <a:srgbClr val="FAF6E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