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81" r:id="rId30"/>
    <p:sldId id="282" r:id="rId31"/>
    <p:sldId id="280" r:id="rId29"/>
    <p:sldId id="279" r:id="rId28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7.xml"/><Relationship Id="rId29" Type="http://schemas.openxmlformats.org/officeDocument/2006/relationships/slide" Target="slides/slide26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Abertura: apresentar a proposta como um convite, não como um sistema de TI.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" name="Google Shape;2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Visão geral do que será mostrado, em cinco blocos.</a:t>
            </a:r>
            <a:endParaRPr/>
          </a:p>
        </p:txBody>
      </p:sp>
      <p:sp>
        <p:nvSpPr>
          <p:cNvPr id="24" name="Google Shape;2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primeiro bloco: o problema, contado como história.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Estabelece a urgência: o conhecimento existe, mas está fragmentado e sob risco.</a:t>
            </a:r>
            <a:endParaRPr/>
          </a:p>
        </p:txBody>
      </p:sp>
      <p:sp>
        <p:nvSpPr>
          <p:cNvPr id="53" name="Google Shape;5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por que copiar o modelo acadêmico não funciona para conhecimento tradicional.</a:t>
            </a:r>
            <a:endParaRPr/>
          </a:p>
        </p:txBody>
      </p:sp>
      <p:sp>
        <p:nvSpPr>
          <p:cNvPr id="61" name="Google Shape;6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segundo bloco: as quatro fontes de evidência.</a:t>
            </a:r>
            <a:endParaRPr/>
          </a:p>
        </p:txBody>
      </p:sp>
      <p:sp>
        <p:nvSpPr>
          <p:cNvPr id="72" name="Google Shape;7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quatro fontes de evidência que a arquitetura acolhe.</a:t>
            </a:r>
            <a:endParaRPr/>
          </a:p>
        </p:txBody>
      </p:sp>
      <p:sp>
        <p:nvSpPr>
          <p:cNvPr id="78" name="Google Shape;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Explica o papel do BioCultTermos como dicionário vivo e compartilhado, sem impor o nome científico.</a:t>
            </a:r>
          </a:p>
          <a:p>
            <a:r>
              <a:t>Para o público acadêmico: SKOS-XL (W3C) trata o rótulo como recurso de primeira classe, e é isso que permite pendurar accessLevel, povo detentor e consentimento em cada forma textual — inclusive tratar o nome em língua indígena com nível de acesso diferente do nome em português. Alinhamento com GBIF/Darwin Core acontece na camada de mapeamento do Pluriverso, não dentro do vocabulário da comunidade.</a:t>
            </a:r>
          </a:p>
        </p:txBody>
      </p:sp>
      <p:sp>
        <p:nvSpPr>
          <p:cNvPr id="93" name="Google Shape;9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terceiro bloco: o problema da confiança e a solução federada.</a:t>
            </a:r>
            <a:endParaRPr/>
          </a:p>
        </p:txBody>
      </p:sp>
      <p:sp>
        <p:nvSpPr>
          <p:cNvPr id="103" name="Google Shape;103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69034d40c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69034d40c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f69034d40c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por que a desconfiança das comunidades é legítima — casos reais de apropriação indevida.</a:t>
            </a:r>
            <a:endParaRPr/>
          </a:p>
        </p:txBody>
      </p:sp>
      <p:sp>
        <p:nvSpPr>
          <p:cNvPr id="115" name="Google Shape;11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69034d40c_0_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69034d40c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f69034d40c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soberania federada: sem central, cada participante controla seus próprios dados.</a:t>
            </a:r>
            <a:endParaRPr/>
          </a:p>
        </p:txBody>
      </p:sp>
      <p:sp>
        <p:nvSpPr>
          <p:cNvPr id="129" name="Google Shape;12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f69034d40c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f69034d40c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69034d40c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 o papel de ponto de encontro do Pluriverso, sem jargão técnico.</a:t>
            </a:r>
            <a:endParaRPr/>
          </a:p>
        </p:txBody>
      </p:sp>
      <p:sp>
        <p:nvSpPr>
          <p:cNvPr id="144" name="Google Shape;14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69034d40c_0_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f69034d40c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g3f69034d40c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bloco da linha do tempo da arquitetura.</a:t>
            </a:r>
            <a:endParaRPr/>
          </a:p>
        </p:txBody>
      </p:sp>
      <p:sp>
        <p:nvSpPr>
          <p:cNvPr id="158" name="Google Shape;15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evolução da arquitetura em quatro marcos, sem números de versão.</a:t>
            </a:r>
            <a:endParaRPr/>
          </a:p>
        </p:txBody>
      </p:sp>
      <p:sp>
        <p:nvSpPr>
          <p:cNvPr id="164" name="Google Shape;16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Abre o bloco final: princípios e governança.</a:t>
            </a:r>
            <a:endParaRPr/>
          </a:p>
        </p:txBody>
      </p:sp>
      <p:sp>
        <p:nvSpPr>
          <p:cNvPr id="172" name="Google Shape;17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quatro princípios CARE explicados em linguagem simples.</a:t>
            </a:r>
            <a:endParaRPr/>
          </a:p>
        </p:txBody>
      </p:sp>
      <p:sp>
        <p:nvSpPr>
          <p:cNvPr id="178" name="Google Shape;17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As três camadas de governança, em linguagem simples, mais o respaldo legal.</a:t>
            </a:r>
            <a:endParaRPr/>
          </a:p>
        </p:txBody>
      </p:sp>
      <p:sp>
        <p:nvSpPr>
          <p:cNvPr id="192" name="Google Shape;19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69034d40c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f69034d40c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f69034d40c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69034d40c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f69034d40c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g3f69034d40c_0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Fechamento com chamado à ação — participação é essencial, não opcional.</a:t>
            </a:r>
            <a:endParaRPr/>
          </a:p>
        </p:txBody>
      </p:sp>
      <p:sp>
        <p:nvSpPr>
          <p:cNvPr id="235" name="Google Shape;235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de escuta, não de exposição. Fazer as quatro perguntas e parar de falar.</a:t>
            </a:r>
          </a:p>
          <a:p>
            <a:r>
              <a:t>Contexto de cada uma, se perguntarem:</a:t>
            </a:r>
          </a:p>
          <a:p>
            <a:r>
              <a:t>1) Nome de quem fala — há um conflito real entre dar crédito (direito da pessoa, previsto na Lei 13.123) e proteger dados sensíveis (LGPD, art. 11). A saída recomendada é o pseudônimo escolhido pela própria pessoa, e é a única que exige perguntar.</a:t>
            </a:r>
          </a:p>
          <a:p>
            <a:r>
              <a:t>2) O que não registrar — a documentação do projeto já assume que há conhecimento sagrado que é mais bem protegido pela não existência do registro do que por qualquer camada de acesso.</a:t>
            </a:r>
          </a:p>
          <a:p>
            <a:r>
              <a:t>3) Marcas de uso — são os TK/BC Labels do Local Contexts. Só a comunidade pode aplicá-los; quando aplicados por terceiro, chamam-se Notices e valem menos.</a:t>
            </a:r>
          </a:p>
          <a:p>
            <a:r>
              <a:t>4) Gravações — o registro em vídeo captura prática, não só fala: o gesto, a sequência, o material escolhido. Pode não haver uma palavra dita, e ainda assim é conhecimento inteiro. Em gravação coletiva, cada participante tem direito próprio sobre a própria voz e imagem: a regra adotada por ora é a mais conservadora — se um pede reserva, a gravação inteira sai, e não editamos para suprimir alguém por conta própria. Caso concreto: o vídeo de 42 segundos em língua Panará, sem consentimento formalizado, sem transcrição com falante nativo e sem conferência da grafia — fora de qualquer publicação até que isso se resolva.</a:t>
            </a:r>
          </a:p>
          <a:p>
            <a:r>
              <a:t>Registrar as respostas na hora; elas destravam o desenho do modelo de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 avanço mais recente da arquitetura, e o mais difícil de enxergar de fora.</a:t>
            </a:r>
          </a:p>
          <a:p>
            <a:r>
              <a:t>Até agora tudo era chamado de 'evidência', inclusive a fala da própria comunidade — o que colocava, sem querer, o registro do pesquisador e a palavra do detentor no mesmo lugar.</a:t>
            </a:r>
          </a:p>
          <a:p>
            <a:r>
              <a:t>A distinção NÃO é sobre qualidade ou veracidade: é sobre quem tem autoridade para classificar o acesso. Evidência não vale menos; é conhecimento com outro dono.</a:t>
            </a:r>
          </a:p>
          <a:p>
            <a:r>
              <a:t>Consequência prática: em registro de Conhecimento, só a comunidade aplica as marcas de uso; a instituição, no máximo, declara um aviso. E a narrativa da comunidade sobre uma peça de museu fica guardada com a comunidade, não dentro do banco do museu — as duas se encontram sem que uma engula a outra.</a:t>
            </a:r>
          </a:p>
          <a:p>
            <a:r>
              <a:t>Emenda para o próximo slide: é justamente por causa dessa distinção que as quatro perguntas seguintes não podem ser respondidas por nós.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de consolidação: o que a arquitetura ganhou, em quatro marcos, na ordem em que apareceram.</a:t>
            </a:r>
          </a:p>
          <a:p>
            <a:r>
              <a:t>1) Federação (v3.0) — abandono do banco único compartilhado; cada unidade com seu próprio SQLite soberano, Pluriverso como ponto de encontro que só indexa o que foi publicado, e purge imediato na saída.</a:t>
            </a:r>
          </a:p>
          <a:p>
            <a:r>
              <a:t>2) SKOS-XL — rótulo como recurso de primeira classe, o que permite accessLevel, povo detentor e consentimento por forma textual; e nome científico fora do escopo do vocabulário controlado (ADR-014), porque sua autoridade já é externa.</a:t>
            </a:r>
          </a:p>
          <a:p>
            <a:r>
              <a:t>3) Governança — três camadas de decisão, CLPI como ciclo com estágios, rotulagem cultural TK/BC, repartição rastreável; respaldo na Lei 13.123, no Protocolo de Nagoya e na LGPD.</a:t>
            </a:r>
          </a:p>
          <a:p>
            <a:r>
              <a:t>4) Conhecimento × evidência (o mais recente) — a distinção é deôntica, não epistêmica: não diz o que é mais verdadeiro, diz quem tem autoridade para classificar o acesso.</a:t>
            </a:r>
          </a:p>
          <a:p>
            <a:r>
              <a:t>Se houver tempo para uma só frase: os três primeiros protegem o dado; o quarto protege quem decide sobre o dado.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1320403" y="3452813"/>
            <a:ext cx="17155597" cy="1127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717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9600"/>
              <a:buFont typeface="Arial"/>
              <a:buNone/>
            </a:pPr>
            <a:r>
              <a:rPr b="0" i="0" lang="en-US" sz="9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Arquitetura BioCultural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1371600" y="4942523"/>
            <a:ext cx="10722660" cy="20440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29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lang="en-US" sz="3000">
                <a:solidFill>
                  <a:srgbClr val="201F1D"/>
                </a:solidFill>
              </a:rPr>
              <a:t>Como garantir o registro, a proteção e a soberania dos conhecimentos tradicionais mantidos por gerações sobre as plantas e os animais. 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1371600" y="9250680"/>
            <a:ext cx="181431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Eduardo Dalcin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3192423" y="9250680"/>
            <a:ext cx="13335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3421023" y="9250680"/>
            <a:ext cx="67056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Neste convite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1371600" y="3457575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371600" y="2692718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2183130" y="2586038"/>
            <a:ext cx="630208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conhecimento que corre risco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1371600" y="4941570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371600" y="4176712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2183130" y="4070033"/>
            <a:ext cx="7471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fontes, uma linguagem comum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1371600" y="6425565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1371600" y="5660707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2183130" y="5554028"/>
            <a:ext cx="8199299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arquitetura para proteger quem sabe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1371600" y="7909560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1371600" y="7144703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2183130" y="7038023"/>
            <a:ext cx="487714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Como chegamos até aqui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371600" y="9393555"/>
            <a:ext cx="155448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371600" y="8628698"/>
            <a:ext cx="37338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B6823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B68235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2183130" y="8522018"/>
            <a:ext cx="96012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3621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Princípios, governança e o que falta perguntar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371600" y="10887075"/>
            <a:ext cx="1047750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" name="Google Shape;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/>
        </p:nvSpPr>
        <p:spPr>
          <a:xfrm>
            <a:off x="1342906" y="4986338"/>
            <a:ext cx="916506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O conhecimento que corre risco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6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saber espalhado — e em risco de se perder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1342901" y="3118400"/>
            <a:ext cx="14538000" cy="52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Guardado em artigos científicos que poucos leem, fora do alcance de quem detém o saber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Vivo na memória das comunidades, passado de boca a ouvido — e ameaçado quando os mais velhos partem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Preservado em acervos de museus e arquivos, muitas vezes esquecido em prateleiras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45085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500"/>
              <a:buFont typeface="Arial"/>
              <a:buChar char="●"/>
            </a:pPr>
            <a:r>
              <a:rPr b="0" i="0" lang="en-US" sz="35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Registrado por viajantes que passaram pelo Brasil há séculos, em livros hoje raros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57" name="Google Shape;5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que o nome científico não é o ponto de partida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13716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olhar da ciência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1371600" y="4257675"/>
            <a:ext cx="7495413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Tradicionalmente, organizamos o conhecimento sobre plantas e animais a partir do nome científico: ele é o centro, e tudo — nome popular, uso, história — gira em torno dele.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96393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olhar da comunidade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9639300" y="4257675"/>
            <a:ext cx="7495413" cy="2219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Para uma comunidade tradicional, o nome científico simplesmente não existe. O que importa é o nome que a planta tem ali, o uso que ela tem, e quem ensinou esse uso — e é daí que uma arquitetura de respeito precisa partir.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8" name="Google Shape;6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8"/>
          <p:cNvSpPr/>
          <p:nvPr/>
        </p:nvSpPr>
        <p:spPr>
          <a:xfrm>
            <a:off x="1342906" y="4986338"/>
            <a:ext cx="897659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Quatro fontes, uma arquitetura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9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De onde vem o que a arquitetura reúne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9"/>
          <p:cNvSpPr/>
          <p:nvPr/>
        </p:nvSpPr>
        <p:spPr>
          <a:xfrm>
            <a:off x="13716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Artigos científicos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9"/>
          <p:cNvSpPr/>
          <p:nvPr/>
        </p:nvSpPr>
        <p:spPr>
          <a:xfrm>
            <a:off x="1371600" y="42576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pesquisadores já publicaram sobre o uso de plantas e animais por comunidades tradicionais.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96012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Relatos das comunidades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9"/>
          <p:cNvSpPr/>
          <p:nvPr/>
        </p:nvSpPr>
        <p:spPr>
          <a:xfrm>
            <a:off x="9601200" y="4257675"/>
            <a:ext cx="7534656" cy="1228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as próprias comunidades registram e compartilham diretamente, sempre com seu consentimento explícito.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9"/>
          <p:cNvSpPr/>
          <p:nvPr/>
        </p:nvSpPr>
        <p:spPr>
          <a:xfrm>
            <a:off x="1371600" y="5596370"/>
            <a:ext cx="8046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Acervos e museus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9"/>
          <p:cNvSpPr/>
          <p:nvPr/>
        </p:nvSpPr>
        <p:spPr>
          <a:xfrm>
            <a:off x="1371600" y="6235844"/>
            <a:ext cx="7534800" cy="7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Coleções, registros e documentos históricos preservados em museus e arquivos ao longo do tempo.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"/>
          <p:cNvSpPr/>
          <p:nvPr/>
        </p:nvSpPr>
        <p:spPr>
          <a:xfrm>
            <a:off x="9601200" y="5596370"/>
            <a:ext cx="8046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Obras de naturalistas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"/>
          <p:cNvSpPr/>
          <p:nvPr/>
        </p:nvSpPr>
        <p:spPr>
          <a:xfrm>
            <a:off x="9601200" y="6235844"/>
            <a:ext cx="7534800" cy="1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Relatos de viajantes que passaram pelo Brasil entre os séculos XVII e XIX, registrando o que viram e aprenderam.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9"/>
          <p:cNvSpPr/>
          <p:nvPr/>
        </p:nvSpPr>
        <p:spPr>
          <a:xfrm>
            <a:off x="1507975" y="8165781"/>
            <a:ext cx="15447600" cy="8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i="0" lang="en-US" sz="2150" u="none" cap="none" strike="noStrike">
                <a:solidFill>
                  <a:srgbClr val="201F1D"/>
                </a:solidFill>
              </a:rPr>
              <a:t>Três dessas fontes trazem o registro feito por um terceiro. Uma delas — os relatos — traz a própria comunidade falando. A diferença parece pequena, e é ela que decide quem manda em cada registro.</a:t>
            </a:r>
            <a:endParaRPr b="1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0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linguagem comum entre as quatro fontes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0"/>
          <p:cNvSpPr/>
          <p:nvPr/>
        </p:nvSpPr>
        <p:spPr>
          <a:xfrm>
            <a:off x="1371600" y="3722375"/>
            <a:ext cx="15057900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fonte fala com suas próprias palavras — nomes populares, sinônimos, usos descritos à maneira e na lí</a:t>
            </a:r>
            <a:r>
              <a:rPr lang="en-US" sz="2700">
                <a:solidFill>
                  <a:srgbClr val="201F1D"/>
                </a:solidFill>
              </a:rPr>
              <a:t>ngua</a:t>
            </a: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 de cada comunidade. O BioCultTermos organiza esses termos como um dicionário vivo, sem exigir que ninguém troque sua forma de nomear pela da ciência.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0"/>
          <p:cNvSpPr/>
          <p:nvPr/>
        </p:nvSpPr>
        <p:spPr>
          <a:xfrm>
            <a:off x="1131570" y="6198870"/>
            <a:ext cx="16251174" cy="11010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comunidade ou iniciativa mantém sua própria cópia desse dicionário, sob seu próprio controle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0"/>
          <p:cNvSpPr/>
          <p:nvPr/>
        </p:nvSpPr>
        <p:spPr>
          <a:xfrm>
            <a:off x="1131570" y="7261860"/>
            <a:ext cx="16251174" cy="11010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Ajuda a relacionar nomes diferentes para a mesma planta, ou um mesmo nome usado por comunidades diferentes, em diferentes línguas.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" name="Google Shape;9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841308" cy="1600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0"/>
          <p:cNvSpPr/>
          <p:nvPr/>
        </p:nvSpPr>
        <p:spPr>
          <a:xfrm>
            <a:off x="1133856" y="8458200"/>
            <a:ext cx="16248888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240030" lvl="0" marL="240030" marR="0" rtl="0" algn="l">
              <a:lnSpc>
                <a:spcPct val="134135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Char char="•"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baixo, é um padrão internacional — SKOS-XL — com dados próprios para cada nome.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1"/>
          <p:cNvSpPr/>
          <p:nvPr/>
        </p:nvSpPr>
        <p:spPr>
          <a:xfrm>
            <a:off x="1342906" y="4986338"/>
            <a:ext cx="1194029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Uma arquitetura para proteger quem sabe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6150" y="0"/>
            <a:ext cx="14695704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/>
          <p:nvPr/>
        </p:nvSpPr>
        <p:spPr>
          <a:xfrm>
            <a:off x="738934" y="1552575"/>
            <a:ext cx="171309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risco que nenhuma comunidade quer correr de novo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1131576" y="3722375"/>
            <a:ext cx="15297900" cy="42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Casos como o do cupuaçu, da ayahuasca e do jaborandi mostram o que acontece quando um saber tradicional vira patente ou produto sem autorização, nem retorno para quem o originou.</a:t>
            </a:r>
            <a:endParaRPr b="0" i="0" sz="2900" u="none" cap="none" strike="noStrike">
              <a:solidFill>
                <a:srgbClr val="201F1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t/>
            </a:r>
            <a:endParaRPr sz="2900">
              <a:solidFill>
                <a:srgbClr val="201F1D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Por isso, muitas comunidades desconfiam — com toda razão — de qualquer sistema que peça seus saberes.</a:t>
            </a:r>
            <a:endParaRPr b="0" i="0" sz="2900" u="none" cap="none" strike="noStrike">
              <a:solidFill>
                <a:srgbClr val="201F1D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t/>
            </a:r>
            <a:endParaRPr sz="2900">
              <a:solidFill>
                <a:srgbClr val="201F1D"/>
              </a:solidFill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9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arquitetura que ignora esse risco não vai ganhar a confiança de quem mais precisa confiar nela.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9" name="Google Shape;11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9745980"/>
            <a:ext cx="2989897" cy="1600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6875" y="0"/>
            <a:ext cx="15434260" cy="102869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5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resposta: cada um guarda a própria chave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1371600" y="3722370"/>
            <a:ext cx="12753975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700"/>
              <a:buFont typeface="Arial"/>
              <a:buNone/>
            </a:pPr>
            <a:r>
              <a:rPr b="0" i="0" lang="en-US" sz="27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Em vez de um único sistema central — do qual todos passariam a depender —, cada comunidade, cada acervo, cada iniciativa mantém seus próprios registros, sob seu próprio controle.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/>
          <p:nvPr/>
        </p:nvSpPr>
        <p:spPr>
          <a:xfrm>
            <a:off x="1371600" y="8507210"/>
            <a:ext cx="15716100" cy="2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25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Nada é compartilhado sem que essa comunidade ou iniciativa decida, explicitamente, o que tornar público.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650" y="6043812"/>
            <a:ext cx="17231698" cy="166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2275" y="0"/>
            <a:ext cx="16243461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Pluriverso: um ponto de encontro, não um dono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1371600" y="7789545"/>
            <a:ext cx="14716125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23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Periodicamente, o Pluriverso reúne o que cada participante decidiu tornar público e oferece um só lugar de busca — sem nunca ser dono dos dados de ninguém. Se um participante decide sair, seus dados somem de imediato do índice comum.</a:t>
            </a:r>
            <a:endParaRPr b="0" i="0" sz="2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892559"/>
            <a:ext cx="17983201" cy="41270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2538" y="0"/>
            <a:ext cx="14962920" cy="10287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"/>
          <p:cNvSpPr/>
          <p:nvPr/>
        </p:nvSpPr>
        <p:spPr>
          <a:xfrm>
            <a:off x="1342906" y="4986338"/>
            <a:ext cx="7149323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Como chegamos até aqui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0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Uma ideia que foi se corrigindo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0"/>
          <p:cNvSpPr/>
          <p:nvPr/>
        </p:nvSpPr>
        <p:spPr>
          <a:xfrm>
            <a:off x="1783080" y="9144000"/>
            <a:ext cx="1471269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arquitetura nasceu de uma provocação sobre como registramos o saber tradicional, passou por uma tentativa de sistema único, e hoje é uma federação onde cada participante é dono dos próprios dados — com uma camada explícita sobre quem decide o quê.</a:t>
            </a:r>
            <a:endParaRPr b="0" i="0" sz="2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14400" y="5760720"/>
            <a:ext cx="16459200" cy="15240"/>
          </a:xfrm>
          <a:prstGeom prst="rect">
            <a:avLst/>
          </a:prstGeom>
          <a:solidFill>
            <a:srgbClr val="C9B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465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326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jan/2025 · </a:t>
            </a:r>
            <a:r>
              <a:rPr sz="1350" b="1">
                <a:solidFill>
                  <a:srgbClr val="2E6B4F"/>
                </a:solidFill>
                <a:latin typeface="Arial"/>
              </a:rPr>
              <a:t>v1.0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418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A proposta inicial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três etapas: adquirir, curar e apresentar os dados</a:t>
            </a:r>
          </a:p>
        </p:txBody>
      </p:sp>
      <p:sp>
        <p:nvSpPr>
          <p:cNvPr id="173" name="Oval 172"/>
          <p:cNvSpPr/>
          <p:nvPr/>
        </p:nvSpPr>
        <p:spPr>
          <a:xfrm>
            <a:off x="3575304" y="5685739"/>
            <a:ext cx="164592" cy="164592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7614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dez/2025 · </a:t>
            </a:r>
            <a:r>
              <a:rPr sz="1350" b="1">
                <a:solidFill>
                  <a:srgbClr val="B4542F"/>
                </a:solidFill>
                <a:latin typeface="Arial"/>
              </a:rPr>
              <a:t>v1.2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7706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4542F"/>
                </a:solidFill>
                <a:latin typeface="Arial"/>
              </a:rPr>
              <a:t>Primeiras ferramentas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BioCultDB e a extração de artigos saem do papel</a:t>
            </a:r>
          </a:p>
        </p:txBody>
      </p:sp>
      <p:sp>
        <p:nvSpPr>
          <p:cNvPr id="176" name="Oval 175"/>
          <p:cNvSpPr/>
          <p:nvPr/>
        </p:nvSpPr>
        <p:spPr>
          <a:xfrm>
            <a:off x="5404104" y="5685739"/>
            <a:ext cx="164592" cy="164592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902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jun/2026 · </a:t>
            </a:r>
            <a:r>
              <a:rPr sz="1350" b="1">
                <a:solidFill>
                  <a:srgbClr val="A8801F"/>
                </a:solidFill>
                <a:latin typeface="Arial"/>
              </a:rPr>
              <a:t>v2.0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994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A8801F"/>
                </a:solidFill>
                <a:latin typeface="Arial"/>
              </a:rPr>
              <a:t>A comunidade entra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nasce o BioCultRelatos, com consentimento (CLPI) obrigatório</a:t>
            </a:r>
          </a:p>
        </p:txBody>
      </p:sp>
      <p:sp>
        <p:nvSpPr>
          <p:cNvPr id="179" name="Oval 178"/>
          <p:cNvSpPr/>
          <p:nvPr/>
        </p:nvSpPr>
        <p:spPr>
          <a:xfrm>
            <a:off x="7232904" y="5685739"/>
            <a:ext cx="164592" cy="164592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4190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jun/2026 · </a:t>
            </a:r>
            <a:r>
              <a:rPr sz="1350" b="1">
                <a:solidFill>
                  <a:srgbClr val="3D5A80"/>
                </a:solidFill>
                <a:latin typeface="Arial"/>
              </a:rPr>
              <a:t>v3.0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4282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D5A80"/>
                </a:solidFill>
                <a:latin typeface="Arial"/>
              </a:rPr>
              <a:t>A virada federada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cada participante soberano; nasce o Pluriverso</a:t>
            </a:r>
          </a:p>
        </p:txBody>
      </p:sp>
      <p:sp>
        <p:nvSpPr>
          <p:cNvPr id="182" name="Oval 181"/>
          <p:cNvSpPr/>
          <p:nvPr/>
        </p:nvSpPr>
        <p:spPr>
          <a:xfrm>
            <a:off x="90617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2478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jul/2026 · </a:t>
            </a:r>
            <a:r>
              <a:rPr sz="1350" b="1">
                <a:solidFill>
                  <a:srgbClr val="2E6B4F"/>
                </a:solidFill>
                <a:latin typeface="Arial"/>
              </a:rPr>
              <a:t>v3.1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257031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O dado mora em casa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um arquivo próprio por unidade, sem banco central</a:t>
            </a:r>
          </a:p>
        </p:txBody>
      </p:sp>
      <p:sp>
        <p:nvSpPr>
          <p:cNvPr id="185" name="Oval 184"/>
          <p:cNvSpPr/>
          <p:nvPr/>
        </p:nvSpPr>
        <p:spPr>
          <a:xfrm>
            <a:off x="10890504" y="5685739"/>
            <a:ext cx="164592" cy="164592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0766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jul/2026 · </a:t>
            </a:r>
            <a:r>
              <a:rPr sz="1350" b="1">
                <a:solidFill>
                  <a:srgbClr val="B4542F"/>
                </a:solidFill>
                <a:latin typeface="Arial"/>
              </a:rPr>
              <a:t>v3.2–3.3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0858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4542F"/>
                </a:solidFill>
                <a:latin typeface="Arial"/>
              </a:rPr>
              <a:t>Quatro fontes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entram acervos, museus e naturalistas; Pluriverso em várias instâncias</a:t>
            </a:r>
          </a:p>
        </p:txBody>
      </p:sp>
      <p:sp>
        <p:nvSpPr>
          <p:cNvPr id="188" name="Oval 187"/>
          <p:cNvSpPr/>
          <p:nvPr/>
        </p:nvSpPr>
        <p:spPr>
          <a:xfrm>
            <a:off x="12719304" y="5685739"/>
            <a:ext cx="164592" cy="164592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19054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A8801F"/>
                </a:solidFill>
                <a:latin typeface="Arial"/>
              </a:rPr>
              <a:t>v3.4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9146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A8801F"/>
                </a:solidFill>
                <a:latin typeface="Arial"/>
              </a:rPr>
              <a:t>Regras escritas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governança em três camadas: quem decide o quê</a:t>
            </a:r>
          </a:p>
        </p:txBody>
      </p:sp>
      <p:sp>
        <p:nvSpPr>
          <p:cNvPr id="191" name="Oval 190"/>
          <p:cNvSpPr/>
          <p:nvPr/>
        </p:nvSpPr>
        <p:spPr>
          <a:xfrm>
            <a:off x="14548104" y="5685739"/>
            <a:ext cx="164592" cy="164592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3734288" y="5989320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3D5A80"/>
                </a:solidFill>
                <a:latin typeface="Arial"/>
              </a:rPr>
              <a:t>v3.5–3.6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3743432" y="635508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D5A80"/>
                </a:solidFill>
                <a:latin typeface="Arial"/>
              </a:rPr>
              <a:t>Simplificação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extração por IA dentro do BioCultDB; nome científico deixa de ser o centro</a:t>
            </a:r>
          </a:p>
        </p:txBody>
      </p:sp>
      <p:sp>
        <p:nvSpPr>
          <p:cNvPr id="194" name="Oval 193"/>
          <p:cNvSpPr/>
          <p:nvPr/>
        </p:nvSpPr>
        <p:spPr>
          <a:xfrm>
            <a:off x="16376904" y="5685739"/>
            <a:ext cx="164592" cy="164592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5563088" y="5230368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01F1D"/>
                </a:solidFill>
                <a:latin typeface="Arial"/>
              </a:rPr>
              <a:t>ago/2026 · </a:t>
            </a:r>
            <a:r>
              <a:rPr sz="1350" b="1">
                <a:solidFill>
                  <a:srgbClr val="2E6B4F"/>
                </a:solidFill>
                <a:latin typeface="Arial"/>
              </a:rPr>
              <a:t>v3.7–3.9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5572232" y="3017520"/>
            <a:ext cx="1773936" cy="212140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1600" b="1">
                <a:solidFill>
                  <a:srgbClr val="2E6B4F"/>
                </a:solidFill>
                <a:latin typeface="Arial"/>
              </a:rPr>
              <a:t>Conhecimento ≠ evidência</a:t>
            </a:r>
          </a:p>
          <a:p>
            <a:pPr algn="ctr">
              <a:spcBef>
                <a:spcPts val="400"/>
              </a:spcBef>
            </a:pPr>
            <a:r>
              <a:rPr sz="1250" b="0">
                <a:solidFill>
                  <a:srgbClr val="5C554C"/>
                </a:solidFill>
                <a:latin typeface="Arial"/>
              </a:rPr>
              <a:t>o Relato, o consentimento como processo, as gravações e as oficinas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62525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/>
          <p:nvPr/>
        </p:nvSpPr>
        <p:spPr>
          <a:xfrm>
            <a:off x="1342906" y="4986338"/>
            <a:ext cx="7570780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F3F2F2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F3F2F2"/>
                </a:solidFill>
                <a:latin typeface="Arial"/>
                <a:ea typeface="Arial"/>
                <a:cs typeface="Arial"/>
                <a:sym typeface="Arial"/>
              </a:rPr>
              <a:t>Princípios que guiam tudo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princípios, sempre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Benefício coletivo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42576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Os dados devem beneficiar, antes de tudo, as comunidades que os originaram — nunca terceiros.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36766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Autoridade para decidir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4257675"/>
            <a:ext cx="7534656" cy="1228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comunidade mantém o controle sobre seu próprio conhecimento: o que registrar, o que publicar, o que retirar.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66484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Responsabilidade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72294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lida com esses dados responde por como os trata, protege e compartilha.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6648450"/>
            <a:ext cx="804672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Ética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7229475"/>
            <a:ext cx="7534656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Respeito às práticas, aos valores e à cultura de cada comunidade, sempre.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3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decide o quê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3"/>
          <p:cNvSpPr/>
          <p:nvPr/>
        </p:nvSpPr>
        <p:spPr>
          <a:xfrm>
            <a:off x="1371600" y="4444246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3"/>
          <p:cNvSpPr/>
          <p:nvPr/>
        </p:nvSpPr>
        <p:spPr>
          <a:xfrm>
            <a:off x="1371600" y="3875763"/>
            <a:ext cx="1816656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CAMADA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3"/>
          <p:cNvSpPr/>
          <p:nvPr/>
        </p:nvSpPr>
        <p:spPr>
          <a:xfrm>
            <a:off x="3378756" y="4444246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3"/>
          <p:cNvSpPr/>
          <p:nvPr/>
        </p:nvSpPr>
        <p:spPr>
          <a:xfrm>
            <a:off x="3645456" y="3875763"/>
            <a:ext cx="5616714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QUEM DECIDE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3"/>
          <p:cNvSpPr/>
          <p:nvPr/>
        </p:nvSpPr>
        <p:spPr>
          <a:xfrm>
            <a:off x="9349740" y="4444246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3"/>
          <p:cNvSpPr/>
          <p:nvPr/>
        </p:nvSpPr>
        <p:spPr>
          <a:xfrm>
            <a:off x="9616440" y="3875763"/>
            <a:ext cx="7260260" cy="197919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0201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0201C"/>
                </a:solidFill>
                <a:latin typeface="Arial"/>
                <a:ea typeface="Arial"/>
                <a:cs typeface="Arial"/>
                <a:sym typeface="Arial"/>
              </a:rPr>
              <a:t>SOBRE O QUÊ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1371600" y="5432941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1371600" y="4842391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Dados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3"/>
          <p:cNvSpPr/>
          <p:nvPr/>
        </p:nvSpPr>
        <p:spPr>
          <a:xfrm>
            <a:off x="3378756" y="5432941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3645456" y="4842391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própria comunidade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3"/>
          <p:cNvSpPr/>
          <p:nvPr/>
        </p:nvSpPr>
        <p:spPr>
          <a:xfrm>
            <a:off x="9349740" y="5432941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3"/>
          <p:cNvSpPr/>
          <p:nvPr/>
        </p:nvSpPr>
        <p:spPr>
          <a:xfrm>
            <a:off x="9616440" y="4842391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se registra, o que se publica, o que se retira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3"/>
          <p:cNvSpPr/>
          <p:nvPr/>
        </p:nvSpPr>
        <p:spPr>
          <a:xfrm>
            <a:off x="1371600" y="6421636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23"/>
          <p:cNvSpPr/>
          <p:nvPr/>
        </p:nvSpPr>
        <p:spPr>
          <a:xfrm>
            <a:off x="1371600" y="5831086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Ferramentas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3"/>
          <p:cNvSpPr/>
          <p:nvPr/>
        </p:nvSpPr>
        <p:spPr>
          <a:xfrm>
            <a:off x="3378756" y="6421636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23"/>
          <p:cNvSpPr/>
          <p:nvPr/>
        </p:nvSpPr>
        <p:spPr>
          <a:xfrm>
            <a:off x="3645456" y="5831086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mantém cada sistema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/>
          <p:nvPr/>
        </p:nvSpPr>
        <p:spPr>
          <a:xfrm>
            <a:off x="9349740" y="6421636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3"/>
          <p:cNvSpPr/>
          <p:nvPr/>
        </p:nvSpPr>
        <p:spPr>
          <a:xfrm>
            <a:off x="9616440" y="5831086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atualizações, cópias de segurança, proteção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3"/>
          <p:cNvSpPr/>
          <p:nvPr/>
        </p:nvSpPr>
        <p:spPr>
          <a:xfrm>
            <a:off x="1371600" y="7410331"/>
            <a:ext cx="2007156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23"/>
          <p:cNvSpPr/>
          <p:nvPr/>
        </p:nvSpPr>
        <p:spPr>
          <a:xfrm>
            <a:off x="1371600" y="6819781"/>
            <a:ext cx="1816656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Arquitetura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3"/>
          <p:cNvSpPr/>
          <p:nvPr/>
        </p:nvSpPr>
        <p:spPr>
          <a:xfrm>
            <a:off x="3378756" y="7410331"/>
            <a:ext cx="5970984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3"/>
          <p:cNvSpPr/>
          <p:nvPr/>
        </p:nvSpPr>
        <p:spPr>
          <a:xfrm>
            <a:off x="3645456" y="6819781"/>
            <a:ext cx="5616714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comitê com todos os participantes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3"/>
          <p:cNvSpPr/>
          <p:nvPr/>
        </p:nvSpPr>
        <p:spPr>
          <a:xfrm>
            <a:off x="9349740" y="7410331"/>
            <a:ext cx="7566660" cy="9525"/>
          </a:xfrm>
          <a:prstGeom prst="rect">
            <a:avLst/>
          </a:prstGeom>
          <a:solidFill>
            <a:srgbClr val="1F1F1F">
              <a:alpha val="16078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23"/>
          <p:cNvSpPr/>
          <p:nvPr/>
        </p:nvSpPr>
        <p:spPr>
          <a:xfrm>
            <a:off x="9616440" y="6819781"/>
            <a:ext cx="7260260" cy="238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5174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as regras gerais e quem pode entrar na federação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3"/>
          <p:cNvSpPr/>
          <p:nvPr/>
        </p:nvSpPr>
        <p:spPr>
          <a:xfrm>
            <a:off x="1371600" y="8239006"/>
            <a:ext cx="14716125" cy="70675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Isso não é só uma boa prática — é também respaldado por lei: a Lei da Biodiversidade e o Protocolo de Nagoya exigem consentimento e retorno de benefícios sempre que o conhecimento tradicional for usado.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2895" y="0"/>
            <a:ext cx="17142216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8200" y="0"/>
            <a:ext cx="14691604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7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 e evidência não são a mesma coisa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13716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Evidência: contada por outros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1371600" y="4257675"/>
            <a:ext cx="7495413" cy="1724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um pesquisador, um museu ou um livro de trezentos anos registra que uma comunidade usa certa planta, quem está falando é quem registrou. É um testemunho de terceiro. Tem valor, e muita coisa só sobreviveu assim — mas a autoridade sobre aquele registro é de quem o guarda.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9639300" y="3676650"/>
            <a:ext cx="800481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Conhecimento: dito por vocês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9639300" y="4257675"/>
            <a:ext cx="7495413" cy="2219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é a própria comunidade que diz, na sua língua, o que sabe e de quem aprendeu, isso é outra coisa. Não vale mais nem menos: tem outro dono. E é esse dono — a comunidade — que decide o que pode ser publicado, o que fica reservado e o que se retira depois.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745980"/>
            <a:ext cx="2841308" cy="160020"/>
          </a:xfrm>
          <a:prstGeom prst="rect">
            <a:avLst/>
          </a:prstGeom>
        </p:spPr>
      </p:pic>
      <p:sp>
        <p:nvSpPr>
          <p:cNvPr id="65" name="Google Shape;65;p7"/>
          <p:cNvSpPr/>
          <p:nvPr/>
        </p:nvSpPr>
        <p:spPr>
          <a:xfrm>
            <a:off x="1371600" y="7863840"/>
            <a:ext cx="16276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just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 arquitetura passou a marcar essa diferença em cada registro. Não para dizer o que é mais verdadeiro — os dois são conhecimento —, mas para saber, sempre, quem tem autoridade para decidir sobre aquilo. Quando o registro é de vocês, quem decide são vocês.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avanços, e o que cada um protege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356616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um guarda a própria chave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Não existe um banco central. Cada comunidade e cada instituição mantém os próprios registros, e quem sai leva tudo embora do índice comum na hora.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3566160"/>
            <a:ext cx="8412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0" spcFirstLastPara="1" rIns="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dicionário vivo, não uma imposição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Os nomes de cada comunidade, em cada língua, são registro de primeira classe — com dono, origem e nível de acesso próprios. O nome científico deixa de ser o centro.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Regras escritas antes do conflito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Quem decide o quê, em três camadas; consentimento como processo, não como assinatura; e marcas de uso definidas pela comunidade. Com respaldo em lei.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Conhecimento e evidência separados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Cada registro passa a dizer se é a comunidade falando ou um terceiro registrando — e é isso que define quem tem autoridade sobre ele.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8366760"/>
            <a:ext cx="1471269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Nenhum dos quatro é sobre tecnologia. Os quatro são sobre quem decide — e é por isso que a parte mais difícil não se resolve programando.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0" name="Google Shape;180;p22"/>
          <p:cNvSpPr/>
          <p:nvPr/>
        </p:nvSpPr>
        <p:spPr>
          <a:xfrm>
            <a:off x="1342906" y="1552575"/>
            <a:ext cx="17130844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660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Quatro perguntas que só vocês podem responder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2"/>
          <p:cNvSpPr/>
          <p:nvPr/>
        </p:nvSpPr>
        <p:spPr>
          <a:xfrm>
            <a:off x="1371600" y="356616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Como quem sabe quer ser nomeado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3716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Quando alguém conta um saber, que nome deve aparecer: o nome de verdade, um nome escolhido pela pessoa, ou só “a comunidade”?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2"/>
          <p:cNvSpPr/>
          <p:nvPr/>
        </p:nvSpPr>
        <p:spPr>
          <a:xfrm>
            <a:off x="9601200" y="356616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O que não deve ser registrado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2"/>
          <p:cNvSpPr/>
          <p:nvPr/>
        </p:nvSpPr>
        <p:spPr>
          <a:xfrm>
            <a:off x="9601200" y="411480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Há saberes que talvez não devam entrar em sistema nenhum. Precisamos saber onde fica essa linha antes de escrever qualquer coisa.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13716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Que marcas de uso valem aqui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Existem selos que dizem como um saber pode ser usado: só em certa época, só por certas pessoas, nunca para fins comerciais. Quais valem — e quem diz isso por todos?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2"/>
          <p:cNvSpPr/>
          <p:nvPr/>
        </p:nvSpPr>
        <p:spPr>
          <a:xfrm>
            <a:off x="9601200" y="598932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20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600"/>
              <a:buFont typeface="Arial"/>
              <a:buNone/>
            </a:pPr>
            <a:r>
              <a:rPr b="0" i="0" lang="en-US" sz="3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As gravações e as oficinas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/>
          <p:nvPr/>
        </p:nvSpPr>
        <p:spPr>
          <a:xfrm>
            <a:off x="9601200" y="6537960"/>
            <a:ext cx="7534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Filmar alguém fazendo um chá ou trançando uma cesta é registrar um saber. Numa oficina, são muitas pessoas de uma vez. Quem autoriza — cada um, ou o grupo?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1371600" y="8366760"/>
            <a:ext cx="14712696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16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Nenhuma dessas perguntas tem resposta técnica, e nenhuma delas vamos responder sozinhos. Enquanto vocês não responderem, elas ficam registradas como pendências abertas — e nada é publicado.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F2F2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6"/>
          <p:cNvSpPr/>
          <p:nvPr/>
        </p:nvSpPr>
        <p:spPr>
          <a:xfrm>
            <a:off x="1320403" y="3118485"/>
            <a:ext cx="17155597" cy="1127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717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9600"/>
              <a:buFont typeface="Arial"/>
              <a:buNone/>
            </a:pPr>
            <a:r>
              <a:rPr b="0" i="0" lang="en-US" sz="96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Um convite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6"/>
          <p:cNvSpPr/>
          <p:nvPr/>
        </p:nvSpPr>
        <p:spPr>
          <a:xfrm>
            <a:off x="1371600" y="4608195"/>
            <a:ext cx="10722660" cy="2712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1293"/>
              </a:lnSpc>
              <a:spcBef>
                <a:spcPts val="0"/>
              </a:spcBef>
              <a:spcAft>
                <a:spcPts val="0"/>
              </a:spcAft>
              <a:buClr>
                <a:srgbClr val="201F1D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201F1D"/>
                </a:solidFill>
                <a:latin typeface="Arial"/>
                <a:ea typeface="Arial"/>
                <a:cs typeface="Arial"/>
                <a:sym typeface="Arial"/>
              </a:rPr>
              <a:t>Essa arquitetura só existe se comunidades, pesquisadores e instituições ajudarem a construí-la, testá-la e corrigi-la. Participe, contribua, avalie.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6"/>
          <p:cNvSpPr/>
          <p:nvPr/>
        </p:nvSpPr>
        <p:spPr>
          <a:xfrm>
            <a:off x="1371600" y="9250680"/>
            <a:ext cx="1838932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eduardo.dalc.in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6"/>
          <p:cNvSpPr/>
          <p:nvPr/>
        </p:nvSpPr>
        <p:spPr>
          <a:xfrm>
            <a:off x="3214807" y="9250680"/>
            <a:ext cx="133350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·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6"/>
          <p:cNvSpPr/>
          <p:nvPr/>
        </p:nvSpPr>
        <p:spPr>
          <a:xfrm>
            <a:off x="3443407" y="9250680"/>
            <a:ext cx="5292316" cy="1981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765"/>
              </a:lnSpc>
              <a:spcBef>
                <a:spcPts val="0"/>
              </a:spcBef>
              <a:spcAft>
                <a:spcPts val="0"/>
              </a:spcAft>
              <a:buClr>
                <a:srgbClr val="211F1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11F1D"/>
                </a:solidFill>
                <a:latin typeface="Arial"/>
                <a:ea typeface="Arial"/>
                <a:cs typeface="Arial"/>
                <a:sym typeface="Arial"/>
              </a:rPr>
              <a:t>github.com/edalcin/Arquitetura-BioCultural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