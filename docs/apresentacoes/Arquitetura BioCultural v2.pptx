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18288000" cy="10287000"/>
  <p:notesSz cx="10287000" cy="18288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mover o slide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3A37133-8CC5-4360-9B96-E8B728F58461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Abertura: apresentar a proposta como um convite, não como um sistema de TI.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0813F8D-E5F1-4497-8A72-60C6F232F40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Visão geral do que será mostrado, em cinco blocos.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059A479-5601-4A7B-B751-D76BC32FFA8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Abre o primeiro bloco: o problema, contado como história.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2589ABE-3989-4532-9166-408D59F98DF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Estabelece a urgência: o conhecimento existe, mas está fragmentado e sob risco.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5251ADA-B486-442C-9916-AFF78552B95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Abre o segundo bloco: as quatro fontes de evidência.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5DFDBE3-9F82-4FFB-8396-9EFE42FBAFD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As quatro fontes de evidência que a arquitetura acolhe.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B6265A7-C102-4B80-9E6C-56B3B22ACF5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67BC998-2C8E-40AB-9D5B-C6C435E3942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Explica o papel do BioCultTermos como dicionário vivo e compartilhado, sem impor o nome científico.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Para o público acadêmico: SKOS-XL (W3C) trata o rótulo como recurso de primeira classe, e é isso que permite pendurar accessLevel, povo detentor e consentimento em cada forma textual — inclusive tratar o nome em língua indígena com nível de acesso diferente do nome em português. Alinhamento com GBIF/Darwin Core acontece na camada de mapeamento do Pluriverso, não dentro do vocabulário da comunidade.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DA74891-0667-4DAD-86D0-6442E858D65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Abre o terceiro bloco: o problema da confiança e a solução federada.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5CB919C-C293-4CAC-A969-1FE539D8BA7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Explica por que a desconfiança das comunidades é legítima — casos reais de apropriação indevida.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C0FED16-3D45-4D58-941E-85AE856CA30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B1F86A6-1F7A-4D95-BED3-54B5142A8A5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Explica soberania federada: sem central, cada participante controla seus próprios dados.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B49D55D-88D6-468A-88BC-CBF74A2B4B0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AF7F289-456F-4FD7-A9B5-C59A6DD862F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Explica o papel de ponto de encontro do Pluriverso, sem jargão técnico.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DAB2EE0-B4BB-41C8-AEEC-EE2E4EEA19A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C1E033D-2D9C-4615-8B70-A9F26E68E18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Abre o bloco da linha do tempo da arquitetura.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0D4B459-6C13-4CDA-BB03-F8CF10F2EE9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 evolução da arquitetura em quatro marcos, sem números de versão.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CC3DCD1-D104-4141-9811-56FD62492B6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Abre o bloco final: princípios e governança.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D4B047A-F54E-4BAA-A393-5A8D2321775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Os quatro princípios CARE explicados em linguagem simples.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BEBF878-2C27-4717-8526-32E54E9F8CF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As três camadas de governança, em linguagem simples, mais o respaldo legal.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1DA6184-2B9D-4309-B073-1E69ADA0C84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AFC923B-C770-4B80-950D-FAE258D21DFF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7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5EA74BD-2D1F-4AFC-91BB-E8FF222D708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O avanço mais recente da arquitetura, e o mais difícil de enxergar de fora.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Até agora tudo era chamado de 'evidência', inclusive a fala da própria comunidade — o que colocava, sem querer, o registro do pesquisador e a palavra do detentor no mesmo lugar.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 distinção NÃO é sobre qualidade ou veracidade: é sobre quem tem autoridade para classificar o acesso. Evidência não vale menos; é conhecimento com outro dono.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Consequência prática: em registro de Conhecimento, só a comunidade aplica as marcas de uso; a instituição, no máximo, declara um aviso. E a narrativa da comunidade sobre uma peça de museu fica guardada com a comunidade, não dentro do banco do museu — as duas </a:t>
            </a: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se encontram sem que uma engula a outra.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Emenda para o próximo slide: é justamente por causa dessa distinção que as quatro perguntas seguintes não podem ser respondidas por nós.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DEE9AFF-1ADE-491A-86AF-CEE433F1BF5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Slide de consolidação: o que a arquitetura ganhou, em quatro marcos, na ordem em que apareceram.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1) Federação (v3.0) — abandono do banco único compartilhado; cada unidade com seu próprio SQLite soberano, Pluriverso como ponto de encontro que só indexa o que foi publicado, e purge imediato na saída.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2) SKOS-XL — rótulo como recurso de primeira classe, o que permite accessLevel, povo detentor e consentimento por forma textual; e nome científico fora do escopo do vocabulário controlado (ADR-014), porque sua autoridade já é externa.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3) Governança — três camadas de decisão, CLPI como ciclo com estágios, rotulagem cultural TK/BC, repartição rastreável; respaldo na Lei 13.123, no Protocolo de Nagoya e na LGPD.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4) Conhecimento × evidência (o mais recente) — a distinção é deôntica, não epistêmica: não diz o que é mais verdadeiro, diz quem tem autoridade para classificar o acesso.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Se houver tempo para uma só frase: os três primeiros protegem o dado; o quarto protege quem decide sobre o dado.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7F1541F-DD85-45E6-9F4B-FC5CEDCF2A5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Slide de escuta, não de exposição. Fazer as quatro perguntas e parar de falar.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Contexto de cada uma, se perguntarem: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1) Nome de quem fala — há um conflito real entre dar crédito (direito da pessoa, previsto na Lei 13.123) e proteger dados sensíveis (LGPD, art. 11). A saída recomendada é o pseudônimo escolhido pela própria pessoa, e é a única que exige perguntar.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2) O que não registrar — a documentação do projeto já assume que há conhecimento sagrado que é mais bem protegido pela não existência do registro do que por qualquer camada de acesso.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3) Marcas de uso — são os TK/BC Labels do Local Contexts. Só a comunidade pode aplicá-los; quando aplicados por terceiro, chamam-se Notices e valem menos.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4) Gravações — o registro em vídeo captura prática, não só fala: o gesto, a sequência, o material escolhido. Pode não haver uma palavra dita, e ainda assim é conhecimento inteiro. Em gravação coletiva, cada participante tem direito próprio sobre a própria voz e imagem: a regra adotada por ora é a mais conservadora — se um pede reserva, a gravação inteira sai, e não editamos para suprimir alguém por conta própria. Caso concreto: o vídeo de 42 segundos em língua Panará, sem consentimento formalizado, sem transcrição com falante nativo e sem conferência da grafia — fora de qualquer publicação até que isso se resolva.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2860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pt-BR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Registrar as respostas na hora; elas destravam o desenho do modelo de dados.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8E0C335-FB88-47C0-AFF3-9976B4E8914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Fechamento com chamado à ação — participação é essencial, não opcional.</a:t>
            </a:r>
            <a:endParaRPr lang="pt-B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801883D-85B8-45FE-9235-CA893DDAA33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201F1D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201F1D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400" b="0" u="none" strike="noStrike">
                <a:solidFill>
                  <a:srgbClr val="201F1D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400" b="0" u="none" strike="noStrike">
                <a:solidFill>
                  <a:srgbClr val="201F1D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201F1D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201F1D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rgbClr val="201F1D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201F1D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lang="pt-BR" sz="1400" b="0" u="none" strike="noStrike">
              <a:solidFill>
                <a:srgbClr val="201F1D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201F1D"/>
                </a:solidFill>
                <a:effectLst/>
                <a:uFillTx/>
                <a:latin typeface="Arial"/>
              </a:rPr>
              <a:t>2.º nível de tópicos</a:t>
            </a:r>
            <a:endParaRPr lang="pt-BR" sz="1400" b="0" u="none" strike="noStrike">
              <a:solidFill>
                <a:srgbClr val="201F1D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400" b="0" u="none" strike="noStrike">
                <a:solidFill>
                  <a:srgbClr val="201F1D"/>
                </a:solidFill>
                <a:effectLst/>
                <a:uFillTx/>
                <a:latin typeface="Arial"/>
              </a:rPr>
              <a:t>3.º nível de tópicos</a:t>
            </a:r>
            <a:endParaRPr lang="pt-BR" sz="1400" b="0" u="none" strike="noStrike">
              <a:solidFill>
                <a:srgbClr val="201F1D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400" b="0" u="none" strike="noStrike">
                <a:solidFill>
                  <a:srgbClr val="201F1D"/>
                </a:solidFill>
                <a:effectLst/>
                <a:uFillTx/>
                <a:latin typeface="Arial"/>
              </a:rPr>
              <a:t>4.º nível de tópicos</a:t>
            </a:r>
            <a:endParaRPr lang="pt-BR" sz="1400" b="0" u="none" strike="noStrike">
              <a:solidFill>
                <a:srgbClr val="201F1D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201F1D"/>
                </a:solidFill>
                <a:effectLst/>
                <a:uFillTx/>
                <a:latin typeface="Arial"/>
              </a:rPr>
              <a:t>5.º nível de tópicos</a:t>
            </a:r>
            <a:endParaRPr lang="pt-BR" sz="2000" b="0" u="none" strike="noStrike">
              <a:solidFill>
                <a:srgbClr val="201F1D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201F1D"/>
                </a:solidFill>
                <a:effectLst/>
                <a:uFillTx/>
                <a:latin typeface="Arial"/>
              </a:rPr>
              <a:t>6.º nível de tópicos</a:t>
            </a:r>
            <a:endParaRPr lang="pt-BR" sz="2000" b="0" u="none" strike="noStrike">
              <a:solidFill>
                <a:srgbClr val="201F1D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rgbClr val="201F1D"/>
                </a:solidFill>
                <a:effectLst/>
                <a:uFillTx/>
                <a:latin typeface="Arial"/>
              </a:rPr>
              <a:t>7.º nível de tópicos</a:t>
            </a:r>
            <a:endParaRPr lang="pt-BR" sz="2000" b="0" u="none" strike="noStrike">
              <a:solidFill>
                <a:srgbClr val="201F1D"/>
              </a:solidFill>
              <a:effectLst/>
              <a:uFillTx/>
              <a:latin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6;p3"/>
          <p:cNvSpPr/>
          <p:nvPr/>
        </p:nvSpPr>
        <p:spPr>
          <a:xfrm>
            <a:off x="1320480" y="3452760"/>
            <a:ext cx="17155080" cy="11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77000"/>
              </a:lnSpc>
              <a:tabLst>
                <a:tab pos="0" algn="l"/>
              </a:tabLst>
            </a:pPr>
            <a:r>
              <a:rPr lang="en-US" sz="9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Arquitetura BioCultural</a:t>
            </a:r>
            <a:endParaRPr lang="pt-BR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Google Shape;17;p3"/>
          <p:cNvSpPr/>
          <p:nvPr/>
        </p:nvSpPr>
        <p:spPr>
          <a:xfrm>
            <a:off x="1371600" y="4942440"/>
            <a:ext cx="10722240" cy="204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Como garantir o registro, a proteção e a soberania dos conhecimentos tradicionais mantidos por gerações sobre as plantas e os animais. 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Google Shape;18;p3"/>
          <p:cNvSpPr/>
          <p:nvPr/>
        </p:nvSpPr>
        <p:spPr>
          <a:xfrm>
            <a:off x="1371600" y="9250560"/>
            <a:ext cx="18140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11F1D"/>
                </a:solidFill>
                <a:effectLst/>
                <a:uFillTx/>
                <a:latin typeface="Arial"/>
                <a:ea typeface="Arial"/>
              </a:rPr>
              <a:t>Eduardo Dalcin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Google Shape;19;p3"/>
          <p:cNvSpPr/>
          <p:nvPr/>
        </p:nvSpPr>
        <p:spPr>
          <a:xfrm>
            <a:off x="3192480" y="9250560"/>
            <a:ext cx="132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11F1D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Google Shape;20;p3"/>
          <p:cNvSpPr/>
          <p:nvPr/>
        </p:nvSpPr>
        <p:spPr>
          <a:xfrm>
            <a:off x="3421080" y="9250560"/>
            <a:ext cx="670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11F1D"/>
                </a:solidFill>
                <a:effectLst/>
                <a:uFillTx/>
                <a:latin typeface="Arial"/>
                <a:ea typeface="Arial"/>
              </a:rPr>
              <a:t>2026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26;p4"/>
          <p:cNvSpPr/>
          <p:nvPr/>
        </p:nvSpPr>
        <p:spPr>
          <a:xfrm>
            <a:off x="1342800" y="1552680"/>
            <a:ext cx="1713060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Neste convite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Google Shape;27;p4"/>
          <p:cNvSpPr/>
          <p:nvPr/>
        </p:nvSpPr>
        <p:spPr>
          <a:xfrm>
            <a:off x="1371600" y="3457440"/>
            <a:ext cx="1554444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Google Shape;28;p4"/>
          <p:cNvSpPr/>
          <p:nvPr/>
        </p:nvSpPr>
        <p:spPr>
          <a:xfrm>
            <a:off x="1371600" y="2692800"/>
            <a:ext cx="3729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B68235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Google Shape;29;p4"/>
          <p:cNvSpPr/>
          <p:nvPr/>
        </p:nvSpPr>
        <p:spPr>
          <a:xfrm>
            <a:off x="2183040" y="2585880"/>
            <a:ext cx="63018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3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 conhecimento que corre risco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Google Shape;30;p4"/>
          <p:cNvSpPr/>
          <p:nvPr/>
        </p:nvSpPr>
        <p:spPr>
          <a:xfrm>
            <a:off x="1371600" y="4941720"/>
            <a:ext cx="1554444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Google Shape;31;p4"/>
          <p:cNvSpPr/>
          <p:nvPr/>
        </p:nvSpPr>
        <p:spPr>
          <a:xfrm>
            <a:off x="1371600" y="4176720"/>
            <a:ext cx="3729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B68235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Google Shape;32;p4"/>
          <p:cNvSpPr/>
          <p:nvPr/>
        </p:nvSpPr>
        <p:spPr>
          <a:xfrm>
            <a:off x="2183040" y="4070160"/>
            <a:ext cx="74710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3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Quatro fontes, uma linguagem comum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Google Shape;33;p4"/>
          <p:cNvSpPr/>
          <p:nvPr/>
        </p:nvSpPr>
        <p:spPr>
          <a:xfrm>
            <a:off x="1371600" y="6425640"/>
            <a:ext cx="1554444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Google Shape;34;p4"/>
          <p:cNvSpPr/>
          <p:nvPr/>
        </p:nvSpPr>
        <p:spPr>
          <a:xfrm>
            <a:off x="1371600" y="5660640"/>
            <a:ext cx="3729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B68235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Google Shape;35;p4"/>
          <p:cNvSpPr/>
          <p:nvPr/>
        </p:nvSpPr>
        <p:spPr>
          <a:xfrm>
            <a:off x="2183040" y="5554080"/>
            <a:ext cx="819900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3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Uma arquitetura para proteger quem sabe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Google Shape;36;p4"/>
          <p:cNvSpPr/>
          <p:nvPr/>
        </p:nvSpPr>
        <p:spPr>
          <a:xfrm>
            <a:off x="1371600" y="7909560"/>
            <a:ext cx="1554444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Google Shape;37;p4"/>
          <p:cNvSpPr/>
          <p:nvPr/>
        </p:nvSpPr>
        <p:spPr>
          <a:xfrm>
            <a:off x="1371600" y="7144560"/>
            <a:ext cx="3729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B68235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Google Shape;38;p4"/>
          <p:cNvSpPr/>
          <p:nvPr/>
        </p:nvSpPr>
        <p:spPr>
          <a:xfrm>
            <a:off x="2183040" y="7038000"/>
            <a:ext cx="487692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3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Como chegamos até aqui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Google Shape;39;p4"/>
          <p:cNvSpPr/>
          <p:nvPr/>
        </p:nvSpPr>
        <p:spPr>
          <a:xfrm>
            <a:off x="1371600" y="9393480"/>
            <a:ext cx="1554444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Google Shape;40;p4"/>
          <p:cNvSpPr/>
          <p:nvPr/>
        </p:nvSpPr>
        <p:spPr>
          <a:xfrm>
            <a:off x="1371600" y="8628840"/>
            <a:ext cx="3729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B68235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Google Shape;41;p4"/>
          <p:cNvSpPr/>
          <p:nvPr/>
        </p:nvSpPr>
        <p:spPr>
          <a:xfrm>
            <a:off x="2183040" y="8521920"/>
            <a:ext cx="960084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3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Princípios, governança e o que falta perguntar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Google Shape;42;p4"/>
          <p:cNvSpPr/>
          <p:nvPr/>
        </p:nvSpPr>
        <p:spPr>
          <a:xfrm>
            <a:off x="1371600" y="10887120"/>
            <a:ext cx="1047708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" name="Google Shape;43;p4" descr="preencoded.png"/>
          <p:cNvPicPr/>
          <p:nvPr/>
        </p:nvPicPr>
        <p:blipFill>
          <a:blip r:embed="rId1"/>
          <a:stretch/>
        </p:blipFill>
        <p:spPr>
          <a:xfrm>
            <a:off x="1371600" y="9745920"/>
            <a:ext cx="2841120" cy="159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62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49;p5"/>
          <p:cNvSpPr/>
          <p:nvPr/>
        </p:nvSpPr>
        <p:spPr>
          <a:xfrm>
            <a:off x="1342800" y="4986360"/>
            <a:ext cx="916488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FAF6EF"/>
                </a:solidFill>
                <a:effectLst/>
                <a:uFillTx/>
                <a:latin typeface="Arial"/>
                <a:ea typeface="Arial"/>
              </a:rPr>
              <a:t>O conhecimento que corre risco</a:t>
            </a:r>
            <a:endParaRPr lang="pt-BR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55;p6"/>
          <p:cNvSpPr/>
          <p:nvPr/>
        </p:nvSpPr>
        <p:spPr>
          <a:xfrm>
            <a:off x="1342800" y="1552680"/>
            <a:ext cx="1713060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Um saber espalhado — e em risco de se perder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Google Shape;56;p6"/>
          <p:cNvSpPr/>
          <p:nvPr/>
        </p:nvSpPr>
        <p:spPr>
          <a:xfrm>
            <a:off x="1342800" y="3118320"/>
            <a:ext cx="14537520" cy="52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 marL="457200" indent="-450720">
              <a:lnSpc>
                <a:spcPct val="125000"/>
              </a:lnSpc>
              <a:buClr>
                <a:srgbClr val="201F1D"/>
              </a:buClr>
              <a:buFont typeface="Arial"/>
              <a:buChar char="●"/>
            </a:pPr>
            <a:r>
              <a:rPr lang="en-US" sz="35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Guardado em artigos científicos que poucos leem, fora do alcance de quem detém o saber</a:t>
            </a:r>
            <a:endParaRPr lang="pt-BR" sz="3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0720">
              <a:lnSpc>
                <a:spcPct val="125000"/>
              </a:lnSpc>
              <a:buClr>
                <a:srgbClr val="201F1D"/>
              </a:buClr>
              <a:buFont typeface="Arial"/>
              <a:buChar char="●"/>
            </a:pPr>
            <a:r>
              <a:rPr lang="en-US" sz="35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Vivo na memória das comunidades, passado de boca a ouvido — e ameaçado quando os mais velhos partem</a:t>
            </a:r>
            <a:endParaRPr lang="pt-BR" sz="3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0720">
              <a:lnSpc>
                <a:spcPct val="125000"/>
              </a:lnSpc>
              <a:buClr>
                <a:srgbClr val="201F1D"/>
              </a:buClr>
              <a:buFont typeface="Arial"/>
              <a:buChar char="●"/>
            </a:pPr>
            <a:r>
              <a:rPr lang="en-US" sz="35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Preservado em acervos de museus e arquivos, muitas vezes esquecido em prateleiras</a:t>
            </a:r>
            <a:endParaRPr lang="pt-BR" sz="3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0720">
              <a:lnSpc>
                <a:spcPct val="125000"/>
              </a:lnSpc>
              <a:buClr>
                <a:srgbClr val="201F1D"/>
              </a:buClr>
              <a:buFont typeface="Arial"/>
              <a:buChar char="●"/>
            </a:pPr>
            <a:r>
              <a:rPr lang="en-US" sz="35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Registrado por viajantes que passaram pelo Brasil há séculos, em livros hoje raros</a:t>
            </a:r>
            <a:endParaRPr lang="pt-BR" sz="3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6" name="Google Shape;57;p6" descr="preencoded.png"/>
          <p:cNvPicPr/>
          <p:nvPr/>
        </p:nvPicPr>
        <p:blipFill>
          <a:blip r:embed="rId1"/>
          <a:stretch/>
        </p:blipFill>
        <p:spPr>
          <a:xfrm>
            <a:off x="1371600" y="9745920"/>
            <a:ext cx="2841120" cy="159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62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74;p8"/>
          <p:cNvSpPr/>
          <p:nvPr/>
        </p:nvSpPr>
        <p:spPr>
          <a:xfrm>
            <a:off x="1342800" y="4986360"/>
            <a:ext cx="897624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FAF6EF"/>
                </a:solidFill>
                <a:effectLst/>
                <a:uFillTx/>
                <a:latin typeface="Arial"/>
                <a:ea typeface="Arial"/>
              </a:rPr>
              <a:t>Quatro fontes, uma arquitetura</a:t>
            </a:r>
            <a:endParaRPr lang="pt-BR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80;p9"/>
          <p:cNvSpPr/>
          <p:nvPr/>
        </p:nvSpPr>
        <p:spPr>
          <a:xfrm>
            <a:off x="1342800" y="1552680"/>
            <a:ext cx="1713060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De onde vem o que a arquitetura reúne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Google Shape;81;p9"/>
          <p:cNvSpPr/>
          <p:nvPr/>
        </p:nvSpPr>
        <p:spPr>
          <a:xfrm>
            <a:off x="1371600" y="3676680"/>
            <a:ext cx="8046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Artigos científicos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Google Shape;82;p9"/>
          <p:cNvSpPr/>
          <p:nvPr/>
        </p:nvSpPr>
        <p:spPr>
          <a:xfrm>
            <a:off x="1371600" y="4257720"/>
            <a:ext cx="7534440" cy="73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 que pesquisadores já publicaram sobre o uso de plantas e animais por comunidades tradicionais.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83;p9"/>
          <p:cNvSpPr/>
          <p:nvPr/>
        </p:nvSpPr>
        <p:spPr>
          <a:xfrm>
            <a:off x="9601200" y="3676680"/>
            <a:ext cx="8046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Relatos das comunidades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84;p9"/>
          <p:cNvSpPr/>
          <p:nvPr/>
        </p:nvSpPr>
        <p:spPr>
          <a:xfrm>
            <a:off x="9601200" y="4257720"/>
            <a:ext cx="7534440" cy="12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 que as próprias comunidades registram e compartilham diretamente, sempre com seu consentimento explícito.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85;p9"/>
          <p:cNvSpPr/>
          <p:nvPr/>
        </p:nvSpPr>
        <p:spPr>
          <a:xfrm>
            <a:off x="1371600" y="5596200"/>
            <a:ext cx="8046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Acervos e museus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86;p9"/>
          <p:cNvSpPr/>
          <p:nvPr/>
        </p:nvSpPr>
        <p:spPr>
          <a:xfrm>
            <a:off x="1371600" y="6235920"/>
            <a:ext cx="7534440" cy="73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Coleções, registros e documentos históricos preservados em museus e arquivos ao longo do tempo.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87;p9"/>
          <p:cNvSpPr/>
          <p:nvPr/>
        </p:nvSpPr>
        <p:spPr>
          <a:xfrm>
            <a:off x="9601200" y="5596200"/>
            <a:ext cx="8046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Obras de naturalistas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88;p9"/>
          <p:cNvSpPr/>
          <p:nvPr/>
        </p:nvSpPr>
        <p:spPr>
          <a:xfrm>
            <a:off x="9601200" y="6235920"/>
            <a:ext cx="7534440" cy="12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Relatos de viajantes que passaram pelo Brasil entre os séculos XVII e XIX, registrando o que viram e aprenderam.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Google Shape;89;p9"/>
          <p:cNvSpPr/>
          <p:nvPr/>
        </p:nvSpPr>
        <p:spPr>
          <a:xfrm>
            <a:off x="1508040" y="8165880"/>
            <a:ext cx="15447240" cy="86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75000"/>
              </a:lnSpc>
              <a:tabLst>
                <a:tab pos="0" algn="l"/>
              </a:tabLst>
            </a:pPr>
            <a:r>
              <a:rPr lang="en-US" sz="21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Três dessas fontes trazem o registro feito por um terceiro. Uma delas — os relatos — traz a própria comunidade falando. A diferença parece pequena, e é ela que decide quem manda em cada registro.</a:t>
            </a:r>
            <a:endParaRPr lang="pt-BR" sz="2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111;p12"/>
          <p:cNvPicPr/>
          <p:nvPr/>
        </p:nvPicPr>
        <p:blipFill>
          <a:blip r:embed="rId1"/>
          <a:stretch/>
        </p:blipFill>
        <p:spPr>
          <a:xfrm>
            <a:off x="1796040" y="0"/>
            <a:ext cx="14695200" cy="10286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95;p10"/>
          <p:cNvSpPr/>
          <p:nvPr/>
        </p:nvSpPr>
        <p:spPr>
          <a:xfrm>
            <a:off x="1342800" y="1552680"/>
            <a:ext cx="1713060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Uma linguagem comum entre as quatro fontes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Google Shape;96;p10"/>
          <p:cNvSpPr/>
          <p:nvPr/>
        </p:nvSpPr>
        <p:spPr>
          <a:xfrm>
            <a:off x="1371600" y="3722400"/>
            <a:ext cx="15057720" cy="251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27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Cada fonte fala com suas próprias palavras — nomes populares, sinônimos, usos descritos à maneira e na língua de cada comunidade. O BioCultTermos organiza esses termos como um dicionário vivo, sem exigir que ninguém troque sua forma de nomear pela da ciência.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Google Shape;97;p10"/>
          <p:cNvSpPr/>
          <p:nvPr/>
        </p:nvSpPr>
        <p:spPr>
          <a:xfrm>
            <a:off x="1131480" y="6198840"/>
            <a:ext cx="16250760" cy="11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 marL="240120" indent="-240120">
              <a:lnSpc>
                <a:spcPct val="134000"/>
              </a:lnSpc>
              <a:buClr>
                <a:srgbClr val="201F1D"/>
              </a:buClr>
              <a:buFont typeface="Arial"/>
              <a:buChar char="•"/>
            </a:pPr>
            <a:r>
              <a:rPr lang="en-US" sz="27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Cada comunidade ou iniciativa mantém sua própria cópia desse dicionário, sob seu próprio controle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Google Shape;98;p10"/>
          <p:cNvSpPr/>
          <p:nvPr/>
        </p:nvSpPr>
        <p:spPr>
          <a:xfrm>
            <a:off x="1131480" y="7261920"/>
            <a:ext cx="16250760" cy="11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 marL="240120" indent="-240120">
              <a:lnSpc>
                <a:spcPct val="134000"/>
              </a:lnSpc>
              <a:buClr>
                <a:srgbClr val="201F1D"/>
              </a:buClr>
              <a:buFont typeface="Arial"/>
              <a:buChar char="•"/>
            </a:pPr>
            <a:r>
              <a:rPr lang="en-US" sz="27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Ajuda a relacionar nomes diferentes para a mesma planta, ou um mesmo nome usado por comunidades diferentes, em diferentes línguas.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3" name="Google Shape;99;p10" descr="preencoded.png"/>
          <p:cNvPicPr/>
          <p:nvPr/>
        </p:nvPicPr>
        <p:blipFill>
          <a:blip r:embed="rId1"/>
          <a:stretch/>
        </p:blipFill>
        <p:spPr>
          <a:xfrm>
            <a:off x="1371600" y="9745920"/>
            <a:ext cx="2841120" cy="15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" name="Google Shape;98;p10"/>
          <p:cNvSpPr/>
          <p:nvPr/>
        </p:nvSpPr>
        <p:spPr>
          <a:xfrm>
            <a:off x="1134000" y="8458200"/>
            <a:ext cx="162486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 marL="240120" indent="-240120">
              <a:lnSpc>
                <a:spcPct val="134000"/>
              </a:lnSpc>
              <a:buClr>
                <a:srgbClr val="201F1D"/>
              </a:buClr>
              <a:buFont typeface="Arial"/>
              <a:buChar char="•"/>
            </a:pPr>
            <a:r>
              <a:rPr lang="en-US" sz="27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Por baixo, é um padrão internacional — SKOS-XL — com dados próprios para cada nome.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62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105;p11"/>
          <p:cNvSpPr/>
          <p:nvPr/>
        </p:nvSpPr>
        <p:spPr>
          <a:xfrm>
            <a:off x="1342800" y="4986360"/>
            <a:ext cx="1193976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FAF6EF"/>
                </a:solidFill>
                <a:effectLst/>
                <a:uFillTx/>
                <a:latin typeface="Arial"/>
                <a:ea typeface="Arial"/>
              </a:rPr>
              <a:t>Uma arquitetura para proteger quem sabe</a:t>
            </a:r>
            <a:endParaRPr lang="pt-BR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117;p13"/>
          <p:cNvSpPr/>
          <p:nvPr/>
        </p:nvSpPr>
        <p:spPr>
          <a:xfrm>
            <a:off x="739080" y="1552680"/>
            <a:ext cx="17130600" cy="46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 risco que nenhuma comunidade quer correr de novo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Google Shape;118;p13"/>
          <p:cNvSpPr/>
          <p:nvPr/>
        </p:nvSpPr>
        <p:spPr>
          <a:xfrm>
            <a:off x="1131480" y="3722400"/>
            <a:ext cx="15297480" cy="424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29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Casos como o do cupuaçu, da ayahuasca e do jaborandi mostram o que acontece quando um saber tradicional vira patente ou produto sem autorização, nem retorno para quem o originou.</a:t>
            </a: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29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Por isso, muitas comunidades desconfiam — com toda razão — de qualquer sistema que peça seus saberes.</a:t>
            </a: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29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Uma arquitetura que ignora esse risco não vai ganhar a confiança de quem mais precisa confiar nela.</a:t>
            </a:r>
            <a:endParaRPr lang="pt-BR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" name="Google Shape;119;p13" descr="preencoded.png"/>
          <p:cNvPicPr/>
          <p:nvPr/>
        </p:nvPicPr>
        <p:blipFill>
          <a:blip r:embed="rId1"/>
          <a:stretch/>
        </p:blipFill>
        <p:spPr>
          <a:xfrm>
            <a:off x="1371600" y="9745920"/>
            <a:ext cx="2989440" cy="159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125;p14"/>
          <p:cNvPicPr/>
          <p:nvPr/>
        </p:nvPicPr>
        <p:blipFill>
          <a:blip r:embed="rId1"/>
          <a:stretch/>
        </p:blipFill>
        <p:spPr>
          <a:xfrm>
            <a:off x="1427040" y="0"/>
            <a:ext cx="15433920" cy="10286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131;p15"/>
          <p:cNvSpPr/>
          <p:nvPr/>
        </p:nvSpPr>
        <p:spPr>
          <a:xfrm>
            <a:off x="1342800" y="1552680"/>
            <a:ext cx="1713060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 resposta: cada um guarda a própria chave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Google Shape;132;p15"/>
          <p:cNvSpPr/>
          <p:nvPr/>
        </p:nvSpPr>
        <p:spPr>
          <a:xfrm>
            <a:off x="1371600" y="3722400"/>
            <a:ext cx="12753720" cy="152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25000"/>
              </a:lnSpc>
              <a:tabLst>
                <a:tab pos="0" algn="l"/>
              </a:tabLst>
            </a:pPr>
            <a:r>
              <a:rPr lang="en-US" sz="27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Em vez de um único sistema central — do qual todos passariam a depender —, cada comunidade, cada acervo, cada iniciativa mantém seus próprios registros, sob seu próprio controle.</a:t>
            </a:r>
            <a:endParaRPr lang="pt-BR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Google Shape;133;p15"/>
          <p:cNvSpPr/>
          <p:nvPr/>
        </p:nvSpPr>
        <p:spPr>
          <a:xfrm>
            <a:off x="1371600" y="8507160"/>
            <a:ext cx="1571580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75000"/>
              </a:lnSpc>
              <a:tabLst>
                <a:tab pos="0" algn="l"/>
              </a:tabLst>
            </a:pPr>
            <a:r>
              <a:rPr lang="en-US" sz="25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Nada é compartilhado sem que essa comunidade ou iniciativa decida, explicitamente, o que tornar público.</a:t>
            </a:r>
            <a:endParaRPr lang="pt-B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" name="Google Shape;134;p15"/>
          <p:cNvPicPr/>
          <p:nvPr/>
        </p:nvPicPr>
        <p:blipFill>
          <a:blip r:embed="rId1"/>
          <a:stretch/>
        </p:blipFill>
        <p:spPr>
          <a:xfrm>
            <a:off x="444600" y="6043680"/>
            <a:ext cx="17231400" cy="1665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140;p16"/>
          <p:cNvPicPr/>
          <p:nvPr/>
        </p:nvPicPr>
        <p:blipFill>
          <a:blip r:embed="rId1"/>
          <a:stretch/>
        </p:blipFill>
        <p:spPr>
          <a:xfrm>
            <a:off x="1022400" y="0"/>
            <a:ext cx="16243200" cy="10286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146;p17"/>
          <p:cNvSpPr/>
          <p:nvPr/>
        </p:nvSpPr>
        <p:spPr>
          <a:xfrm>
            <a:off x="1342800" y="1552680"/>
            <a:ext cx="1713060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 Pluriverso: um ponto de encontro, não um dono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147;p17"/>
          <p:cNvSpPr/>
          <p:nvPr/>
        </p:nvSpPr>
        <p:spPr>
          <a:xfrm>
            <a:off x="1371600" y="7789680"/>
            <a:ext cx="14715720" cy="70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75000"/>
              </a:lnSpc>
              <a:tabLst>
                <a:tab pos="0" algn="l"/>
              </a:tabLst>
            </a:pPr>
            <a:r>
              <a:rPr lang="en-US" sz="23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Periodicamente, o Pluriverso reúne o que cada participante decidiu tornar público e oferece um só lugar de busca — sem nunca ser dono dos dados de ninguém. Se um participante decide sair, seus dados somem de imediato do índice comum.</a:t>
            </a:r>
            <a:endParaRPr lang="pt-BR" sz="2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" name="Google Shape;148;p17"/>
          <p:cNvPicPr/>
          <p:nvPr/>
        </p:nvPicPr>
        <p:blipFill>
          <a:blip r:embed="rId1"/>
          <a:stretch/>
        </p:blipFill>
        <p:spPr>
          <a:xfrm>
            <a:off x="152280" y="2892600"/>
            <a:ext cx="17982720" cy="4126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154;p18"/>
          <p:cNvPicPr/>
          <p:nvPr/>
        </p:nvPicPr>
        <p:blipFill>
          <a:blip r:embed="rId1"/>
          <a:stretch/>
        </p:blipFill>
        <p:spPr>
          <a:xfrm>
            <a:off x="1662480" y="0"/>
            <a:ext cx="14962680" cy="10286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62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160;p19"/>
          <p:cNvSpPr/>
          <p:nvPr/>
        </p:nvSpPr>
        <p:spPr>
          <a:xfrm>
            <a:off x="1342800" y="4986360"/>
            <a:ext cx="714888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FAF6EF"/>
                </a:solidFill>
                <a:effectLst/>
                <a:uFillTx/>
                <a:latin typeface="Arial"/>
                <a:ea typeface="Arial"/>
              </a:rPr>
              <a:t>Como chegamos até aqui</a:t>
            </a:r>
            <a:endParaRPr lang="pt-BR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166;p20"/>
          <p:cNvSpPr/>
          <p:nvPr/>
        </p:nvSpPr>
        <p:spPr>
          <a:xfrm>
            <a:off x="1342800" y="1552680"/>
            <a:ext cx="1713060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Uma ideia que foi se corrigindo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168;p20"/>
          <p:cNvSpPr/>
          <p:nvPr/>
        </p:nvSpPr>
        <p:spPr>
          <a:xfrm>
            <a:off x="1783080" y="9144000"/>
            <a:ext cx="147124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75000"/>
              </a:lnSpc>
              <a:tabLst>
                <a:tab pos="0" algn="l"/>
              </a:tabLst>
            </a:pPr>
            <a:r>
              <a:rPr lang="en-US" sz="19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 arquitetura nasceu de uma provocação sobre como registramos o saber tradicional, passou por uma tentativa de sistema único, e hoje é uma federação onde cada participante é dono dos próprios dados — com uma camada explícita sobre quem decide o quê.</a:t>
            </a:r>
            <a:endParaRPr lang="pt-BR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168"/>
          <p:cNvSpPr/>
          <p:nvPr/>
        </p:nvSpPr>
        <p:spPr>
          <a:xfrm>
            <a:off x="914400" y="5760720"/>
            <a:ext cx="16458840" cy="14760"/>
          </a:xfrm>
          <a:prstGeom prst="rect">
            <a:avLst/>
          </a:prstGeom>
          <a:solidFill>
            <a:srgbClr val="C9B79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29880" rIns="90000" bIns="-2988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3" name="Oval 169"/>
          <p:cNvSpPr/>
          <p:nvPr/>
        </p:nvSpPr>
        <p:spPr>
          <a:xfrm>
            <a:off x="3388715" y="5685840"/>
            <a:ext cx="164160" cy="164160"/>
          </a:xfrm>
          <a:prstGeom prst="ellipse">
            <a:avLst/>
          </a:prstGeom>
          <a:solidFill>
            <a:srgbClr val="2E6B4F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70"/>
          <p:cNvSpPr/>
          <p:nvPr/>
        </p:nvSpPr>
        <p:spPr>
          <a:xfrm>
            <a:off x="2660795" y="5230440"/>
            <a:ext cx="16200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jan/2025 · </a:t>
            </a:r>
            <a:r>
              <a:rPr lang="pt-BR" sz="1350" b="1" u="none" strike="noStrike">
                <a:solidFill>
                  <a:srgbClr val="2E6B4F"/>
                </a:solidFill>
                <a:effectLst/>
                <a:uFillTx/>
                <a:latin typeface="Arial"/>
                <a:ea typeface="Arial"/>
              </a:rPr>
              <a:t>v1.0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71"/>
          <p:cNvSpPr/>
          <p:nvPr/>
        </p:nvSpPr>
        <p:spPr>
          <a:xfrm>
            <a:off x="2660795" y="3017520"/>
            <a:ext cx="1620000" cy="21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2E6B4F"/>
                </a:solidFill>
                <a:effectLst/>
                <a:uFillTx/>
                <a:latin typeface="Arial"/>
                <a:ea typeface="Arial"/>
              </a:rPr>
              <a:t>A proposta inicial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três etapas: adquirir, curar e apresentar os dados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Oval 172"/>
          <p:cNvSpPr/>
          <p:nvPr/>
        </p:nvSpPr>
        <p:spPr>
          <a:xfrm>
            <a:off x="5033030" y="5685840"/>
            <a:ext cx="164160" cy="164160"/>
          </a:xfrm>
          <a:prstGeom prst="ellipse">
            <a:avLst/>
          </a:prstGeom>
          <a:solidFill>
            <a:srgbClr val="B4542F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73"/>
          <p:cNvSpPr/>
          <p:nvPr/>
        </p:nvSpPr>
        <p:spPr>
          <a:xfrm>
            <a:off x="4305110" y="5989320"/>
            <a:ext cx="16200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dez/2025 · </a:t>
            </a:r>
            <a:r>
              <a:rPr lang="pt-BR" sz="1350" b="1" u="none" strike="noStrike">
                <a:solidFill>
                  <a:srgbClr val="B4542F"/>
                </a:solidFill>
                <a:effectLst/>
                <a:uFillTx/>
                <a:latin typeface="Arial"/>
                <a:ea typeface="Arial"/>
              </a:rPr>
              <a:t>v1.2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74"/>
          <p:cNvSpPr/>
          <p:nvPr/>
        </p:nvSpPr>
        <p:spPr>
          <a:xfrm>
            <a:off x="4305110" y="6355080"/>
            <a:ext cx="1620000" cy="21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B4542F"/>
                </a:solidFill>
                <a:effectLst/>
                <a:uFillTx/>
                <a:latin typeface="Arial"/>
                <a:ea typeface="Arial"/>
              </a:rPr>
              <a:t>Primeiras ferramentas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BioCultDB e a extração de artigos saem do papel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Oval 175"/>
          <p:cNvSpPr/>
          <p:nvPr/>
        </p:nvSpPr>
        <p:spPr>
          <a:xfrm>
            <a:off x="6677345" y="5685840"/>
            <a:ext cx="164160" cy="164160"/>
          </a:xfrm>
          <a:prstGeom prst="ellipse">
            <a:avLst/>
          </a:prstGeom>
          <a:solidFill>
            <a:srgbClr val="A8801F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176"/>
          <p:cNvSpPr/>
          <p:nvPr/>
        </p:nvSpPr>
        <p:spPr>
          <a:xfrm>
            <a:off x="5949425" y="5230440"/>
            <a:ext cx="16200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jun/2026 · </a:t>
            </a:r>
            <a:r>
              <a:rPr lang="pt-BR" sz="1350" b="1" u="none" strike="noStrike">
                <a:solidFill>
                  <a:srgbClr val="A8801F"/>
                </a:solidFill>
                <a:effectLst/>
                <a:uFillTx/>
                <a:latin typeface="Arial"/>
                <a:ea typeface="Arial"/>
              </a:rPr>
              <a:t>v2.0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77"/>
          <p:cNvSpPr/>
          <p:nvPr/>
        </p:nvSpPr>
        <p:spPr>
          <a:xfrm>
            <a:off x="5949425" y="3017520"/>
            <a:ext cx="1620000" cy="21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A8801F"/>
                </a:solidFill>
                <a:effectLst/>
                <a:uFillTx/>
                <a:latin typeface="Arial"/>
                <a:ea typeface="Arial"/>
              </a:rPr>
              <a:t>A comunidade entra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nasce o BioCultRelatos, com consentimento (CLPI) obrigatório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Oval 178"/>
          <p:cNvSpPr/>
          <p:nvPr/>
        </p:nvSpPr>
        <p:spPr>
          <a:xfrm>
            <a:off x="8321660" y="5685840"/>
            <a:ext cx="164160" cy="164160"/>
          </a:xfrm>
          <a:prstGeom prst="ellipse">
            <a:avLst/>
          </a:prstGeom>
          <a:solidFill>
            <a:srgbClr val="3D5A80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79"/>
          <p:cNvSpPr/>
          <p:nvPr/>
        </p:nvSpPr>
        <p:spPr>
          <a:xfrm>
            <a:off x="7593740" y="5989320"/>
            <a:ext cx="16200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jun/2026 · </a:t>
            </a:r>
            <a:r>
              <a:rPr lang="pt-BR" sz="1350" b="1" u="none" strike="noStrike">
                <a:solidFill>
                  <a:srgbClr val="3D5A80"/>
                </a:solidFill>
                <a:effectLst/>
                <a:uFillTx/>
                <a:latin typeface="Arial"/>
                <a:ea typeface="Arial"/>
              </a:rPr>
              <a:t>v3.0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80"/>
          <p:cNvSpPr/>
          <p:nvPr/>
        </p:nvSpPr>
        <p:spPr>
          <a:xfrm>
            <a:off x="7593740" y="6355080"/>
            <a:ext cx="1620000" cy="21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3D5A80"/>
                </a:solidFill>
                <a:effectLst/>
                <a:uFillTx/>
                <a:latin typeface="Arial"/>
                <a:ea typeface="Arial"/>
              </a:rPr>
              <a:t>A virada federada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cada participante soberano; nasce o Pluriverso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Oval 181"/>
          <p:cNvSpPr/>
          <p:nvPr/>
        </p:nvSpPr>
        <p:spPr>
          <a:xfrm>
            <a:off x="9965975" y="5685840"/>
            <a:ext cx="164160" cy="164160"/>
          </a:xfrm>
          <a:prstGeom prst="ellipse">
            <a:avLst/>
          </a:prstGeom>
          <a:solidFill>
            <a:srgbClr val="2E6B4F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82"/>
          <p:cNvSpPr/>
          <p:nvPr/>
        </p:nvSpPr>
        <p:spPr>
          <a:xfrm>
            <a:off x="9238055" y="5230440"/>
            <a:ext cx="16200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jul/2026 · </a:t>
            </a:r>
            <a:r>
              <a:rPr lang="pt-BR" sz="1350" b="1" u="none" strike="noStrike">
                <a:solidFill>
                  <a:srgbClr val="2E6B4F"/>
                </a:solidFill>
                <a:effectLst/>
                <a:uFillTx/>
                <a:latin typeface="Arial"/>
                <a:ea typeface="Arial"/>
              </a:rPr>
              <a:t>v3.1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83"/>
          <p:cNvSpPr/>
          <p:nvPr/>
        </p:nvSpPr>
        <p:spPr>
          <a:xfrm>
            <a:off x="9238055" y="3017520"/>
            <a:ext cx="1620000" cy="21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2E6B4F"/>
                </a:solidFill>
                <a:effectLst/>
                <a:uFillTx/>
                <a:latin typeface="Arial"/>
                <a:ea typeface="Arial"/>
              </a:rPr>
              <a:t>O dado mora em casa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um arquivo próprio por unidade, sem banco central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Oval 184"/>
          <p:cNvSpPr/>
          <p:nvPr/>
        </p:nvSpPr>
        <p:spPr>
          <a:xfrm>
            <a:off x="11610290" y="5685840"/>
            <a:ext cx="164160" cy="164160"/>
          </a:xfrm>
          <a:prstGeom prst="ellipse">
            <a:avLst/>
          </a:prstGeom>
          <a:solidFill>
            <a:srgbClr val="B4542F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85"/>
          <p:cNvSpPr/>
          <p:nvPr/>
        </p:nvSpPr>
        <p:spPr>
          <a:xfrm>
            <a:off x="10882370" y="5989320"/>
            <a:ext cx="16200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jul/2026 · </a:t>
            </a:r>
            <a:r>
              <a:rPr lang="pt-BR" sz="1350" b="1" u="none" strike="noStrike">
                <a:solidFill>
                  <a:srgbClr val="B4542F"/>
                </a:solidFill>
                <a:effectLst/>
                <a:uFillTx/>
                <a:latin typeface="Arial"/>
                <a:ea typeface="Arial"/>
              </a:rPr>
              <a:t>v3.2–3.3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186"/>
          <p:cNvSpPr/>
          <p:nvPr/>
        </p:nvSpPr>
        <p:spPr>
          <a:xfrm>
            <a:off x="10882370" y="6355080"/>
            <a:ext cx="1620000" cy="21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B4542F"/>
                </a:solidFill>
                <a:effectLst/>
                <a:uFillTx/>
                <a:latin typeface="Arial"/>
                <a:ea typeface="Arial"/>
              </a:rPr>
              <a:t>Quatro fontes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entram acervos, museus e naturalistas; Pluriverso em várias instâncias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Oval 187"/>
          <p:cNvSpPr/>
          <p:nvPr/>
        </p:nvSpPr>
        <p:spPr>
          <a:xfrm>
            <a:off x="13254605" y="5685840"/>
            <a:ext cx="164160" cy="164160"/>
          </a:xfrm>
          <a:prstGeom prst="ellipse">
            <a:avLst/>
          </a:prstGeom>
          <a:solidFill>
            <a:srgbClr val="A8801F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188"/>
          <p:cNvSpPr/>
          <p:nvPr/>
        </p:nvSpPr>
        <p:spPr>
          <a:xfrm>
            <a:off x="12526685" y="5230440"/>
            <a:ext cx="16200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ago/2026 · </a:t>
            </a:r>
            <a:r>
              <a:rPr lang="pt-BR" sz="1350" b="1" u="none" strike="noStrike">
                <a:solidFill>
                  <a:srgbClr val="A8801F"/>
                </a:solidFill>
                <a:effectLst/>
                <a:uFillTx/>
                <a:latin typeface="Arial"/>
                <a:ea typeface="Arial"/>
              </a:rPr>
              <a:t>v3.4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189"/>
          <p:cNvSpPr/>
          <p:nvPr/>
        </p:nvSpPr>
        <p:spPr>
          <a:xfrm>
            <a:off x="12526685" y="3017520"/>
            <a:ext cx="1620000" cy="21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A8801F"/>
                </a:solidFill>
                <a:effectLst/>
                <a:uFillTx/>
                <a:latin typeface="Arial"/>
                <a:ea typeface="Arial"/>
              </a:rPr>
              <a:t>Regras escritas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governança em três camadas: quem decide o quê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Oval 190"/>
          <p:cNvSpPr/>
          <p:nvPr/>
        </p:nvSpPr>
        <p:spPr>
          <a:xfrm>
            <a:off x="14898920" y="5685840"/>
            <a:ext cx="164160" cy="164160"/>
          </a:xfrm>
          <a:prstGeom prst="ellipse">
            <a:avLst/>
          </a:prstGeom>
          <a:solidFill>
            <a:srgbClr val="3D5A80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91"/>
          <p:cNvSpPr/>
          <p:nvPr/>
        </p:nvSpPr>
        <p:spPr>
          <a:xfrm>
            <a:off x="14171000" y="5989320"/>
            <a:ext cx="16200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ago/2026 · </a:t>
            </a:r>
            <a:r>
              <a:rPr lang="pt-BR" sz="1350" b="1" u="none" strike="noStrike">
                <a:solidFill>
                  <a:srgbClr val="3D5A80"/>
                </a:solidFill>
                <a:effectLst/>
                <a:uFillTx/>
                <a:latin typeface="Arial"/>
                <a:ea typeface="Arial"/>
              </a:rPr>
              <a:t>v3.5–3.6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92"/>
          <p:cNvSpPr/>
          <p:nvPr/>
        </p:nvSpPr>
        <p:spPr>
          <a:xfrm>
            <a:off x="14171000" y="6355080"/>
            <a:ext cx="1620000" cy="21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3D5A80"/>
                </a:solidFill>
                <a:effectLst/>
                <a:uFillTx/>
                <a:latin typeface="Arial"/>
                <a:ea typeface="Arial"/>
              </a:rPr>
              <a:t>Simplificação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extração por IA dentro do BioCultDB; nome científico deixa de ser o centro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Oval 193"/>
          <p:cNvSpPr/>
          <p:nvPr/>
        </p:nvSpPr>
        <p:spPr>
          <a:xfrm>
            <a:off x="16543235" y="5685840"/>
            <a:ext cx="164160" cy="164160"/>
          </a:xfrm>
          <a:prstGeom prst="ellipse">
            <a:avLst/>
          </a:prstGeom>
          <a:solidFill>
            <a:srgbClr val="2E6B4F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194"/>
          <p:cNvSpPr/>
          <p:nvPr/>
        </p:nvSpPr>
        <p:spPr>
          <a:xfrm>
            <a:off x="15815315" y="5230440"/>
            <a:ext cx="16200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ago/2026 · </a:t>
            </a:r>
            <a:r>
              <a:rPr lang="pt-BR" sz="1350" b="1" u="none" strike="noStrike">
                <a:solidFill>
                  <a:srgbClr val="2E6B4F"/>
                </a:solidFill>
                <a:effectLst/>
                <a:uFillTx/>
                <a:latin typeface="Arial"/>
                <a:ea typeface="Arial"/>
              </a:rPr>
              <a:t>v3.7–3.9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195"/>
          <p:cNvSpPr/>
          <p:nvPr/>
        </p:nvSpPr>
        <p:spPr>
          <a:xfrm>
            <a:off x="15815315" y="3017520"/>
            <a:ext cx="1620000" cy="21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b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2E6B4F"/>
                </a:solidFill>
                <a:effectLst/>
                <a:uFillTx/>
                <a:latin typeface="Arial"/>
                <a:ea typeface="Arial"/>
              </a:rPr>
              <a:t>Conhecimento ≠ evidência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o Relato, o consentimento como processo, as gravações e as oficinas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Oval 200"/>
          <p:cNvSpPr/>
          <p:nvPr/>
        </p:nvSpPr>
        <p:spPr>
          <a:xfrm>
            <a:off x="1744400" y="5685840"/>
            <a:ext cx="164160" cy="164160"/>
          </a:xfrm>
          <a:prstGeom prst="ellipse">
            <a:avLst/>
          </a:prstGeom>
          <a:solidFill>
            <a:srgbClr val="B4542F"/>
          </a:solidFill>
          <a:ln w="19050">
            <a:solidFill>
              <a:srgbClr val="FAF6E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Box 201"/>
          <p:cNvSpPr/>
          <p:nvPr/>
        </p:nvSpPr>
        <p:spPr>
          <a:xfrm>
            <a:off x="1016480" y="5989320"/>
            <a:ext cx="16200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350" b="1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jan/2024 · v0.1</a:t>
            </a:r>
            <a:endParaRPr lang="pt-B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Box 202"/>
          <p:cNvSpPr/>
          <p:nvPr/>
        </p:nvSpPr>
        <p:spPr>
          <a:xfrm>
            <a:off x="1016480" y="6355080"/>
            <a:ext cx="1620000" cy="212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pt-BR" sz="1600" b="1" u="none" strike="noStrike">
                <a:solidFill>
                  <a:srgbClr val="B4542F"/>
                </a:solidFill>
                <a:effectLst/>
                <a:uFillTx/>
                <a:latin typeface="Arial"/>
                <a:ea typeface="Arial"/>
              </a:rPr>
              <a:t>Base de Dados de Plantas Medicinais</a:t>
            </a:r>
            <a:endParaRPr lang="pt-B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400"/>
              </a:spcBef>
            </a:pPr>
            <a:r>
              <a:rPr lang="pt-BR" sz="1250" b="0" u="none" strike="noStrike">
                <a:solidFill>
                  <a:srgbClr val="5C554C"/>
                </a:solidFill>
                <a:effectLst/>
                <a:uFillTx/>
                <a:latin typeface="Arial"/>
                <a:ea typeface="Arial"/>
              </a:rPr>
              <a:t>Dra. Viviane Fonseca · gitserver.jbrj.gov.br/edalcin/bdmedicinais</a:t>
            </a:r>
            <a:endParaRPr lang="pt-B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62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74;p21"/>
          <p:cNvSpPr/>
          <p:nvPr/>
        </p:nvSpPr>
        <p:spPr>
          <a:xfrm>
            <a:off x="1342800" y="4986360"/>
            <a:ext cx="757044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FAF6EF"/>
                </a:solidFill>
                <a:effectLst/>
                <a:uFillTx/>
                <a:latin typeface="Arial"/>
                <a:ea typeface="Arial"/>
              </a:rPr>
              <a:t>Princípios que guiam tudo</a:t>
            </a:r>
            <a:endParaRPr lang="pt-BR" sz="5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80;p22"/>
          <p:cNvSpPr/>
          <p:nvPr/>
        </p:nvSpPr>
        <p:spPr>
          <a:xfrm>
            <a:off x="1342800" y="1552680"/>
            <a:ext cx="1713060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Quatro princípios, sempre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181;p22"/>
          <p:cNvSpPr/>
          <p:nvPr/>
        </p:nvSpPr>
        <p:spPr>
          <a:xfrm>
            <a:off x="1371600" y="3676680"/>
            <a:ext cx="8046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Benefício coletivo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182;p22"/>
          <p:cNvSpPr/>
          <p:nvPr/>
        </p:nvSpPr>
        <p:spPr>
          <a:xfrm>
            <a:off x="1371600" y="4257720"/>
            <a:ext cx="7534440" cy="73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Os dados devem beneficiar, antes de tudo, as comunidades que os originaram — nunca terceiros.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Google Shape;183;p22"/>
          <p:cNvSpPr/>
          <p:nvPr/>
        </p:nvSpPr>
        <p:spPr>
          <a:xfrm>
            <a:off x="9601200" y="3676680"/>
            <a:ext cx="8046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Autoridade para decidir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184;p22"/>
          <p:cNvSpPr/>
          <p:nvPr/>
        </p:nvSpPr>
        <p:spPr>
          <a:xfrm>
            <a:off x="9601200" y="4257720"/>
            <a:ext cx="7534440" cy="122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Cada comunidade mantém o controle sobre seu próprio conhecimento: o que registrar, o que publicar, o que retirar.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Google Shape;185;p22"/>
          <p:cNvSpPr/>
          <p:nvPr/>
        </p:nvSpPr>
        <p:spPr>
          <a:xfrm>
            <a:off x="1371600" y="6648480"/>
            <a:ext cx="8046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Responsabilidade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186;p22"/>
          <p:cNvSpPr/>
          <p:nvPr/>
        </p:nvSpPr>
        <p:spPr>
          <a:xfrm>
            <a:off x="1371600" y="7229520"/>
            <a:ext cx="7534440" cy="73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Quem lida </a:t>
            </a: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com esses </a:t>
            </a: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dados </a:t>
            </a: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responde por </a:t>
            </a: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como os </a:t>
            </a: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trata, protege </a:t>
            </a: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e </a:t>
            </a: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compartilha.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Google Shape;187;p22"/>
          <p:cNvSpPr/>
          <p:nvPr/>
        </p:nvSpPr>
        <p:spPr>
          <a:xfrm>
            <a:off x="9601200" y="6648480"/>
            <a:ext cx="804636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Ética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188;p22"/>
          <p:cNvSpPr/>
          <p:nvPr/>
        </p:nvSpPr>
        <p:spPr>
          <a:xfrm>
            <a:off x="9601200" y="7229520"/>
            <a:ext cx="7534440" cy="73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Respeito às práticas, aos valores e à cultura de cada comunidade, sempre.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94;p23"/>
          <p:cNvSpPr/>
          <p:nvPr/>
        </p:nvSpPr>
        <p:spPr>
          <a:xfrm>
            <a:off x="1342800" y="1552680"/>
            <a:ext cx="1713060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Quem decide o quê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Google Shape;195;p23"/>
          <p:cNvSpPr/>
          <p:nvPr/>
        </p:nvSpPr>
        <p:spPr>
          <a:xfrm>
            <a:off x="1371600" y="4444200"/>
            <a:ext cx="200664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Google Shape;196;p23"/>
          <p:cNvSpPr/>
          <p:nvPr/>
        </p:nvSpPr>
        <p:spPr>
          <a:xfrm>
            <a:off x="1371600" y="3875760"/>
            <a:ext cx="18162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0201C"/>
                </a:solidFill>
                <a:effectLst/>
                <a:uFillTx/>
                <a:latin typeface="Arial"/>
                <a:ea typeface="Arial"/>
              </a:rPr>
              <a:t>CAMADA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197;p23"/>
          <p:cNvSpPr/>
          <p:nvPr/>
        </p:nvSpPr>
        <p:spPr>
          <a:xfrm>
            <a:off x="3378600" y="4444200"/>
            <a:ext cx="597060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198;p23"/>
          <p:cNvSpPr/>
          <p:nvPr/>
        </p:nvSpPr>
        <p:spPr>
          <a:xfrm>
            <a:off x="3645360" y="3875760"/>
            <a:ext cx="56163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0201C"/>
                </a:solidFill>
                <a:effectLst/>
                <a:uFillTx/>
                <a:latin typeface="Arial"/>
                <a:ea typeface="Arial"/>
              </a:rPr>
              <a:t>QUEM DECIDE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199;p23"/>
          <p:cNvSpPr/>
          <p:nvPr/>
        </p:nvSpPr>
        <p:spPr>
          <a:xfrm>
            <a:off x="9349920" y="4444200"/>
            <a:ext cx="756648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200;p23"/>
          <p:cNvSpPr/>
          <p:nvPr/>
        </p:nvSpPr>
        <p:spPr>
          <a:xfrm>
            <a:off x="9616320" y="3875760"/>
            <a:ext cx="72597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0201C"/>
                </a:solidFill>
                <a:effectLst/>
                <a:uFillTx/>
                <a:latin typeface="Arial"/>
                <a:ea typeface="Arial"/>
              </a:rPr>
              <a:t>SOBRE O QUÊ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Google Shape;201;p23"/>
          <p:cNvSpPr/>
          <p:nvPr/>
        </p:nvSpPr>
        <p:spPr>
          <a:xfrm>
            <a:off x="1371600" y="5433120"/>
            <a:ext cx="200664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202;p23"/>
          <p:cNvSpPr/>
          <p:nvPr/>
        </p:nvSpPr>
        <p:spPr>
          <a:xfrm>
            <a:off x="1371600" y="4842360"/>
            <a:ext cx="181620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Dados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203;p23"/>
          <p:cNvSpPr/>
          <p:nvPr/>
        </p:nvSpPr>
        <p:spPr>
          <a:xfrm>
            <a:off x="3378600" y="5433120"/>
            <a:ext cx="597060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204;p23"/>
          <p:cNvSpPr/>
          <p:nvPr/>
        </p:nvSpPr>
        <p:spPr>
          <a:xfrm>
            <a:off x="3645360" y="4842360"/>
            <a:ext cx="561636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 própria comunidade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205;p23"/>
          <p:cNvSpPr/>
          <p:nvPr/>
        </p:nvSpPr>
        <p:spPr>
          <a:xfrm>
            <a:off x="9349920" y="5433120"/>
            <a:ext cx="756648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206;p23"/>
          <p:cNvSpPr/>
          <p:nvPr/>
        </p:nvSpPr>
        <p:spPr>
          <a:xfrm>
            <a:off x="9616320" y="4842360"/>
            <a:ext cx="725976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 que se registra, o que se publica, o que se retira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207;p23"/>
          <p:cNvSpPr/>
          <p:nvPr/>
        </p:nvSpPr>
        <p:spPr>
          <a:xfrm>
            <a:off x="1371600" y="6421680"/>
            <a:ext cx="200664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208;p23"/>
          <p:cNvSpPr/>
          <p:nvPr/>
        </p:nvSpPr>
        <p:spPr>
          <a:xfrm>
            <a:off x="1371600" y="5830920"/>
            <a:ext cx="181620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Ferramentas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Google Shape;209;p23"/>
          <p:cNvSpPr/>
          <p:nvPr/>
        </p:nvSpPr>
        <p:spPr>
          <a:xfrm>
            <a:off x="3378600" y="6421680"/>
            <a:ext cx="597060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Google Shape;210;p23"/>
          <p:cNvSpPr/>
          <p:nvPr/>
        </p:nvSpPr>
        <p:spPr>
          <a:xfrm>
            <a:off x="3645360" y="5830920"/>
            <a:ext cx="561636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Quem mantém cada sistema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Google Shape;211;p23"/>
          <p:cNvSpPr/>
          <p:nvPr/>
        </p:nvSpPr>
        <p:spPr>
          <a:xfrm>
            <a:off x="9349920" y="6421680"/>
            <a:ext cx="756648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Google Shape;212;p23"/>
          <p:cNvSpPr/>
          <p:nvPr/>
        </p:nvSpPr>
        <p:spPr>
          <a:xfrm>
            <a:off x="9616320" y="5830920"/>
            <a:ext cx="725976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atualizações, cópias de segurança, proteção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213;p23"/>
          <p:cNvSpPr/>
          <p:nvPr/>
        </p:nvSpPr>
        <p:spPr>
          <a:xfrm>
            <a:off x="1371600" y="7410240"/>
            <a:ext cx="200664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Google Shape;214;p23"/>
          <p:cNvSpPr/>
          <p:nvPr/>
        </p:nvSpPr>
        <p:spPr>
          <a:xfrm>
            <a:off x="1371600" y="6819840"/>
            <a:ext cx="181620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Arquitetura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Google Shape;215;p23"/>
          <p:cNvSpPr/>
          <p:nvPr/>
        </p:nvSpPr>
        <p:spPr>
          <a:xfrm>
            <a:off x="3378600" y="7410240"/>
            <a:ext cx="597060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Google Shape;216;p23"/>
          <p:cNvSpPr/>
          <p:nvPr/>
        </p:nvSpPr>
        <p:spPr>
          <a:xfrm>
            <a:off x="3645360" y="6819840"/>
            <a:ext cx="561636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Um comitê com todos os participantes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Google Shape;217;p23"/>
          <p:cNvSpPr/>
          <p:nvPr/>
        </p:nvSpPr>
        <p:spPr>
          <a:xfrm>
            <a:off x="9349920" y="7410240"/>
            <a:ext cx="7566480" cy="9000"/>
          </a:xfrm>
          <a:prstGeom prst="rect">
            <a:avLst/>
          </a:prstGeom>
          <a:solidFill>
            <a:srgbClr val="201F1D">
              <a:alpha val="16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4680" bIns="4680" anchor="ctr">
            <a:noAutofit/>
          </a:bodyPr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218;p23"/>
          <p:cNvSpPr/>
          <p:nvPr/>
        </p:nvSpPr>
        <p:spPr>
          <a:xfrm>
            <a:off x="9616320" y="6819840"/>
            <a:ext cx="7259760" cy="23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Autofit/>
          </a:bodyPr>
          <a:p>
            <a:pPr>
              <a:lnSpc>
                <a:spcPct val="135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as regras gerais e quem pode entrar na federação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Google Shape;219;p23"/>
          <p:cNvSpPr/>
          <p:nvPr/>
        </p:nvSpPr>
        <p:spPr>
          <a:xfrm>
            <a:off x="1371600" y="8238960"/>
            <a:ext cx="14715720" cy="70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75000"/>
              </a:lnSpc>
              <a:tabLst>
                <a:tab pos="0" algn="l"/>
              </a:tabLst>
            </a:pPr>
            <a:r>
              <a:rPr lang="en-US" sz="19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Isso não é só uma boa prática — é também respaldado por lei: a Lei da Biodiversidade e o Protocolo de Nagoya exigem consentimento e retorno de benefícios sempre que o conhecimento tradicional for usado.</a:t>
            </a:r>
            <a:endParaRPr lang="pt-BR" sz="1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225;p24"/>
          <p:cNvPicPr/>
          <p:nvPr/>
        </p:nvPicPr>
        <p:blipFill>
          <a:blip r:embed="rId1"/>
          <a:stretch/>
        </p:blipFill>
        <p:spPr>
          <a:xfrm>
            <a:off x="572760" y="0"/>
            <a:ext cx="17141760" cy="10286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231;p25"/>
          <p:cNvPicPr/>
          <p:nvPr/>
        </p:nvPicPr>
        <p:blipFill>
          <a:blip r:embed="rId1"/>
          <a:stretch/>
        </p:blipFill>
        <p:spPr>
          <a:xfrm>
            <a:off x="1798200" y="0"/>
            <a:ext cx="14691240" cy="10286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63;p7"/>
          <p:cNvSpPr/>
          <p:nvPr/>
        </p:nvSpPr>
        <p:spPr>
          <a:xfrm>
            <a:off x="1342800" y="1552680"/>
            <a:ext cx="1713060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Conhecimento e evidência não são a mesma coisa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Google Shape;64;p7"/>
          <p:cNvSpPr/>
          <p:nvPr/>
        </p:nvSpPr>
        <p:spPr>
          <a:xfrm>
            <a:off x="1371600" y="3676680"/>
            <a:ext cx="800460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Evidência: contada por outros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65;p7"/>
          <p:cNvSpPr/>
          <p:nvPr/>
        </p:nvSpPr>
        <p:spPr>
          <a:xfrm>
            <a:off x="1371600" y="4257720"/>
            <a:ext cx="7495200" cy="172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 algn="just"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Quando um pesquisador, um museu ou um livro de trezentos anos registra que uma comunidade usa certa planta, quem está falando é quem registrou. É um testemunho de terceiro. Tem valor, e muita coisa só sobreviveu assim — mas a autoridade sobre aquele registro é de quem o guarda.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66;p7"/>
          <p:cNvSpPr/>
          <p:nvPr/>
        </p:nvSpPr>
        <p:spPr>
          <a:xfrm>
            <a:off x="9639360" y="3676680"/>
            <a:ext cx="8004600" cy="32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Conhecimento: dito por vocês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Google Shape;67;p7"/>
          <p:cNvSpPr/>
          <p:nvPr/>
        </p:nvSpPr>
        <p:spPr>
          <a:xfrm>
            <a:off x="9639360" y="4257720"/>
            <a:ext cx="7495200" cy="221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 algn="just"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Quando é a própria comunidade que diz, na sua língua, o que sabe e de quem aprendeu, isso é outra coisa. Não vale mais nem menos: tem outro dono. E é esse dono — a comunidade — que decide o que pode ser publicado, o que fica reservado e o que se retira depois.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3" name="Picture 67" descr="image.png"/>
          <p:cNvPicPr/>
          <p:nvPr/>
        </p:nvPicPr>
        <p:blipFill>
          <a:blip r:embed="rId1"/>
          <a:stretch/>
        </p:blipFill>
        <p:spPr>
          <a:xfrm>
            <a:off x="1371600" y="9745920"/>
            <a:ext cx="2841120" cy="15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Google Shape;65;p7"/>
          <p:cNvSpPr/>
          <p:nvPr/>
        </p:nvSpPr>
        <p:spPr>
          <a:xfrm>
            <a:off x="1371600" y="7863840"/>
            <a:ext cx="162759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 algn="just"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 arquitetura passou a marcar essa diferença em cada registro. Não para dizer o que é mais verdadeiro — os dois são conhecimento —, mas para saber, sempre, quem tem autoridade para decidir sobre aquilo. Quando o registro é de vocês, quem decide são vocês.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80;p22"/>
          <p:cNvSpPr/>
          <p:nvPr/>
        </p:nvSpPr>
        <p:spPr>
          <a:xfrm>
            <a:off x="1342800" y="1552680"/>
            <a:ext cx="1713060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Quatro avanços, e o que cada um protege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Google Shape;181;p22"/>
          <p:cNvSpPr/>
          <p:nvPr/>
        </p:nvSpPr>
        <p:spPr>
          <a:xfrm>
            <a:off x="1371600" y="356616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Cada um guarda a própria chave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Google Shape;182;p22"/>
          <p:cNvSpPr/>
          <p:nvPr/>
        </p:nvSpPr>
        <p:spPr>
          <a:xfrm>
            <a:off x="1371600" y="4114800"/>
            <a:ext cx="75344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Não existe um banco central. Cada comunidade e cada instituição mantém os próprios registros, e quem sai leva tudo embora do </a:t>
            </a: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índice comum na hora.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183;p22"/>
          <p:cNvSpPr/>
          <p:nvPr/>
        </p:nvSpPr>
        <p:spPr>
          <a:xfrm>
            <a:off x="9601200" y="3566160"/>
            <a:ext cx="8412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25560" rIns="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Um dicionário vivo, não uma imposição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Google Shape;184;p22"/>
          <p:cNvSpPr/>
          <p:nvPr/>
        </p:nvSpPr>
        <p:spPr>
          <a:xfrm>
            <a:off x="9601200" y="4114800"/>
            <a:ext cx="75344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Os nomes de cada comunidade, em cada língua, são registro de primeira classe — com dono, origem e nível de acesso próprios. O nome científico deixa de ser o centro.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Google Shape;185;p22"/>
          <p:cNvSpPr/>
          <p:nvPr/>
        </p:nvSpPr>
        <p:spPr>
          <a:xfrm>
            <a:off x="1371600" y="598932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Regras escritas antes do conflito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Google Shape;186;p22"/>
          <p:cNvSpPr/>
          <p:nvPr/>
        </p:nvSpPr>
        <p:spPr>
          <a:xfrm>
            <a:off x="1371600" y="6537960"/>
            <a:ext cx="75344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Quem decide o quê, em três camadas; consentimento como processo, não como assinatura; e marcas de uso definidas pela comunidade. Com respaldo em lei.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Google Shape;187;p22"/>
          <p:cNvSpPr/>
          <p:nvPr/>
        </p:nvSpPr>
        <p:spPr>
          <a:xfrm>
            <a:off x="9601200" y="598932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Conhecimento e evidência separados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Google Shape;188;p22"/>
          <p:cNvSpPr/>
          <p:nvPr/>
        </p:nvSpPr>
        <p:spPr>
          <a:xfrm>
            <a:off x="9601200" y="6537960"/>
            <a:ext cx="75344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Cada registro passa a dizer se é a comunidade falando ou um terceiro registrando — e é isso que define quem tem autoridade sobre ele.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Google Shape;186;p22"/>
          <p:cNvSpPr/>
          <p:nvPr/>
        </p:nvSpPr>
        <p:spPr>
          <a:xfrm>
            <a:off x="1371600" y="8366760"/>
            <a:ext cx="147124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Nenhum dos quatro é sobre tecnologia. Os quatro são sobre quem decide — e é por isso que a parte mais difícil não se resolve programando.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80;p22"/>
          <p:cNvSpPr/>
          <p:nvPr/>
        </p:nvSpPr>
        <p:spPr>
          <a:xfrm>
            <a:off x="1342800" y="1552680"/>
            <a:ext cx="17130600" cy="4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54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Perguntas que só vocês podem responder</a:t>
            </a:r>
            <a:endParaRPr lang="pt-BR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Google Shape;181;p22"/>
          <p:cNvSpPr/>
          <p:nvPr/>
        </p:nvSpPr>
        <p:spPr>
          <a:xfrm>
            <a:off x="1371600" y="275004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Como quem sabe quer ser nomeado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Google Shape;182;p22"/>
          <p:cNvSpPr/>
          <p:nvPr/>
        </p:nvSpPr>
        <p:spPr>
          <a:xfrm>
            <a:off x="1371600" y="3298680"/>
            <a:ext cx="75344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Quando alguém conta um saber, que nome deve aparecer: o nome de verdade, um nome escolhido pela pessoa, ou só “a comunidade”?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Google Shape;183;p22"/>
          <p:cNvSpPr/>
          <p:nvPr/>
        </p:nvSpPr>
        <p:spPr>
          <a:xfrm>
            <a:off x="9601200" y="275004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 que não deve ser registrado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Google Shape;184;p22"/>
          <p:cNvSpPr/>
          <p:nvPr/>
        </p:nvSpPr>
        <p:spPr>
          <a:xfrm>
            <a:off x="9601200" y="3298680"/>
            <a:ext cx="75344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Há saberes que talvez não devam entrar em sistema nenhum. Precisamos saber onde fica essa linha antes de escrever qualquer coisa.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Google Shape;185;p22"/>
          <p:cNvSpPr/>
          <p:nvPr/>
        </p:nvSpPr>
        <p:spPr>
          <a:xfrm>
            <a:off x="1371600" y="500004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Que marcas de uso valem aqui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Google Shape;186;p22"/>
          <p:cNvSpPr/>
          <p:nvPr/>
        </p:nvSpPr>
        <p:spPr>
          <a:xfrm>
            <a:off x="1371600" y="5548680"/>
            <a:ext cx="75344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Existem selos que dizem como um saber pode ser usado: só em certa época, só por certas pessoas, nunca para fins comerciais. Quais valem — e quem diz isso por todos?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Google Shape;187;p22"/>
          <p:cNvSpPr/>
          <p:nvPr/>
        </p:nvSpPr>
        <p:spPr>
          <a:xfrm>
            <a:off x="9601200" y="5000040"/>
            <a:ext cx="80463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As gravações e as oficinas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Google Shape;188;p22"/>
          <p:cNvSpPr/>
          <p:nvPr/>
        </p:nvSpPr>
        <p:spPr>
          <a:xfrm>
            <a:off x="9601200" y="5548680"/>
            <a:ext cx="753444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Filmar alguém fazendo um chá ou trançando uma cesta é registrar um saber. Numa oficina, são muitas pessoas de uma vez. Quem autoriza — cada um, ou o grupo?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Google Shape;186;p22"/>
          <p:cNvSpPr/>
          <p:nvPr/>
        </p:nvSpPr>
        <p:spPr>
          <a:xfrm>
            <a:off x="1371600" y="9050040"/>
            <a:ext cx="147124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Nenhuma dessas perguntas tem resposta técnica, e nenhuma delas vamos responder sozinhos. Enquanto vocês não responderem, elas ficam registradas como pendências abertas — e nada é publicado.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Google Shape;190;p22"/>
          <p:cNvSpPr/>
          <p:nvPr/>
        </p:nvSpPr>
        <p:spPr>
          <a:xfrm>
            <a:off x="1371600" y="7250040"/>
            <a:ext cx="147124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94000"/>
              </a:lnSpc>
              <a:tabLst>
                <a:tab pos="0" algn="l"/>
              </a:tabLst>
            </a:pPr>
            <a:r>
              <a:rPr lang="en-US" sz="3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O que é sagrado — e o que acontece com ele</a:t>
            </a:r>
            <a:endParaRPr lang="pt-B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Google Shape;191;p22"/>
          <p:cNvSpPr/>
          <p:nvPr/>
        </p:nvSpPr>
        <p:spPr>
          <a:xfrm>
            <a:off x="1371600" y="7800120"/>
            <a:ext cx="147124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225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Quando um saber é sagrado, o registro dele deve sumir por inteiro, ou pode ficar visível que ele existe, sem mostrar o conteúdo? E quem diz que um saber é sagrado?</a:t>
            </a:r>
            <a:endParaRPr lang="pt-BR" sz="2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237;p26"/>
          <p:cNvSpPr/>
          <p:nvPr/>
        </p:nvSpPr>
        <p:spPr>
          <a:xfrm>
            <a:off x="1320480" y="3118320"/>
            <a:ext cx="17155080" cy="11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77000"/>
              </a:lnSpc>
              <a:tabLst>
                <a:tab pos="0" algn="l"/>
              </a:tabLst>
            </a:pPr>
            <a:r>
              <a:rPr lang="en-US" sz="96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Um convite</a:t>
            </a:r>
            <a:endParaRPr lang="pt-BR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Google Shape;238;p26"/>
          <p:cNvSpPr/>
          <p:nvPr/>
        </p:nvSpPr>
        <p:spPr>
          <a:xfrm>
            <a:off x="1371600" y="4608360"/>
            <a:ext cx="10722240" cy="271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51000"/>
              </a:lnSpc>
              <a:tabLst>
                <a:tab pos="0" algn="l"/>
              </a:tabLst>
            </a:pPr>
            <a:r>
              <a:rPr lang="en-US" sz="3000" b="0" u="none" strike="noStrike">
                <a:solidFill>
                  <a:srgbClr val="201F1D"/>
                </a:solidFill>
                <a:effectLst/>
                <a:uFillTx/>
                <a:latin typeface="Arial"/>
                <a:ea typeface="Arial"/>
              </a:rPr>
              <a:t>Essa arquitetura só existe se comunidades, pesquisadores e instituições ajudarem a construí-la, testá-la e corrigi-la. Participe, contribua, avalie.</a:t>
            </a:r>
            <a:endParaRPr lang="pt-B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Google Shape;239;p26"/>
          <p:cNvSpPr/>
          <p:nvPr/>
        </p:nvSpPr>
        <p:spPr>
          <a:xfrm>
            <a:off x="1371600" y="9250560"/>
            <a:ext cx="18385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11F1D"/>
                </a:solidFill>
                <a:effectLst/>
                <a:uFillTx/>
                <a:latin typeface="Arial"/>
                <a:ea typeface="Arial"/>
              </a:rPr>
              <a:t>eduardo.dalc.in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Google Shape;240;p26"/>
          <p:cNvSpPr/>
          <p:nvPr/>
        </p:nvSpPr>
        <p:spPr>
          <a:xfrm>
            <a:off x="3214800" y="9250560"/>
            <a:ext cx="13284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11F1D"/>
                </a:solidFill>
                <a:effectLst/>
                <a:uFillTx/>
                <a:latin typeface="Arial"/>
                <a:ea typeface="Arial"/>
              </a:rPr>
              <a:t>·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Google Shape;241;p26"/>
          <p:cNvSpPr/>
          <p:nvPr/>
        </p:nvSpPr>
        <p:spPr>
          <a:xfrm>
            <a:off x="3443400" y="9250560"/>
            <a:ext cx="529200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Autofit/>
          </a:bodyPr>
          <a:p>
            <a:pPr>
              <a:lnSpc>
                <a:spcPct val="136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211F1D"/>
                </a:solidFill>
                <a:effectLst/>
                <a:uFillTx/>
                <a:latin typeface="Arial"/>
                <a:ea typeface="Arial"/>
              </a:rPr>
              <a:t>github.com/edalcin/Arquitetura-BioCultural</a:t>
            </a: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201F1D"/>
      </a:dk1>
      <a:lt1>
        <a:srgbClr val="FAF6E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LibreOffice/26.2.5.2$Windows_X86_64 LibreOffice_project/cd7284b4cbbfeb507e630c1aac019f4157393acb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pt-BR</dc:language>
  <cp:lastModifiedBy/>
  <dcterms:modified xsi:type="dcterms:W3CDTF">2026-08-16T16:47:17Z</dcterms:modified>
  <cp:revision>2</cp:revision>
  <dc:subject/>
  <dc:title/>
</cp:coreProperties>
</file>