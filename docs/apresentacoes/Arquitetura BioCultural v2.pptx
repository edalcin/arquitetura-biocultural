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3A37133-8CC5-4360-9B96-E8B728F58461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Abertura: apresentar a proposta como um convite, não como um sistema de TI.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0813F8D-E5F1-4497-8A72-60C6F232F4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Visão geral do que será mostrado, em cinco blocos.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059A479-5601-4A7B-B751-D76BC32FFA8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primeiro bloco: o problema, contado como história.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589ABE-3989-4532-9166-408D59F98DF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Estabelece a urgência: o conhecimento existe, mas está fragmentado e sob risco.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5251ADA-B486-442C-9916-AFF78552B9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segundo bloco: as quatro fontes de evidência.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5DFDBE3-9F82-4FFB-8396-9EFE42FBAFD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quatro fontes de evidência que a arquitetura acolhe.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6265A7-C102-4B80-9E6C-56B3B22ACF5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67BC998-2C8E-40AB-9D5B-C6C435E394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do BioCultTermos como dicionário vivo e compartilhado, sem impor o nome científico.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DA74891-0667-4DAD-86D0-6442E858D6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terceiro bloco: o problema da confiança e a solução federada.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CB919C-C293-4CAC-A969-1FE539D8BA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por que a desconfiança das comunidades é legítima — casos reais de apropriação indevida.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0FED16-3D45-4D58-941E-85AE856CA30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1F86A6-1F7A-4D95-BED3-54B5142A8A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soberania federada: sem central, cada participante controla seus próprios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49D55D-88D6-468A-88BC-CBF74A2B4B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F7F289-456F-4FD7-A9B5-C59A6DD862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de ponto de encontro do Pluriverso, sem jargão técnico.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AB2EE0-B4BB-41C8-AEEC-EE2E4EEA19A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C1E033D-2D9C-4615-8B70-A9F26E68E18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da linha do tempo da arquitetura.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0D4B459-6C13-4CDA-BB03-F8CF10F2EE9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evolução da arquitetura em quatro marcos, sem números de versão.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CC3DCD1-D104-4141-9811-56FD62492B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final: princípios e governança.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D4B047A-F54E-4BAA-A393-5A8D2321775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quatro princípios CARE explicados em linguagem simples.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EBF878-2C27-4717-8526-32E54E9F8CF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três camadas de governança, em linguagem simples, mais o respaldo legal.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DA6184-2B9D-4309-B073-1E69ADA0C8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FC923B-C770-4B80-950D-FAE258D21DF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5EA74BD-2D1F-4AFC-91BB-E8FF222D708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avanço mais recente da arquitetura, e o mais difícil de enxergar de fora.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Até agora tudo era chamado de 'evidência', inclusive a fala da própria comunidade — o que colocava, sem querer, o registro do pesquisador e a palavra do detentor no mesmo lugar.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distinção NÃO é sobre qualidade ou veracidade: é sobre quem tem autoridade para classificar o acesso. Evidência não vale menos; é conhecimento com outro dono.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 encontram sem que uma engula a outra.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Emenda para o próximo slide: é justamente por causa dessa distinção que as quatro perguntas seguintes não podem ser respondidas por nós.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DEE9AFF-1ADE-491A-86AF-CEE433F1BF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consolidação: o que a arquitetura ganhou, em quatro marcos, na ordem em que apareceram.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Federação (v3.0) — abandono do banco único compartilhado; cada unidade com seu próprio SQLite soberano, Pluriverso como ponto de encontro que só indexa o que foi publicado, e purge imediato na saída.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Governança — três camadas de decisão, CLPI como ciclo com estágios, rotulagem cultural TK/BC, repartição rastreável; respaldo na Lei 13.123, no Protocolo de Nagoya e na LGPD.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Conhecimento × evidência (o mais recente) — a distinção é deôntica, não epistêmica: não diz o que é mais verdadeiro, diz quem tem autoridade para classificar o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 houver tempo para uma só frase: os três primeiros protegem o dado; o quarto protege quem decide sobre o dado.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1541F-DD85-45E6-9F4B-FC5CEDCF2A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escuta, não de exposição. Fazer as quatro perguntas e parar de falar.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cada uma, se perguntarem: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O que não registrar — a documentação do projeto já assume que há conhecimento sagrado que é mais bem protegido pela não existência do registro do que por qualquer camada de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Marcas de uso — são os TK/BC Labels do Local Contexts. Só a comunidade pode aplicá-los; quando aplicados por terceiro, chamam-se Notices e valem menos.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Caso concreto: o vídeo de 42 segundos em língua Panará, sem consentimento formalizado, sem transcrição com falante nativo e sem conferência da grafia — fora de qualquer publicação até que isso se resolva.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Registrar as respostas na hora; elas destravam o desenho do modelo de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E0C335-FB88-47C0-AFF3-9976B4E89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Fechamento com chamado à ação — participação é essencial, não opcional.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801883D-85B8-45FE-9235-CA893DDAA3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6;p3"/>
          <p:cNvSpPr/>
          <p:nvPr/>
        </p:nvSpPr>
        <p:spPr>
          <a:xfrm>
            <a:off x="1320480" y="3452760"/>
            <a:ext cx="171550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77000"/>
              </a:lnSpc>
              <a:tabLst>
                <a:tab pos="0" algn="l"/>
              </a:tabLst>
            </a:pPr>
            <a:r>
              <a:rPr lang="en-US" sz="9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 BioCultural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7;p3"/>
          <p:cNvSpPr/>
          <p:nvPr/>
        </p:nvSpPr>
        <p:spPr>
          <a:xfrm>
            <a:off x="1371600" y="4942440"/>
            <a:ext cx="10722240" cy="20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garantir o registro, a proteção e a soberania dos conhecimentos tradicionais mantidos por gerações sobre as plantas e os animais. 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8;p3"/>
          <p:cNvSpPr/>
          <p:nvPr/>
        </p:nvSpPr>
        <p:spPr>
          <a:xfrm>
            <a:off x="1371600" y="9250560"/>
            <a:ext cx="18140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Eduardo Dalcin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9;p3"/>
          <p:cNvSpPr/>
          <p:nvPr/>
        </p:nvSpPr>
        <p:spPr>
          <a:xfrm>
            <a:off x="3192480" y="9250560"/>
            <a:ext cx="132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0;p3"/>
          <p:cNvSpPr/>
          <p:nvPr/>
        </p:nvSpPr>
        <p:spPr>
          <a:xfrm>
            <a:off x="3421080" y="9250560"/>
            <a:ext cx="670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2026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6;p4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Neste convite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7;p4"/>
          <p:cNvSpPr/>
          <p:nvPr/>
        </p:nvSpPr>
        <p:spPr>
          <a:xfrm>
            <a:off x="1371600" y="345744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8;p4"/>
          <p:cNvSpPr/>
          <p:nvPr/>
        </p:nvSpPr>
        <p:spPr>
          <a:xfrm>
            <a:off x="1371600" y="269280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9;p4"/>
          <p:cNvSpPr/>
          <p:nvPr/>
        </p:nvSpPr>
        <p:spPr>
          <a:xfrm>
            <a:off x="2183040" y="2585880"/>
            <a:ext cx="630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30;p4"/>
          <p:cNvSpPr/>
          <p:nvPr/>
        </p:nvSpPr>
        <p:spPr>
          <a:xfrm>
            <a:off x="1371600" y="494172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31;p4"/>
          <p:cNvSpPr/>
          <p:nvPr/>
        </p:nvSpPr>
        <p:spPr>
          <a:xfrm>
            <a:off x="1371600" y="417672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32;p4"/>
          <p:cNvSpPr/>
          <p:nvPr/>
        </p:nvSpPr>
        <p:spPr>
          <a:xfrm>
            <a:off x="2183040" y="4070160"/>
            <a:ext cx="7471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fontes, uma linguagem comum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33;p4"/>
          <p:cNvSpPr/>
          <p:nvPr/>
        </p:nvSpPr>
        <p:spPr>
          <a:xfrm>
            <a:off x="1371600" y="642564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4;p4"/>
          <p:cNvSpPr/>
          <p:nvPr/>
        </p:nvSpPr>
        <p:spPr>
          <a:xfrm>
            <a:off x="1371600" y="566064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35;p4"/>
          <p:cNvSpPr/>
          <p:nvPr/>
        </p:nvSpPr>
        <p:spPr>
          <a:xfrm>
            <a:off x="2183040" y="5554080"/>
            <a:ext cx="8199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36;p4"/>
          <p:cNvSpPr/>
          <p:nvPr/>
        </p:nvSpPr>
        <p:spPr>
          <a:xfrm>
            <a:off x="1371600" y="790956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37;p4"/>
          <p:cNvSpPr/>
          <p:nvPr/>
        </p:nvSpPr>
        <p:spPr>
          <a:xfrm>
            <a:off x="1371600" y="714456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Google Shape;38;p4"/>
          <p:cNvSpPr/>
          <p:nvPr/>
        </p:nvSpPr>
        <p:spPr>
          <a:xfrm>
            <a:off x="2183040" y="7038000"/>
            <a:ext cx="48769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39;p4"/>
          <p:cNvSpPr/>
          <p:nvPr/>
        </p:nvSpPr>
        <p:spPr>
          <a:xfrm>
            <a:off x="1371600" y="939348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40;p4"/>
          <p:cNvSpPr/>
          <p:nvPr/>
        </p:nvSpPr>
        <p:spPr>
          <a:xfrm>
            <a:off x="1371600" y="862884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41;p4"/>
          <p:cNvSpPr/>
          <p:nvPr/>
        </p:nvSpPr>
        <p:spPr>
          <a:xfrm>
            <a:off x="2183040" y="8521920"/>
            <a:ext cx="9600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Princípios, governança e o que falta perguntar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42;p4"/>
          <p:cNvSpPr/>
          <p:nvPr/>
        </p:nvSpPr>
        <p:spPr>
          <a:xfrm>
            <a:off x="1371600" y="10887120"/>
            <a:ext cx="104770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43;p4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49;p5"/>
          <p:cNvSpPr/>
          <p:nvPr/>
        </p:nvSpPr>
        <p:spPr>
          <a:xfrm>
            <a:off x="1342800" y="4986360"/>
            <a:ext cx="916488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55;p6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saber espalhado — e em risco de se perder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6;p6"/>
          <p:cNvSpPr/>
          <p:nvPr/>
        </p:nvSpPr>
        <p:spPr>
          <a:xfrm>
            <a:off x="1342800" y="3118320"/>
            <a:ext cx="14537520" cy="52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Guardado em artigos científicos que poucos leem, fora do alcance de quem detém o saber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Vivo na memória das comunidades, passado de boca a ouvido — e ameaçado quando os mais velhos partem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Preservado em acervos de museus e arquivos, muitas vezes esquecido em prateleiras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Registrado por viajantes que passaram pelo Brasil há séculos, em livros hoje raros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Google Shape;57;p6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74;p8"/>
          <p:cNvSpPr/>
          <p:nvPr/>
        </p:nvSpPr>
        <p:spPr>
          <a:xfrm>
            <a:off x="1342800" y="4986360"/>
            <a:ext cx="897624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Quatro fontes, uma arquitetura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80;p9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 onde vem o que a arquitetura reúne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81;p9"/>
          <p:cNvSpPr/>
          <p:nvPr/>
        </p:nvSpPr>
        <p:spPr>
          <a:xfrm>
            <a:off x="13716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Artigos científicos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82;p9"/>
          <p:cNvSpPr/>
          <p:nvPr/>
        </p:nvSpPr>
        <p:spPr>
          <a:xfrm>
            <a:off x="1371600" y="42577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pesquisadores já publicaram sobre o uso de plantas e animais por comunidades tradicionais.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83;p9"/>
          <p:cNvSpPr/>
          <p:nvPr/>
        </p:nvSpPr>
        <p:spPr>
          <a:xfrm>
            <a:off x="96012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das comunidades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84;p9"/>
          <p:cNvSpPr/>
          <p:nvPr/>
        </p:nvSpPr>
        <p:spPr>
          <a:xfrm>
            <a:off x="9601200" y="42577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as próprias comunidades registram e compartilham diretamente, sempre com seu consentimento explícito.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85;p9"/>
          <p:cNvSpPr/>
          <p:nvPr/>
        </p:nvSpPr>
        <p:spPr>
          <a:xfrm>
            <a:off x="1371600" y="559620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Acervos e museus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86;p9"/>
          <p:cNvSpPr/>
          <p:nvPr/>
        </p:nvSpPr>
        <p:spPr>
          <a:xfrm>
            <a:off x="1371600" y="6235920"/>
            <a:ext cx="7534440" cy="73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Coleções, registros e documentos históricos preservados em museus e arquivos ao longo do tempo.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87;p9"/>
          <p:cNvSpPr/>
          <p:nvPr/>
        </p:nvSpPr>
        <p:spPr>
          <a:xfrm>
            <a:off x="9601200" y="559620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Obras de naturalistas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88;p9"/>
          <p:cNvSpPr/>
          <p:nvPr/>
        </p:nvSpPr>
        <p:spPr>
          <a:xfrm>
            <a:off x="9601200" y="62359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de viajantes que passaram pelo Brasil entre os séculos XVII e XIX, registrando o que viram e aprenderam.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89;p9"/>
          <p:cNvSpPr/>
          <p:nvPr/>
        </p:nvSpPr>
        <p:spPr>
          <a:xfrm>
            <a:off x="1508040" y="8165880"/>
            <a:ext cx="1544724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1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lang="pt-BR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11;p12"/>
          <p:cNvPicPr/>
          <p:nvPr/>
        </p:nvPicPr>
        <p:blipFill>
          <a:blip r:embed="rId1"/>
          <a:stretch/>
        </p:blipFill>
        <p:spPr>
          <a:xfrm>
            <a:off x="1796040" y="0"/>
            <a:ext cx="1469520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95;p10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linguagem comum entre as quatro fontes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96;p10"/>
          <p:cNvSpPr/>
          <p:nvPr/>
        </p:nvSpPr>
        <p:spPr>
          <a:xfrm>
            <a:off x="1371600" y="3722400"/>
            <a:ext cx="15057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fonte fala com suas próprias palavras — nomes populares, sinônimos, usos descritos à maneira e na língua de cada comunidade. O BioCultTermos organiza esses termos como um dicionário vivo, sem exigir que ninguém troque sua forma de nomear pela da ciência.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97;p10"/>
          <p:cNvSpPr/>
          <p:nvPr/>
        </p:nvSpPr>
        <p:spPr>
          <a:xfrm>
            <a:off x="1131480" y="6198840"/>
            <a:ext cx="1625076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ou iniciativa mantém sua própria cópia desse dicionário, sob seu próprio controle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98;p10"/>
          <p:cNvSpPr/>
          <p:nvPr/>
        </p:nvSpPr>
        <p:spPr>
          <a:xfrm>
            <a:off x="1131480" y="7261920"/>
            <a:ext cx="1625076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Ajuda a relacionar nomes diferentes para a mesma planta, ou um mesmo nome usado por comunidades diferentes, em diferentes línguas.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99;p10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Google Shape;98;p10"/>
          <p:cNvSpPr/>
          <p:nvPr/>
        </p:nvSpPr>
        <p:spPr>
          <a:xfrm>
            <a:off x="1134000" y="8458200"/>
            <a:ext cx="16248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baixo, é um padrão internacional — SKOS-XL — com dados próprios para cada nome.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05;p11"/>
          <p:cNvSpPr/>
          <p:nvPr/>
        </p:nvSpPr>
        <p:spPr>
          <a:xfrm>
            <a:off x="1342800" y="4986360"/>
            <a:ext cx="1193976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117;p13"/>
          <p:cNvSpPr/>
          <p:nvPr/>
        </p:nvSpPr>
        <p:spPr>
          <a:xfrm>
            <a:off x="739080" y="1552680"/>
            <a:ext cx="1713060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risco que nenhuma comunidade quer correr de novo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18;p13"/>
          <p:cNvSpPr/>
          <p:nvPr/>
        </p:nvSpPr>
        <p:spPr>
          <a:xfrm>
            <a:off x="1131480" y="3722400"/>
            <a:ext cx="15297480" cy="42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isso, muitas comunidades desconfiam — com toda razão — de qualquer sistema que peça seus saberes.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que ignora esse risco não vai ganhar a confiança de quem mais precisa confiar nela.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Google Shape;119;p13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98944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125;p14"/>
          <p:cNvPicPr/>
          <p:nvPr/>
        </p:nvPicPr>
        <p:blipFill>
          <a:blip r:embed="rId1"/>
          <a:stretch/>
        </p:blipFill>
        <p:spPr>
          <a:xfrm>
            <a:off x="1427040" y="0"/>
            <a:ext cx="1543392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131;p15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resposta: cada um guarda a própria chave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32;p15"/>
          <p:cNvSpPr/>
          <p:nvPr/>
        </p:nvSpPr>
        <p:spPr>
          <a:xfrm>
            <a:off x="1371600" y="3722400"/>
            <a:ext cx="1275372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33;p15"/>
          <p:cNvSpPr/>
          <p:nvPr/>
        </p:nvSpPr>
        <p:spPr>
          <a:xfrm>
            <a:off x="1371600" y="8507160"/>
            <a:ext cx="157158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Nada é compartilhado sem que essa comunidade ou iniciativa decida, explicitamente, o que tornar público.</a:t>
            </a:r>
            <a:endParaRPr lang="pt-B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Google Shape;134;p15"/>
          <p:cNvPicPr/>
          <p:nvPr/>
        </p:nvPicPr>
        <p:blipFill>
          <a:blip r:embed="rId1"/>
          <a:stretch/>
        </p:blipFill>
        <p:spPr>
          <a:xfrm>
            <a:off x="444600" y="6043680"/>
            <a:ext cx="17231400" cy="1665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140;p16"/>
          <p:cNvPicPr/>
          <p:nvPr/>
        </p:nvPicPr>
        <p:blipFill>
          <a:blip r:embed="rId1"/>
          <a:stretch/>
        </p:blipFill>
        <p:spPr>
          <a:xfrm>
            <a:off x="1022400" y="0"/>
            <a:ext cx="1624320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46;p17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Pluriverso: um ponto de encontro, não um dono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47;p17"/>
          <p:cNvSpPr/>
          <p:nvPr/>
        </p:nvSpPr>
        <p:spPr>
          <a:xfrm>
            <a:off x="1371600" y="7789680"/>
            <a:ext cx="1471572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3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lang="pt-BR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Google Shape;148;p17"/>
          <p:cNvPicPr/>
          <p:nvPr/>
        </p:nvPicPr>
        <p:blipFill>
          <a:blip r:embed="rId1"/>
          <a:stretch/>
        </p:blipFill>
        <p:spPr>
          <a:xfrm>
            <a:off x="152280" y="2892600"/>
            <a:ext cx="17982720" cy="4126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154;p18"/>
          <p:cNvPicPr/>
          <p:nvPr/>
        </p:nvPicPr>
        <p:blipFill>
          <a:blip r:embed="rId1"/>
          <a:stretch/>
        </p:blipFill>
        <p:spPr>
          <a:xfrm>
            <a:off x="1662480" y="0"/>
            <a:ext cx="1496268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60;p19"/>
          <p:cNvSpPr/>
          <p:nvPr/>
        </p:nvSpPr>
        <p:spPr>
          <a:xfrm>
            <a:off x="1342800" y="4986360"/>
            <a:ext cx="714888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166;p20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ideia que foi se corrigindo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68;p20"/>
          <p:cNvSpPr/>
          <p:nvPr/>
        </p:nvSpPr>
        <p:spPr>
          <a:xfrm>
            <a:off x="1783080" y="9144000"/>
            <a:ext cx="1471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68"/>
          <p:cNvSpPr/>
          <p:nvPr/>
        </p:nvSpPr>
        <p:spPr>
          <a:xfrm>
            <a:off x="914400" y="5760720"/>
            <a:ext cx="16458840" cy="14760"/>
          </a:xfrm>
          <a:prstGeom prst="rect">
            <a:avLst/>
          </a:prstGeom>
          <a:solidFill>
            <a:srgbClr val="C9B79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" name="Oval 169"/>
          <p:cNvSpPr/>
          <p:nvPr/>
        </p:nvSpPr>
        <p:spPr>
          <a:xfrm>
            <a:off x="1746360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0"/>
          <p:cNvSpPr/>
          <p:nvPr/>
        </p:nvSpPr>
        <p:spPr>
          <a:xfrm>
            <a:off x="932760" y="523044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jan/2025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v1.0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71"/>
          <p:cNvSpPr/>
          <p:nvPr/>
        </p:nvSpPr>
        <p:spPr>
          <a:xfrm>
            <a:off x="941760" y="301752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A proposta inicial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três etapas: adquirir, curar e apresentar os dados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Oval 172"/>
          <p:cNvSpPr/>
          <p:nvPr/>
        </p:nvSpPr>
        <p:spPr>
          <a:xfrm>
            <a:off x="3575160" y="5685840"/>
            <a:ext cx="164160" cy="16416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3"/>
          <p:cNvSpPr/>
          <p:nvPr/>
        </p:nvSpPr>
        <p:spPr>
          <a:xfrm>
            <a:off x="2761560" y="598932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dez/2025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v1.2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4"/>
          <p:cNvSpPr/>
          <p:nvPr/>
        </p:nvSpPr>
        <p:spPr>
          <a:xfrm>
            <a:off x="2770560" y="635508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Primeiras ferramentas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BioCultDB e a extração de artigos saem do papel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Oval 175"/>
          <p:cNvSpPr/>
          <p:nvPr/>
        </p:nvSpPr>
        <p:spPr>
          <a:xfrm>
            <a:off x="5403960" y="5685840"/>
            <a:ext cx="164160" cy="16416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6"/>
          <p:cNvSpPr/>
          <p:nvPr/>
        </p:nvSpPr>
        <p:spPr>
          <a:xfrm>
            <a:off x="4590360" y="523044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v2.0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77"/>
          <p:cNvSpPr/>
          <p:nvPr/>
        </p:nvSpPr>
        <p:spPr>
          <a:xfrm>
            <a:off x="4599360" y="301752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A comunidade entra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nasce o BioCultRelatos, com consentimento (CLPI) obrigatório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Oval 178"/>
          <p:cNvSpPr/>
          <p:nvPr/>
        </p:nvSpPr>
        <p:spPr>
          <a:xfrm>
            <a:off x="7232760" y="5685840"/>
            <a:ext cx="164160" cy="16416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9"/>
          <p:cNvSpPr/>
          <p:nvPr/>
        </p:nvSpPr>
        <p:spPr>
          <a:xfrm>
            <a:off x="6419160" y="598932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80"/>
          <p:cNvSpPr/>
          <p:nvPr/>
        </p:nvSpPr>
        <p:spPr>
          <a:xfrm>
            <a:off x="6428160" y="635508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A virada federada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cada participante soberano; nasce o Pluriverso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181"/>
          <p:cNvSpPr/>
          <p:nvPr/>
        </p:nvSpPr>
        <p:spPr>
          <a:xfrm>
            <a:off x="9061560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82"/>
          <p:cNvSpPr/>
          <p:nvPr/>
        </p:nvSpPr>
        <p:spPr>
          <a:xfrm>
            <a:off x="8247960" y="523044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v3.1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3"/>
          <p:cNvSpPr/>
          <p:nvPr/>
        </p:nvSpPr>
        <p:spPr>
          <a:xfrm>
            <a:off x="8256960" y="301752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O dado mora em casa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um arquivo próprio por unidade, sem banco central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Oval 184"/>
          <p:cNvSpPr/>
          <p:nvPr/>
        </p:nvSpPr>
        <p:spPr>
          <a:xfrm>
            <a:off x="10890360" y="5685840"/>
            <a:ext cx="164160" cy="16416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85"/>
          <p:cNvSpPr/>
          <p:nvPr/>
        </p:nvSpPr>
        <p:spPr>
          <a:xfrm>
            <a:off x="10076760" y="598932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v3.2–3.3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86"/>
          <p:cNvSpPr/>
          <p:nvPr/>
        </p:nvSpPr>
        <p:spPr>
          <a:xfrm>
            <a:off x="10085760" y="635508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Quatro fontes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entram acervos, museus e naturalistas; Pluriverso em várias instâncias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Oval 187"/>
          <p:cNvSpPr/>
          <p:nvPr/>
        </p:nvSpPr>
        <p:spPr>
          <a:xfrm>
            <a:off x="12719160" y="5685840"/>
            <a:ext cx="164160" cy="16416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8"/>
          <p:cNvSpPr/>
          <p:nvPr/>
        </p:nvSpPr>
        <p:spPr>
          <a:xfrm>
            <a:off x="11905560" y="523044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v3.4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89"/>
          <p:cNvSpPr/>
          <p:nvPr/>
        </p:nvSpPr>
        <p:spPr>
          <a:xfrm>
            <a:off x="11914560" y="301752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Regras escritas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governança em três camadas: quem decide o quê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Oval 190"/>
          <p:cNvSpPr/>
          <p:nvPr/>
        </p:nvSpPr>
        <p:spPr>
          <a:xfrm>
            <a:off x="14547960" y="5685840"/>
            <a:ext cx="164160" cy="16416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91"/>
          <p:cNvSpPr/>
          <p:nvPr/>
        </p:nvSpPr>
        <p:spPr>
          <a:xfrm>
            <a:off x="13734360" y="598932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v3.5–3.6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2"/>
          <p:cNvSpPr/>
          <p:nvPr/>
        </p:nvSpPr>
        <p:spPr>
          <a:xfrm>
            <a:off x="13743360" y="635508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Simplificação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extração por IA dentro do BioCultDB; nome científico deixa de ser o centro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val 193"/>
          <p:cNvSpPr/>
          <p:nvPr/>
        </p:nvSpPr>
        <p:spPr>
          <a:xfrm>
            <a:off x="16376760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94"/>
          <p:cNvSpPr/>
          <p:nvPr/>
        </p:nvSpPr>
        <p:spPr>
          <a:xfrm>
            <a:off x="15563160" y="5230440"/>
            <a:ext cx="1791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v3.7–3.9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95"/>
          <p:cNvSpPr/>
          <p:nvPr/>
        </p:nvSpPr>
        <p:spPr>
          <a:xfrm>
            <a:off x="15572160" y="3017520"/>
            <a:ext cx="177372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Conhecimento ≠ evidência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o Relato, o consentimento como processo, as gravações e as oficinas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74;p21"/>
          <p:cNvSpPr/>
          <p:nvPr/>
        </p:nvSpPr>
        <p:spPr>
          <a:xfrm>
            <a:off x="1342800" y="4986360"/>
            <a:ext cx="757044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Princípios que guiam tudo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princípios, sempre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81;p22"/>
          <p:cNvSpPr/>
          <p:nvPr/>
        </p:nvSpPr>
        <p:spPr>
          <a:xfrm>
            <a:off x="13716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Benefício coletivo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82;p22"/>
          <p:cNvSpPr/>
          <p:nvPr/>
        </p:nvSpPr>
        <p:spPr>
          <a:xfrm>
            <a:off x="1371600" y="42577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dados devem beneficiar, antes de tudo, as comunidades que os originaram — nunca terceiros.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83;p22"/>
          <p:cNvSpPr/>
          <p:nvPr/>
        </p:nvSpPr>
        <p:spPr>
          <a:xfrm>
            <a:off x="96012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Autoridade para decidir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84;p22"/>
          <p:cNvSpPr/>
          <p:nvPr/>
        </p:nvSpPr>
        <p:spPr>
          <a:xfrm>
            <a:off x="9601200" y="42577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mantém o controle sobre seu próprio conhecimento: o que registrar, o que publicar, o que retirar.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85;p22"/>
          <p:cNvSpPr/>
          <p:nvPr/>
        </p:nvSpPr>
        <p:spPr>
          <a:xfrm>
            <a:off x="1371600" y="66484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Responsabilidade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86;p22"/>
          <p:cNvSpPr/>
          <p:nvPr/>
        </p:nvSpPr>
        <p:spPr>
          <a:xfrm>
            <a:off x="1371600" y="72295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lida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 esses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dados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responde por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os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trata, protege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compartilha.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87;p22"/>
          <p:cNvSpPr/>
          <p:nvPr/>
        </p:nvSpPr>
        <p:spPr>
          <a:xfrm>
            <a:off x="9601200" y="66484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Ética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88;p22"/>
          <p:cNvSpPr/>
          <p:nvPr/>
        </p:nvSpPr>
        <p:spPr>
          <a:xfrm>
            <a:off x="9601200" y="72295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Respeito às práticas, aos valores e à cultura de cada comunidade, sempre.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94;p23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95;p23"/>
          <p:cNvSpPr/>
          <p:nvPr/>
        </p:nvSpPr>
        <p:spPr>
          <a:xfrm>
            <a:off x="1371600" y="444420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96;p23"/>
          <p:cNvSpPr/>
          <p:nvPr/>
        </p:nvSpPr>
        <p:spPr>
          <a:xfrm>
            <a:off x="1371600" y="3875760"/>
            <a:ext cx="1816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CAMADA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97;p23"/>
          <p:cNvSpPr/>
          <p:nvPr/>
        </p:nvSpPr>
        <p:spPr>
          <a:xfrm>
            <a:off x="3378600" y="444420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98;p23"/>
          <p:cNvSpPr/>
          <p:nvPr/>
        </p:nvSpPr>
        <p:spPr>
          <a:xfrm>
            <a:off x="3645360" y="3875760"/>
            <a:ext cx="5616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QUEM DECIDE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99;p23"/>
          <p:cNvSpPr/>
          <p:nvPr/>
        </p:nvSpPr>
        <p:spPr>
          <a:xfrm>
            <a:off x="9349920" y="444420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200;p23"/>
          <p:cNvSpPr/>
          <p:nvPr/>
        </p:nvSpPr>
        <p:spPr>
          <a:xfrm>
            <a:off x="9616320" y="3875760"/>
            <a:ext cx="7259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SOBRE O QUÊ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201;p23"/>
          <p:cNvSpPr/>
          <p:nvPr/>
        </p:nvSpPr>
        <p:spPr>
          <a:xfrm>
            <a:off x="1371600" y="543312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02;p23"/>
          <p:cNvSpPr/>
          <p:nvPr/>
        </p:nvSpPr>
        <p:spPr>
          <a:xfrm>
            <a:off x="1371600" y="484236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Dados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03;p23"/>
          <p:cNvSpPr/>
          <p:nvPr/>
        </p:nvSpPr>
        <p:spPr>
          <a:xfrm>
            <a:off x="3378600" y="543312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204;p23"/>
          <p:cNvSpPr/>
          <p:nvPr/>
        </p:nvSpPr>
        <p:spPr>
          <a:xfrm>
            <a:off x="3645360" y="484236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própria comunidade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205;p23"/>
          <p:cNvSpPr/>
          <p:nvPr/>
        </p:nvSpPr>
        <p:spPr>
          <a:xfrm>
            <a:off x="9349920" y="543312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06;p23"/>
          <p:cNvSpPr/>
          <p:nvPr/>
        </p:nvSpPr>
        <p:spPr>
          <a:xfrm>
            <a:off x="9616320" y="484236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se registra, o que se publica, o que se retira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07;p23"/>
          <p:cNvSpPr/>
          <p:nvPr/>
        </p:nvSpPr>
        <p:spPr>
          <a:xfrm>
            <a:off x="1371600" y="642168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08;p23"/>
          <p:cNvSpPr/>
          <p:nvPr/>
        </p:nvSpPr>
        <p:spPr>
          <a:xfrm>
            <a:off x="1371600" y="583092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Ferramentas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209;p23"/>
          <p:cNvSpPr/>
          <p:nvPr/>
        </p:nvSpPr>
        <p:spPr>
          <a:xfrm>
            <a:off x="3378600" y="642168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210;p23"/>
          <p:cNvSpPr/>
          <p:nvPr/>
        </p:nvSpPr>
        <p:spPr>
          <a:xfrm>
            <a:off x="3645360" y="583092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mantém cada sistema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211;p23"/>
          <p:cNvSpPr/>
          <p:nvPr/>
        </p:nvSpPr>
        <p:spPr>
          <a:xfrm>
            <a:off x="9349920" y="642168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212;p23"/>
          <p:cNvSpPr/>
          <p:nvPr/>
        </p:nvSpPr>
        <p:spPr>
          <a:xfrm>
            <a:off x="9616320" y="583092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atualizações, cópias de segurança, proteção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13;p23"/>
          <p:cNvSpPr/>
          <p:nvPr/>
        </p:nvSpPr>
        <p:spPr>
          <a:xfrm>
            <a:off x="1371600" y="741024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14;p23"/>
          <p:cNvSpPr/>
          <p:nvPr/>
        </p:nvSpPr>
        <p:spPr>
          <a:xfrm>
            <a:off x="1371600" y="681984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15;p23"/>
          <p:cNvSpPr/>
          <p:nvPr/>
        </p:nvSpPr>
        <p:spPr>
          <a:xfrm>
            <a:off x="3378600" y="741024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16;p23"/>
          <p:cNvSpPr/>
          <p:nvPr/>
        </p:nvSpPr>
        <p:spPr>
          <a:xfrm>
            <a:off x="3645360" y="681984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comitê com todos os participantes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17;p23"/>
          <p:cNvSpPr/>
          <p:nvPr/>
        </p:nvSpPr>
        <p:spPr>
          <a:xfrm>
            <a:off x="9349920" y="741024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18;p23"/>
          <p:cNvSpPr/>
          <p:nvPr/>
        </p:nvSpPr>
        <p:spPr>
          <a:xfrm>
            <a:off x="9616320" y="681984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as regras gerais e quem pode entrar na federação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19;p23"/>
          <p:cNvSpPr/>
          <p:nvPr/>
        </p:nvSpPr>
        <p:spPr>
          <a:xfrm>
            <a:off x="1371600" y="8238960"/>
            <a:ext cx="1471572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225;p24"/>
          <p:cNvPicPr/>
          <p:nvPr/>
        </p:nvPicPr>
        <p:blipFill>
          <a:blip r:embed="rId1"/>
          <a:stretch/>
        </p:blipFill>
        <p:spPr>
          <a:xfrm>
            <a:off x="572760" y="0"/>
            <a:ext cx="1714176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231;p25"/>
          <p:cNvPicPr/>
          <p:nvPr/>
        </p:nvPicPr>
        <p:blipFill>
          <a:blip r:embed="rId1"/>
          <a:stretch/>
        </p:blipFill>
        <p:spPr>
          <a:xfrm>
            <a:off x="1798200" y="0"/>
            <a:ext cx="1469124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63;p7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não são a mesma coisa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64;p7"/>
          <p:cNvSpPr/>
          <p:nvPr/>
        </p:nvSpPr>
        <p:spPr>
          <a:xfrm>
            <a:off x="1371600" y="3676680"/>
            <a:ext cx="8004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Evidência: contada por outros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65;p7"/>
          <p:cNvSpPr/>
          <p:nvPr/>
        </p:nvSpPr>
        <p:spPr>
          <a:xfrm>
            <a:off x="1371600" y="4257720"/>
            <a:ext cx="7495200" cy="172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66;p7"/>
          <p:cNvSpPr/>
          <p:nvPr/>
        </p:nvSpPr>
        <p:spPr>
          <a:xfrm>
            <a:off x="9639360" y="3676680"/>
            <a:ext cx="8004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Conhecimento: dito por vocês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67;p7"/>
          <p:cNvSpPr/>
          <p:nvPr/>
        </p:nvSpPr>
        <p:spPr>
          <a:xfrm>
            <a:off x="9639360" y="4257720"/>
            <a:ext cx="7495200" cy="22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67" descr="image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Google Shape;65;p7"/>
          <p:cNvSpPr/>
          <p:nvPr/>
        </p:nvSpPr>
        <p:spPr>
          <a:xfrm>
            <a:off x="1371600" y="7863840"/>
            <a:ext cx="162759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avanços, e o que cada um protege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81;p22"/>
          <p:cNvSpPr/>
          <p:nvPr/>
        </p:nvSpPr>
        <p:spPr>
          <a:xfrm>
            <a:off x="1371600" y="35661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um guarda a própria chave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82;p22"/>
          <p:cNvSpPr/>
          <p:nvPr/>
        </p:nvSpPr>
        <p:spPr>
          <a:xfrm>
            <a:off x="1371600" y="411480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Não existe um banco central. Cada comunidade e cada instituição mantém os próprios registros, e quem sai leva tudo embora do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índice comum na hora.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83;p22"/>
          <p:cNvSpPr/>
          <p:nvPr/>
        </p:nvSpPr>
        <p:spPr>
          <a:xfrm>
            <a:off x="9601200" y="356616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5560" rIns="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dicionário vivo, não uma imposição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84;p22"/>
          <p:cNvSpPr/>
          <p:nvPr/>
        </p:nvSpPr>
        <p:spPr>
          <a:xfrm>
            <a:off x="9601200" y="411480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85;p22"/>
          <p:cNvSpPr/>
          <p:nvPr/>
        </p:nvSpPr>
        <p:spPr>
          <a:xfrm>
            <a:off x="1371600" y="59893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Regras escritas antes do conflito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86;p22"/>
          <p:cNvSpPr/>
          <p:nvPr/>
        </p:nvSpPr>
        <p:spPr>
          <a:xfrm>
            <a:off x="1371600" y="653796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quê, em três camadas; consentimento como processo, não como assinatura; e marcas de uso definidas pela comunidade. Com respaldo em lei.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87;p22"/>
          <p:cNvSpPr/>
          <p:nvPr/>
        </p:nvSpPr>
        <p:spPr>
          <a:xfrm>
            <a:off x="9601200" y="59893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separados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88;p22"/>
          <p:cNvSpPr/>
          <p:nvPr/>
        </p:nvSpPr>
        <p:spPr>
          <a:xfrm>
            <a:off x="9601200" y="653796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registro passa a dizer se é a comunidade falando ou um terceiro registrando — e é isso que define quem tem autoridade sobre ele.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186;p22"/>
          <p:cNvSpPr/>
          <p:nvPr/>
        </p:nvSpPr>
        <p:spPr>
          <a:xfrm>
            <a:off x="1371600" y="8366760"/>
            <a:ext cx="14712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Nenhum dos quatro é sobre tecnologia. Os quatro são sobre quem decide — e é por isso que a parte mais difícil não se resolve programando.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Perguntas que só vocês podem responder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181;p22"/>
          <p:cNvSpPr/>
          <p:nvPr/>
        </p:nvSpPr>
        <p:spPr>
          <a:xfrm>
            <a:off x="1371600" y="275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quem sabe quer ser nomeado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182;p22"/>
          <p:cNvSpPr/>
          <p:nvPr/>
        </p:nvSpPr>
        <p:spPr>
          <a:xfrm>
            <a:off x="1371600" y="329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alguém conta um saber, que nome deve aparecer: o nome de verdade, um nome escolhido pela pessoa, ou só “a comunidade”?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83;p22"/>
          <p:cNvSpPr/>
          <p:nvPr/>
        </p:nvSpPr>
        <p:spPr>
          <a:xfrm>
            <a:off x="9601200" y="275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não deve ser registrado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84;p22"/>
          <p:cNvSpPr/>
          <p:nvPr/>
        </p:nvSpPr>
        <p:spPr>
          <a:xfrm>
            <a:off x="9601200" y="329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Há saberes que talvez não devam entrar em sistema nenhum. Precisamos saber onde fica essa linha antes de escrever qualquer coisa.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85;p22"/>
          <p:cNvSpPr/>
          <p:nvPr/>
        </p:nvSpPr>
        <p:spPr>
          <a:xfrm>
            <a:off x="1371600" y="500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 marcas de uso valem aqui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186;p22"/>
          <p:cNvSpPr/>
          <p:nvPr/>
        </p:nvSpPr>
        <p:spPr>
          <a:xfrm>
            <a:off x="1371600" y="554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Existem selos que dizem como um saber pode ser usado: só em certa época, só por certas pessoas, nunca para fins comerciais. Quais valem — e quem diz isso por todos?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187;p22"/>
          <p:cNvSpPr/>
          <p:nvPr/>
        </p:nvSpPr>
        <p:spPr>
          <a:xfrm>
            <a:off x="9601200" y="500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As gravações e as oficinas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188;p22"/>
          <p:cNvSpPr/>
          <p:nvPr/>
        </p:nvSpPr>
        <p:spPr>
          <a:xfrm>
            <a:off x="9601200" y="554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Filmar alguém fazendo um chá ou trançando uma cesta é registrar um saber. Numa oficina, são muitas pessoas de uma vez. Quem autoriza — cada um, ou o grupo?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186;p22"/>
          <p:cNvSpPr/>
          <p:nvPr/>
        </p:nvSpPr>
        <p:spPr>
          <a:xfrm>
            <a:off x="1371600" y="9050040"/>
            <a:ext cx="14712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Nenhuma dessas perguntas tem resposta técnica, e nenhuma delas vamos responder sozinhos. Enquanto vocês não responderem, elas ficam registradas como pendências abertas — e nada é publicado.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190;p22"/>
          <p:cNvSpPr/>
          <p:nvPr/>
        </p:nvSpPr>
        <p:spPr>
          <a:xfrm>
            <a:off x="1371600" y="7250040"/>
            <a:ext cx="14712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é sagrado — e o que acontece com ele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191;p22"/>
          <p:cNvSpPr/>
          <p:nvPr/>
        </p:nvSpPr>
        <p:spPr>
          <a:xfrm>
            <a:off x="1371600" y="7800120"/>
            <a:ext cx="14712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um saber é sagrado, o registro dele deve sumir por inteiro, ou pode ficar visível que ele existe, sem mostrar o conteúdo? E quem diz que um saber é sagrado?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237;p26"/>
          <p:cNvSpPr/>
          <p:nvPr/>
        </p:nvSpPr>
        <p:spPr>
          <a:xfrm>
            <a:off x="1320480" y="3118320"/>
            <a:ext cx="171550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77000"/>
              </a:lnSpc>
              <a:tabLst>
                <a:tab pos="0" algn="l"/>
              </a:tabLst>
            </a:pPr>
            <a:r>
              <a:rPr lang="en-US" sz="9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convite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38;p26"/>
          <p:cNvSpPr/>
          <p:nvPr/>
        </p:nvSpPr>
        <p:spPr>
          <a:xfrm>
            <a:off x="1371600" y="4608360"/>
            <a:ext cx="10722240" cy="27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Essa arquitetura só existe se comunidades, pesquisadores e instituições ajudarem a construí-la, testá-la e corrigi-la. Participe, contribua, avalie.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239;p26"/>
          <p:cNvSpPr/>
          <p:nvPr/>
        </p:nvSpPr>
        <p:spPr>
          <a:xfrm>
            <a:off x="1371600" y="9250560"/>
            <a:ext cx="1838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eduardo.dalc.in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40;p26"/>
          <p:cNvSpPr/>
          <p:nvPr/>
        </p:nvSpPr>
        <p:spPr>
          <a:xfrm>
            <a:off x="3214800" y="9250560"/>
            <a:ext cx="132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241;p26"/>
          <p:cNvSpPr/>
          <p:nvPr/>
        </p:nvSpPr>
        <p:spPr>
          <a:xfrm>
            <a:off x="3443400" y="9250560"/>
            <a:ext cx="5292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github.com/edalcin/Arquitetura-BioCultural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201F1D"/>
      </a:dk1>
      <a:lt1>
        <a:srgbClr val="FAF6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pt-BR</dc:language>
  <cp:lastModifiedBy/>
  <dcterms:modified xsi:type="dcterms:W3CDTF">2026-08-16T16:47:17Z</dcterms:modified>
  <cp:revision>2</cp:revision>
  <dc:subject/>
  <dc:title/>
</cp:coreProperties>
</file>