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739FDF2-0745-4E31-BBAF-BAC67940CBCA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Abertura: apresentar a proposta como um convite, não como um sistema de TI.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3A1A42B-EA56-40CB-B321-7467A69E0F6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Visão geral do que será mostrado, em cinco blocos.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93CB795-BF53-4181-9A41-840947F78ED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primeiro bloco: o problema, contado como história.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433C4C3-BB3E-4ECB-B94A-499C896FDB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Estabelece a urgência: o conhecimento existe, mas está fragmentado e sob risco.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F736E5-344E-4D6B-8D85-5B68F689C8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segundo bloco: as quatro fontes de evidência.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0F6B2E-461C-4903-AC22-4713564C656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quatro fontes de evidência que a arquitetura acolhe.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0AFF8E-636E-41C0-8646-C9BDC6C0D53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364A3A-9E64-4BC8-A47C-F87DBDA451C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do BioCultTermos como dicionário vivo e compartilhado, sem impor o nome científico.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52FB48-F1EE-4591-87B0-790EFA919F1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terceiro bloco: o problema da confiança e a solução federada.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8D8B6D-3064-4D0E-B221-4B47B019BB8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por que a desconfiança das comunidades é legítima — casos reais de apropriação indevida.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77B93E0-BBE6-444B-A1FD-4FAB687D04D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D34EA3A-CADF-4828-8A6B-94A8B20EF4E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soberania federada: sem central, cada participante controla seus próprios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AB9436-4968-4B6E-BE60-3B20D342399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6F3992F-28C2-4EE2-911B-D90C6763D86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de ponto de encontro do Pluriverso, sem jargão técnico.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B276B4F-5DBD-4734-92A6-B0A9860536F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3C7DA6-24D7-404D-9A59-57C49F63335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da linha do tempo da arquitetura.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FA15BFA-6B7C-4E5D-8331-3363D80220C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evolução da arquitetura em quatro marcos, sem números de versão.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5DF443B-A1A5-4884-9BC1-14EC9A9DE7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final: princípios e governança.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230D2B-BD59-4A9C-88C0-50D728EE2DC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quatro princípios CARE explicados em linguagem simples.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C4DAE8-6CED-4B3B-89E1-B00BF809026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três camadas de governança, em linguagem simples, mais o respaldo legal.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2AEF7A1-662B-400A-BEC3-83105274DC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B3E33E3-94CB-404C-B553-0F08207F23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D78BCC5-4008-4CB0-9762-CFE9F85AE16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avanço mais recente da arquitetura, e o mais difícil de enxergar de fora.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Até agora tudo era chamado de 'evidência', inclusive a fala da própria comunidade — o que colocava, sem querer, o registro do pesquisador e a palavra do detentor no mesmo lugar.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distinção NÃO é sobre qualidade ou veracidade: é sobre quem tem autoridade para classificar o acesso. Evidência não vale menos; é conhecimento com outro dono.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se encontram sem que uma engula a outra.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Emenda para o próximo slide: é justamente por causa dessa distinção que as quatro perguntas seguintes não podem ser respondidas por nós.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349B70-9082-48C4-B7DD-CCA323BD60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consolidação: o que a arquitetura ganhou, em quatro marcos, na ordem em que apareceram.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Federação (v3.0) — abandono do banco único compartilhado; cada unidade com seu próprio SQLite soberano, Pluriverso como ponto de encontro que só indexa o que foi publicado, e purge imediato na saída.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Governança — três camadas de decisão, CLPI como ciclo com estágios, rotulagem cultural TK/BC, repartição rastreável; respaldo na Lei 13.123, no Protocolo de Nagoya e na LGPD.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Conhecimento × evidência (o mais recente) — a distinção é deôntica, não epistêmica: não diz o que é mais verdadeiro, diz quem tem autoridade para classificar o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 houver tempo para uma só frase: os três primeiros protegem o dado; o quarto protege quem decide sobre o dado.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6CAB6-8F94-4DD2-A54D-39AF6A541C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escuta, não de exposição. Fazer as quatro perguntas e parar de falar.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cada uma, se perguntarem: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O que não registrar — a documentação do projeto já assume que há conhecimento sagrado que é mais bem protegido pela não existência do registro do que por qualquer camada de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Marcas de uso — são os TK/BC Labels do Local Contexts. Só a comunidade pode aplicá-los; quando aplicados por terceiro, chamam-se Notices e valem menos.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Regra geral: gravação sem consentimento formalizado, sem transcrição com falante nativo e sem conferência da grafia fica fora de qualquer publicação até que isso se resolva.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Registrar as respostas na hora; elas destravam o desenho do modelo de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8BE3FA-446A-496E-9312-CE0CBDA008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6;p3"/>
          <p:cNvSpPr/>
          <p:nvPr/>
        </p:nvSpPr>
        <p:spPr>
          <a:xfrm>
            <a:off x="1320480" y="3452760"/>
            <a:ext cx="17154000" cy="11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77000"/>
              </a:lnSpc>
              <a:tabLst>
                <a:tab pos="0" algn="l"/>
              </a:tabLst>
            </a:pPr>
            <a:r>
              <a:rPr lang="en-US" sz="9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 BioCultural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7;p3"/>
          <p:cNvSpPr/>
          <p:nvPr/>
        </p:nvSpPr>
        <p:spPr>
          <a:xfrm>
            <a:off x="1371600" y="4942440"/>
            <a:ext cx="10721160" cy="20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garantir o registro, a proteção e a soberania dos conhecimentos tradicionais mantidos por gerações sobre as plantas e os animais. 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8;p3"/>
          <p:cNvSpPr/>
          <p:nvPr/>
        </p:nvSpPr>
        <p:spPr>
          <a:xfrm>
            <a:off x="1371600" y="9250560"/>
            <a:ext cx="181296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Eduardo Dalcin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9;p3"/>
          <p:cNvSpPr/>
          <p:nvPr/>
        </p:nvSpPr>
        <p:spPr>
          <a:xfrm>
            <a:off x="3192480" y="9250560"/>
            <a:ext cx="13176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0;p3"/>
          <p:cNvSpPr/>
          <p:nvPr/>
        </p:nvSpPr>
        <p:spPr>
          <a:xfrm>
            <a:off x="3421080" y="9250560"/>
            <a:ext cx="66924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2026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6;p4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Neste convite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7;p4"/>
          <p:cNvSpPr/>
          <p:nvPr/>
        </p:nvSpPr>
        <p:spPr>
          <a:xfrm>
            <a:off x="1371600" y="3457440"/>
            <a:ext cx="155433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8;p4"/>
          <p:cNvSpPr/>
          <p:nvPr/>
        </p:nvSpPr>
        <p:spPr>
          <a:xfrm>
            <a:off x="1371600" y="2692800"/>
            <a:ext cx="3718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9;p4"/>
          <p:cNvSpPr/>
          <p:nvPr/>
        </p:nvSpPr>
        <p:spPr>
          <a:xfrm>
            <a:off x="2183040" y="2585880"/>
            <a:ext cx="63007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30;p4"/>
          <p:cNvSpPr/>
          <p:nvPr/>
        </p:nvSpPr>
        <p:spPr>
          <a:xfrm>
            <a:off x="1371600" y="4941720"/>
            <a:ext cx="155433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31;p4"/>
          <p:cNvSpPr/>
          <p:nvPr/>
        </p:nvSpPr>
        <p:spPr>
          <a:xfrm>
            <a:off x="1371600" y="4176720"/>
            <a:ext cx="3718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32;p4"/>
          <p:cNvSpPr/>
          <p:nvPr/>
        </p:nvSpPr>
        <p:spPr>
          <a:xfrm>
            <a:off x="2183040" y="4070160"/>
            <a:ext cx="747000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fontes, uma linguagem comum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33;p4"/>
          <p:cNvSpPr/>
          <p:nvPr/>
        </p:nvSpPr>
        <p:spPr>
          <a:xfrm>
            <a:off x="1371600" y="6425640"/>
            <a:ext cx="155433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4;p4"/>
          <p:cNvSpPr/>
          <p:nvPr/>
        </p:nvSpPr>
        <p:spPr>
          <a:xfrm>
            <a:off x="1371600" y="5660640"/>
            <a:ext cx="3718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35;p4"/>
          <p:cNvSpPr/>
          <p:nvPr/>
        </p:nvSpPr>
        <p:spPr>
          <a:xfrm>
            <a:off x="2183040" y="5554080"/>
            <a:ext cx="819792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36;p4"/>
          <p:cNvSpPr/>
          <p:nvPr/>
        </p:nvSpPr>
        <p:spPr>
          <a:xfrm>
            <a:off x="1371600" y="7909560"/>
            <a:ext cx="155433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37;p4"/>
          <p:cNvSpPr/>
          <p:nvPr/>
        </p:nvSpPr>
        <p:spPr>
          <a:xfrm>
            <a:off x="1371600" y="7144560"/>
            <a:ext cx="3718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Google Shape;38;p4"/>
          <p:cNvSpPr/>
          <p:nvPr/>
        </p:nvSpPr>
        <p:spPr>
          <a:xfrm>
            <a:off x="2183040" y="7038000"/>
            <a:ext cx="487584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39;p4"/>
          <p:cNvSpPr/>
          <p:nvPr/>
        </p:nvSpPr>
        <p:spPr>
          <a:xfrm>
            <a:off x="1371600" y="9393480"/>
            <a:ext cx="155433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40;p4"/>
          <p:cNvSpPr/>
          <p:nvPr/>
        </p:nvSpPr>
        <p:spPr>
          <a:xfrm>
            <a:off x="1371600" y="8628840"/>
            <a:ext cx="3718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41;p4"/>
          <p:cNvSpPr/>
          <p:nvPr/>
        </p:nvSpPr>
        <p:spPr>
          <a:xfrm>
            <a:off x="2183040" y="8521920"/>
            <a:ext cx="959976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Princípios, governança e o que falta perguntar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42;p4"/>
          <p:cNvSpPr/>
          <p:nvPr/>
        </p:nvSpPr>
        <p:spPr>
          <a:xfrm>
            <a:off x="1371600" y="10887120"/>
            <a:ext cx="1047600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43;p4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0040" cy="15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49;p5"/>
          <p:cNvSpPr/>
          <p:nvPr/>
        </p:nvSpPr>
        <p:spPr>
          <a:xfrm>
            <a:off x="1342800" y="4986360"/>
            <a:ext cx="91638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55;p6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saber espalhado — e em risco de se perder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6;p6"/>
          <p:cNvSpPr/>
          <p:nvPr/>
        </p:nvSpPr>
        <p:spPr>
          <a:xfrm>
            <a:off x="1342800" y="3118320"/>
            <a:ext cx="14536440" cy="52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Guardado em artigos científicos que poucos leem, fora do alcance de quem detém o saber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Vivo na memória das comunidades, passado de boca a ouvido — e ameaçado quando os mais velhos partem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Preservado em acervos de museus e arquivos, muitas vezes esquecido em prateleiras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Registrado por viajantes que passaram pelo Brasil há séculos, em livros hoje raros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Google Shape;57;p6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0040" cy="15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74;p8"/>
          <p:cNvSpPr/>
          <p:nvPr/>
        </p:nvSpPr>
        <p:spPr>
          <a:xfrm>
            <a:off x="1342800" y="4986360"/>
            <a:ext cx="897516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Quatro fontes, uma arquitetura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80;p9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 onde vem o que a arquitetura reúne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81;p9"/>
          <p:cNvSpPr/>
          <p:nvPr/>
        </p:nvSpPr>
        <p:spPr>
          <a:xfrm>
            <a:off x="1371600" y="36766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Artigos científicos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82;p9"/>
          <p:cNvSpPr/>
          <p:nvPr/>
        </p:nvSpPr>
        <p:spPr>
          <a:xfrm>
            <a:off x="1371600" y="4257720"/>
            <a:ext cx="753336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pesquisadores já publicaram sobre o uso de plantas e animais por comunidades tradicionais.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83;p9"/>
          <p:cNvSpPr/>
          <p:nvPr/>
        </p:nvSpPr>
        <p:spPr>
          <a:xfrm>
            <a:off x="9601200" y="36766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das comunidades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84;p9"/>
          <p:cNvSpPr/>
          <p:nvPr/>
        </p:nvSpPr>
        <p:spPr>
          <a:xfrm>
            <a:off x="9601200" y="4257720"/>
            <a:ext cx="7533360" cy="12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as próprias comunidades registram e compartilham diretamente, sempre com seu consentimento explícito.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85;p9"/>
          <p:cNvSpPr/>
          <p:nvPr/>
        </p:nvSpPr>
        <p:spPr>
          <a:xfrm>
            <a:off x="1371600" y="559620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Acervos e museus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86;p9"/>
          <p:cNvSpPr/>
          <p:nvPr/>
        </p:nvSpPr>
        <p:spPr>
          <a:xfrm>
            <a:off x="1371600" y="6235920"/>
            <a:ext cx="75333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Coleções, registros e documentos históricos preservados em museus e arquivos ao longo do tempo.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87;p9"/>
          <p:cNvSpPr/>
          <p:nvPr/>
        </p:nvSpPr>
        <p:spPr>
          <a:xfrm>
            <a:off x="9601200" y="559620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Obras de naturalistas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88;p9"/>
          <p:cNvSpPr/>
          <p:nvPr/>
        </p:nvSpPr>
        <p:spPr>
          <a:xfrm>
            <a:off x="9601200" y="6235920"/>
            <a:ext cx="7533360" cy="12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de viajantes que passaram pelo Brasil entre os séculos XVII e XIX, registrando o que viram e aprenderam.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89;p9"/>
          <p:cNvSpPr/>
          <p:nvPr/>
        </p:nvSpPr>
        <p:spPr>
          <a:xfrm>
            <a:off x="1508040" y="8165880"/>
            <a:ext cx="1544616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1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lang="pt-BR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11;p12"/>
          <p:cNvPicPr/>
          <p:nvPr/>
        </p:nvPicPr>
        <p:blipFill>
          <a:blip r:embed="rId1"/>
          <a:stretch/>
        </p:blipFill>
        <p:spPr>
          <a:xfrm>
            <a:off x="1796040" y="0"/>
            <a:ext cx="1469412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95;p10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linguagem comum entre as quatro fontes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96;p10"/>
          <p:cNvSpPr/>
          <p:nvPr/>
        </p:nvSpPr>
        <p:spPr>
          <a:xfrm>
            <a:off x="1371600" y="3722400"/>
            <a:ext cx="1505664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fonte fala com suas próprias palavras — nomes populares, sinônimos, usos descritos à maneira e na língua de cada comunidade. O BioCultTermos organiza esses termos como um dicionário vivo, sem exigir que ninguém troque sua forma de nomear pela da ciência.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97;p10"/>
          <p:cNvSpPr/>
          <p:nvPr/>
        </p:nvSpPr>
        <p:spPr>
          <a:xfrm>
            <a:off x="1131480" y="6198840"/>
            <a:ext cx="16249680" cy="10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ou iniciativa mantém sua própria cópia desse dicionário, sob seu próprio controle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98;p10"/>
          <p:cNvSpPr/>
          <p:nvPr/>
        </p:nvSpPr>
        <p:spPr>
          <a:xfrm>
            <a:off x="1131480" y="7261920"/>
            <a:ext cx="16249680" cy="10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Ajuda a relacionar nomes diferentes para a mesma planta, ou um mesmo nome usado por comunidades diferentes, em diferentes línguas.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99;p10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0040" cy="15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Google Shape;98;p10"/>
          <p:cNvSpPr/>
          <p:nvPr/>
        </p:nvSpPr>
        <p:spPr>
          <a:xfrm>
            <a:off x="1134000" y="8458200"/>
            <a:ext cx="162475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baixo, é um padrão internacional — SKOS-XL — com dados próprios para cada nome.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05;p11"/>
          <p:cNvSpPr/>
          <p:nvPr/>
        </p:nvSpPr>
        <p:spPr>
          <a:xfrm>
            <a:off x="1342800" y="4986360"/>
            <a:ext cx="1193868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117;p13"/>
          <p:cNvSpPr/>
          <p:nvPr/>
        </p:nvSpPr>
        <p:spPr>
          <a:xfrm>
            <a:off x="739080" y="1552680"/>
            <a:ext cx="171295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risco que nenhuma comunidade quer correr de novo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18;p13"/>
          <p:cNvSpPr/>
          <p:nvPr/>
        </p:nvSpPr>
        <p:spPr>
          <a:xfrm>
            <a:off x="1131480" y="3722400"/>
            <a:ext cx="15296400" cy="42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isso, muitas comunidades desconfiam — com toda razão — de qualquer sistema que peça seus saberes.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que ignora esse risco não vai ganhar a confiança de quem mais precisa confiar nela.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Google Shape;119;p13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988360" cy="15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125;p14"/>
          <p:cNvPicPr/>
          <p:nvPr/>
        </p:nvPicPr>
        <p:blipFill>
          <a:blip r:embed="rId1"/>
          <a:stretch/>
        </p:blipFill>
        <p:spPr>
          <a:xfrm>
            <a:off x="1427040" y="0"/>
            <a:ext cx="1543284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131;p15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resposta: cada um guarda a própria chave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32;p15"/>
          <p:cNvSpPr/>
          <p:nvPr/>
        </p:nvSpPr>
        <p:spPr>
          <a:xfrm>
            <a:off x="1371600" y="3722400"/>
            <a:ext cx="1275264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33;p15"/>
          <p:cNvSpPr/>
          <p:nvPr/>
        </p:nvSpPr>
        <p:spPr>
          <a:xfrm>
            <a:off x="1371600" y="8507160"/>
            <a:ext cx="157147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Nada é compartilhado sem que essa comunidade ou iniciativa decida, explicitamente, o que tornar público.</a:t>
            </a:r>
            <a:endParaRPr lang="pt-B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Google Shape;134;p15"/>
          <p:cNvPicPr/>
          <p:nvPr/>
        </p:nvPicPr>
        <p:blipFill>
          <a:blip r:embed="rId1"/>
          <a:stretch/>
        </p:blipFill>
        <p:spPr>
          <a:xfrm>
            <a:off x="444600" y="6043680"/>
            <a:ext cx="17230320" cy="166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140;p16"/>
          <p:cNvPicPr/>
          <p:nvPr/>
        </p:nvPicPr>
        <p:blipFill>
          <a:blip r:embed="rId1"/>
          <a:stretch/>
        </p:blipFill>
        <p:spPr>
          <a:xfrm>
            <a:off x="1022400" y="0"/>
            <a:ext cx="1624212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46;p17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Pluriverso: um ponto de encontro, não um dono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47;p17"/>
          <p:cNvSpPr/>
          <p:nvPr/>
        </p:nvSpPr>
        <p:spPr>
          <a:xfrm>
            <a:off x="1371600" y="7789680"/>
            <a:ext cx="14714640" cy="70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3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lang="pt-BR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Google Shape;148;p17"/>
          <p:cNvPicPr/>
          <p:nvPr/>
        </p:nvPicPr>
        <p:blipFill>
          <a:blip r:embed="rId1"/>
          <a:stretch/>
        </p:blipFill>
        <p:spPr>
          <a:xfrm>
            <a:off x="152280" y="2892600"/>
            <a:ext cx="17981640" cy="412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154;p18"/>
          <p:cNvPicPr/>
          <p:nvPr/>
        </p:nvPicPr>
        <p:blipFill>
          <a:blip r:embed="rId1"/>
          <a:stretch/>
        </p:blipFill>
        <p:spPr>
          <a:xfrm>
            <a:off x="1662480" y="0"/>
            <a:ext cx="1496160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60;p19"/>
          <p:cNvSpPr/>
          <p:nvPr/>
        </p:nvSpPr>
        <p:spPr>
          <a:xfrm>
            <a:off x="1342800" y="4986360"/>
            <a:ext cx="71478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166;p20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ideia que foi se corrigindo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68;p20"/>
          <p:cNvSpPr/>
          <p:nvPr/>
        </p:nvSpPr>
        <p:spPr>
          <a:xfrm>
            <a:off x="1783080" y="9144000"/>
            <a:ext cx="14711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68"/>
          <p:cNvSpPr/>
          <p:nvPr/>
        </p:nvSpPr>
        <p:spPr>
          <a:xfrm>
            <a:off x="914400" y="5760720"/>
            <a:ext cx="16457760" cy="13680"/>
          </a:xfrm>
          <a:prstGeom prst="rect">
            <a:avLst/>
          </a:prstGeom>
          <a:solidFill>
            <a:srgbClr val="C9B79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" name="Oval 169"/>
          <p:cNvSpPr/>
          <p:nvPr/>
        </p:nvSpPr>
        <p:spPr>
          <a:xfrm>
            <a:off x="3388680" y="5685840"/>
            <a:ext cx="163080" cy="16308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0"/>
          <p:cNvSpPr/>
          <p:nvPr/>
        </p:nvSpPr>
        <p:spPr>
          <a:xfrm>
            <a:off x="2660760" y="523044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jan/2025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v1.0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71"/>
          <p:cNvSpPr/>
          <p:nvPr/>
        </p:nvSpPr>
        <p:spPr>
          <a:xfrm>
            <a:off x="2660760" y="4218840"/>
            <a:ext cx="161892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A chegada do</a:t>
            </a:r>
            <a:br>
              <a:rPr sz="1600"/>
            </a:b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USEFLORA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Início da parceria e </a:t>
            </a:r>
            <a:br>
              <a:rPr sz="1250"/>
            </a:b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acesso aos dados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Oval 172"/>
          <p:cNvSpPr/>
          <p:nvPr/>
        </p:nvSpPr>
        <p:spPr>
          <a:xfrm>
            <a:off x="5033160" y="5685840"/>
            <a:ext cx="163080" cy="16308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3"/>
          <p:cNvSpPr/>
          <p:nvPr/>
        </p:nvSpPr>
        <p:spPr>
          <a:xfrm>
            <a:off x="4305240" y="598932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dez/2025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v1.2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4"/>
          <p:cNvSpPr/>
          <p:nvPr/>
        </p:nvSpPr>
        <p:spPr>
          <a:xfrm>
            <a:off x="4305240" y="6355080"/>
            <a:ext cx="161892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Primeiras ferramentas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BioCultDB e a extração de artigos saem do papel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Oval 175"/>
          <p:cNvSpPr/>
          <p:nvPr/>
        </p:nvSpPr>
        <p:spPr>
          <a:xfrm>
            <a:off x="6677280" y="5685840"/>
            <a:ext cx="163080" cy="16308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6"/>
          <p:cNvSpPr/>
          <p:nvPr/>
        </p:nvSpPr>
        <p:spPr>
          <a:xfrm>
            <a:off x="5949360" y="523044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v2.0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77"/>
          <p:cNvSpPr/>
          <p:nvPr/>
        </p:nvSpPr>
        <p:spPr>
          <a:xfrm>
            <a:off x="5949360" y="3837960"/>
            <a:ext cx="1618920" cy="12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A comunidade entra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nasce o BioCultRelatos, com consentimento (CLPI) obrigatório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Oval 178"/>
          <p:cNvSpPr/>
          <p:nvPr/>
        </p:nvSpPr>
        <p:spPr>
          <a:xfrm>
            <a:off x="8321760" y="5685840"/>
            <a:ext cx="163080" cy="16308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9"/>
          <p:cNvSpPr/>
          <p:nvPr/>
        </p:nvSpPr>
        <p:spPr>
          <a:xfrm>
            <a:off x="7593840" y="598932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80"/>
          <p:cNvSpPr/>
          <p:nvPr/>
        </p:nvSpPr>
        <p:spPr>
          <a:xfrm>
            <a:off x="7593840" y="6355080"/>
            <a:ext cx="161892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A virada federada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Cada participante soberano; nasce o Pluriverso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181"/>
          <p:cNvSpPr/>
          <p:nvPr/>
        </p:nvSpPr>
        <p:spPr>
          <a:xfrm>
            <a:off x="9965880" y="5685840"/>
            <a:ext cx="163080" cy="16308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82"/>
          <p:cNvSpPr/>
          <p:nvPr/>
        </p:nvSpPr>
        <p:spPr>
          <a:xfrm>
            <a:off x="9237960" y="523044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v3.1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3"/>
          <p:cNvSpPr/>
          <p:nvPr/>
        </p:nvSpPr>
        <p:spPr>
          <a:xfrm>
            <a:off x="9237960" y="4028400"/>
            <a:ext cx="161892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O dado mora em casa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Um arquivo próprio por unidade, sem banco central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Oval 184"/>
          <p:cNvSpPr/>
          <p:nvPr/>
        </p:nvSpPr>
        <p:spPr>
          <a:xfrm>
            <a:off x="11610360" y="5685840"/>
            <a:ext cx="163080" cy="16308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85"/>
          <p:cNvSpPr/>
          <p:nvPr/>
        </p:nvSpPr>
        <p:spPr>
          <a:xfrm>
            <a:off x="10882440" y="598932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v3.2–3.3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86"/>
          <p:cNvSpPr/>
          <p:nvPr/>
        </p:nvSpPr>
        <p:spPr>
          <a:xfrm>
            <a:off x="10882440" y="6355080"/>
            <a:ext cx="1618920" cy="10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Quatro fontes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Entram acervos, museus e naturalistas; Pluriverso em várias instâncias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Oval 187"/>
          <p:cNvSpPr/>
          <p:nvPr/>
        </p:nvSpPr>
        <p:spPr>
          <a:xfrm>
            <a:off x="13254480" y="5685840"/>
            <a:ext cx="163080" cy="16308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8"/>
          <p:cNvSpPr/>
          <p:nvPr/>
        </p:nvSpPr>
        <p:spPr>
          <a:xfrm>
            <a:off x="12526560" y="523044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v3.4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89"/>
          <p:cNvSpPr/>
          <p:nvPr/>
        </p:nvSpPr>
        <p:spPr>
          <a:xfrm>
            <a:off x="12526560" y="4272120"/>
            <a:ext cx="161892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Regras escritas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Governança em três camadas: quem decide o quê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Oval 190"/>
          <p:cNvSpPr/>
          <p:nvPr/>
        </p:nvSpPr>
        <p:spPr>
          <a:xfrm>
            <a:off x="14898960" y="5685840"/>
            <a:ext cx="163080" cy="16308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91"/>
          <p:cNvSpPr/>
          <p:nvPr/>
        </p:nvSpPr>
        <p:spPr>
          <a:xfrm>
            <a:off x="14171040" y="598932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v3.5–3.6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2"/>
          <p:cNvSpPr/>
          <p:nvPr/>
        </p:nvSpPr>
        <p:spPr>
          <a:xfrm>
            <a:off x="14171040" y="6355080"/>
            <a:ext cx="1618920" cy="10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Simplificação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Extração por IA dentro do BioCultDB; BioCultTermos integrado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val 193"/>
          <p:cNvSpPr/>
          <p:nvPr/>
        </p:nvSpPr>
        <p:spPr>
          <a:xfrm>
            <a:off x="16543080" y="5685840"/>
            <a:ext cx="163080" cy="16308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94"/>
          <p:cNvSpPr/>
          <p:nvPr/>
        </p:nvSpPr>
        <p:spPr>
          <a:xfrm>
            <a:off x="15815160" y="523044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v3.7–3.9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95"/>
          <p:cNvSpPr/>
          <p:nvPr/>
        </p:nvSpPr>
        <p:spPr>
          <a:xfrm>
            <a:off x="15815160" y="3647520"/>
            <a:ext cx="1618920" cy="14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Conhecimento ≠ evidência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O Relato, o consentimento como processo, as gravações e as oficinas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200"/>
          <p:cNvSpPr/>
          <p:nvPr/>
        </p:nvSpPr>
        <p:spPr>
          <a:xfrm>
            <a:off x="1744560" y="5685840"/>
            <a:ext cx="163080" cy="16308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01"/>
          <p:cNvSpPr/>
          <p:nvPr/>
        </p:nvSpPr>
        <p:spPr>
          <a:xfrm>
            <a:off x="1016640" y="5989320"/>
            <a:ext cx="1618920" cy="2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jan/2024 · v0.1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02"/>
          <p:cNvSpPr/>
          <p:nvPr/>
        </p:nvSpPr>
        <p:spPr>
          <a:xfrm>
            <a:off x="1016640" y="6355080"/>
            <a:ext cx="1618920" cy="13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Base de Dados de Plantas Medicinais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Dra. Viviane Fonseca · gitserver.jbrj.gov.br/edalcin/bdmedicinais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74;p21"/>
          <p:cNvSpPr/>
          <p:nvPr/>
        </p:nvSpPr>
        <p:spPr>
          <a:xfrm>
            <a:off x="1342800" y="4986360"/>
            <a:ext cx="756936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Princípios que guiam tudo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80;p22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princípios, sempre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81;p22"/>
          <p:cNvSpPr/>
          <p:nvPr/>
        </p:nvSpPr>
        <p:spPr>
          <a:xfrm>
            <a:off x="1371600" y="36766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Benefício coletivo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82;p22"/>
          <p:cNvSpPr/>
          <p:nvPr/>
        </p:nvSpPr>
        <p:spPr>
          <a:xfrm>
            <a:off x="1371600" y="4257720"/>
            <a:ext cx="753336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dados devem beneficiar, antes de tudo, as comunidades que os originaram — nunca terceiros.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83;p22"/>
          <p:cNvSpPr/>
          <p:nvPr/>
        </p:nvSpPr>
        <p:spPr>
          <a:xfrm>
            <a:off x="9601200" y="36766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Autoridade para decidir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84;p22"/>
          <p:cNvSpPr/>
          <p:nvPr/>
        </p:nvSpPr>
        <p:spPr>
          <a:xfrm>
            <a:off x="9601200" y="4257720"/>
            <a:ext cx="7533360" cy="12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mantém o controle sobre seu próprio conhecimento: o que registrar, o que publicar, o que retirar.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85;p22"/>
          <p:cNvSpPr/>
          <p:nvPr/>
        </p:nvSpPr>
        <p:spPr>
          <a:xfrm>
            <a:off x="1371600" y="66484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Responsabilidade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86;p22"/>
          <p:cNvSpPr/>
          <p:nvPr/>
        </p:nvSpPr>
        <p:spPr>
          <a:xfrm>
            <a:off x="1371600" y="7229520"/>
            <a:ext cx="753336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lida com esses dados responde por como os trata, protege e compartilha.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87;p22"/>
          <p:cNvSpPr/>
          <p:nvPr/>
        </p:nvSpPr>
        <p:spPr>
          <a:xfrm>
            <a:off x="9601200" y="6648480"/>
            <a:ext cx="8045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Ética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88;p22"/>
          <p:cNvSpPr/>
          <p:nvPr/>
        </p:nvSpPr>
        <p:spPr>
          <a:xfrm>
            <a:off x="9601200" y="7229520"/>
            <a:ext cx="753336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Respeito às práticas, aos valores e à cultura de cada comunidade, sempre.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94;p23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95;p23"/>
          <p:cNvSpPr/>
          <p:nvPr/>
        </p:nvSpPr>
        <p:spPr>
          <a:xfrm>
            <a:off x="1371600" y="4444200"/>
            <a:ext cx="20055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96;p23"/>
          <p:cNvSpPr/>
          <p:nvPr/>
        </p:nvSpPr>
        <p:spPr>
          <a:xfrm>
            <a:off x="1371600" y="3875760"/>
            <a:ext cx="181512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CAMADA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97;p23"/>
          <p:cNvSpPr/>
          <p:nvPr/>
        </p:nvSpPr>
        <p:spPr>
          <a:xfrm>
            <a:off x="3378600" y="4444200"/>
            <a:ext cx="596952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98;p23"/>
          <p:cNvSpPr/>
          <p:nvPr/>
        </p:nvSpPr>
        <p:spPr>
          <a:xfrm>
            <a:off x="3645360" y="3875760"/>
            <a:ext cx="56152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QUEM DECIDE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99;p23"/>
          <p:cNvSpPr/>
          <p:nvPr/>
        </p:nvSpPr>
        <p:spPr>
          <a:xfrm>
            <a:off x="9349920" y="4444200"/>
            <a:ext cx="756540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00;p23"/>
          <p:cNvSpPr/>
          <p:nvPr/>
        </p:nvSpPr>
        <p:spPr>
          <a:xfrm>
            <a:off x="9616320" y="3875760"/>
            <a:ext cx="7258680" cy="1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SOBRE O QUÊ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201;p23"/>
          <p:cNvSpPr/>
          <p:nvPr/>
        </p:nvSpPr>
        <p:spPr>
          <a:xfrm>
            <a:off x="1371600" y="5433120"/>
            <a:ext cx="20055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202;p23"/>
          <p:cNvSpPr/>
          <p:nvPr/>
        </p:nvSpPr>
        <p:spPr>
          <a:xfrm>
            <a:off x="1371600" y="4842360"/>
            <a:ext cx="18151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Dados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03;p23"/>
          <p:cNvSpPr/>
          <p:nvPr/>
        </p:nvSpPr>
        <p:spPr>
          <a:xfrm>
            <a:off x="3378600" y="5433120"/>
            <a:ext cx="596952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04;p23"/>
          <p:cNvSpPr/>
          <p:nvPr/>
        </p:nvSpPr>
        <p:spPr>
          <a:xfrm>
            <a:off x="3645360" y="4842360"/>
            <a:ext cx="56152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própria comunidade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05;p23"/>
          <p:cNvSpPr/>
          <p:nvPr/>
        </p:nvSpPr>
        <p:spPr>
          <a:xfrm>
            <a:off x="9349920" y="5433120"/>
            <a:ext cx="756540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206;p23"/>
          <p:cNvSpPr/>
          <p:nvPr/>
        </p:nvSpPr>
        <p:spPr>
          <a:xfrm>
            <a:off x="9616320" y="4842360"/>
            <a:ext cx="72586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se registra, o que se publica, o que se retira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207;p23"/>
          <p:cNvSpPr/>
          <p:nvPr/>
        </p:nvSpPr>
        <p:spPr>
          <a:xfrm>
            <a:off x="1371600" y="6421680"/>
            <a:ext cx="20055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208;p23"/>
          <p:cNvSpPr/>
          <p:nvPr/>
        </p:nvSpPr>
        <p:spPr>
          <a:xfrm>
            <a:off x="1371600" y="5830920"/>
            <a:ext cx="18151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Ferramentas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209;p23"/>
          <p:cNvSpPr/>
          <p:nvPr/>
        </p:nvSpPr>
        <p:spPr>
          <a:xfrm>
            <a:off x="3378600" y="6421680"/>
            <a:ext cx="596952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10;p23"/>
          <p:cNvSpPr/>
          <p:nvPr/>
        </p:nvSpPr>
        <p:spPr>
          <a:xfrm>
            <a:off x="3645360" y="5830920"/>
            <a:ext cx="56152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mantém cada sistema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11;p23"/>
          <p:cNvSpPr/>
          <p:nvPr/>
        </p:nvSpPr>
        <p:spPr>
          <a:xfrm>
            <a:off x="9349920" y="6421680"/>
            <a:ext cx="756540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12;p23"/>
          <p:cNvSpPr/>
          <p:nvPr/>
        </p:nvSpPr>
        <p:spPr>
          <a:xfrm>
            <a:off x="9616320" y="5830920"/>
            <a:ext cx="72586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atualizações, cópias de segurança, proteção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13;p23"/>
          <p:cNvSpPr/>
          <p:nvPr/>
        </p:nvSpPr>
        <p:spPr>
          <a:xfrm>
            <a:off x="1371600" y="7410240"/>
            <a:ext cx="200556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14;p23"/>
          <p:cNvSpPr/>
          <p:nvPr/>
        </p:nvSpPr>
        <p:spPr>
          <a:xfrm>
            <a:off x="1371600" y="6819840"/>
            <a:ext cx="18151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15;p23"/>
          <p:cNvSpPr/>
          <p:nvPr/>
        </p:nvSpPr>
        <p:spPr>
          <a:xfrm>
            <a:off x="3378600" y="7410240"/>
            <a:ext cx="596952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16;p23"/>
          <p:cNvSpPr/>
          <p:nvPr/>
        </p:nvSpPr>
        <p:spPr>
          <a:xfrm>
            <a:off x="3645360" y="6819840"/>
            <a:ext cx="56152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comitê com todos os participantes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17;p23"/>
          <p:cNvSpPr/>
          <p:nvPr/>
        </p:nvSpPr>
        <p:spPr>
          <a:xfrm>
            <a:off x="9349920" y="7410240"/>
            <a:ext cx="7565400" cy="792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18;p23"/>
          <p:cNvSpPr/>
          <p:nvPr/>
        </p:nvSpPr>
        <p:spPr>
          <a:xfrm>
            <a:off x="9616320" y="6819840"/>
            <a:ext cx="725868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as regras gerais e quem pode entrar na federação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19;p23"/>
          <p:cNvSpPr/>
          <p:nvPr/>
        </p:nvSpPr>
        <p:spPr>
          <a:xfrm>
            <a:off x="1371600" y="8238960"/>
            <a:ext cx="14714640" cy="70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225;p24"/>
          <p:cNvPicPr/>
          <p:nvPr/>
        </p:nvPicPr>
        <p:blipFill>
          <a:blip r:embed="rId1"/>
          <a:stretch/>
        </p:blipFill>
        <p:spPr>
          <a:xfrm>
            <a:off x="572760" y="0"/>
            <a:ext cx="1714068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231;p25"/>
          <p:cNvPicPr/>
          <p:nvPr/>
        </p:nvPicPr>
        <p:blipFill>
          <a:blip r:embed="rId1"/>
          <a:stretch/>
        </p:blipFill>
        <p:spPr>
          <a:xfrm>
            <a:off x="1798200" y="0"/>
            <a:ext cx="14690160" cy="1028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63;p7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não são a mesma coisa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64;p7"/>
          <p:cNvSpPr/>
          <p:nvPr/>
        </p:nvSpPr>
        <p:spPr>
          <a:xfrm>
            <a:off x="1371600" y="3676680"/>
            <a:ext cx="80035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Evidência: contada por outros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65;p7"/>
          <p:cNvSpPr/>
          <p:nvPr/>
        </p:nvSpPr>
        <p:spPr>
          <a:xfrm>
            <a:off x="1371600" y="4257720"/>
            <a:ext cx="7494120" cy="17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66;p7"/>
          <p:cNvSpPr/>
          <p:nvPr/>
        </p:nvSpPr>
        <p:spPr>
          <a:xfrm>
            <a:off x="9639360" y="3676680"/>
            <a:ext cx="80035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Conhecimento: dito por vocês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67;p7"/>
          <p:cNvSpPr/>
          <p:nvPr/>
        </p:nvSpPr>
        <p:spPr>
          <a:xfrm>
            <a:off x="9639360" y="4257720"/>
            <a:ext cx="7494120" cy="22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67" descr="image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0040" cy="15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oogle Shape;65;p7"/>
          <p:cNvSpPr/>
          <p:nvPr/>
        </p:nvSpPr>
        <p:spPr>
          <a:xfrm>
            <a:off x="1371600" y="7863840"/>
            <a:ext cx="162748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80;p22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avanços, e o que cada um protege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81;p22"/>
          <p:cNvSpPr/>
          <p:nvPr/>
        </p:nvSpPr>
        <p:spPr>
          <a:xfrm>
            <a:off x="1371600" y="3566160"/>
            <a:ext cx="8045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um guarda a própria chave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82;p22"/>
          <p:cNvSpPr/>
          <p:nvPr/>
        </p:nvSpPr>
        <p:spPr>
          <a:xfrm>
            <a:off x="1371600" y="4114800"/>
            <a:ext cx="753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Não existe um banco central. Cada comunidade e cada instituição mantém os próprios registros, e quem sai leva tudo embora do índice comum na hora.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83;p22"/>
          <p:cNvSpPr/>
          <p:nvPr/>
        </p:nvSpPr>
        <p:spPr>
          <a:xfrm>
            <a:off x="9601200" y="3566160"/>
            <a:ext cx="8411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5560" rIns="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dicionário vivo, não uma imposição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84;p22"/>
          <p:cNvSpPr/>
          <p:nvPr/>
        </p:nvSpPr>
        <p:spPr>
          <a:xfrm>
            <a:off x="9601200" y="4114800"/>
            <a:ext cx="753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85;p22"/>
          <p:cNvSpPr/>
          <p:nvPr/>
        </p:nvSpPr>
        <p:spPr>
          <a:xfrm>
            <a:off x="1371600" y="5989320"/>
            <a:ext cx="8045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Regras escritas antes do conflito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186;p22"/>
          <p:cNvSpPr/>
          <p:nvPr/>
        </p:nvSpPr>
        <p:spPr>
          <a:xfrm>
            <a:off x="1371600" y="6537960"/>
            <a:ext cx="753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quê, em três camadas; consentimento como processo, não como assinatura; e marcas de uso definidas pela comunidade. Com respaldo em lei.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187;p22"/>
          <p:cNvSpPr/>
          <p:nvPr/>
        </p:nvSpPr>
        <p:spPr>
          <a:xfrm>
            <a:off x="9601200" y="5989320"/>
            <a:ext cx="80452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separados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188;p22"/>
          <p:cNvSpPr/>
          <p:nvPr/>
        </p:nvSpPr>
        <p:spPr>
          <a:xfrm>
            <a:off x="9601200" y="6537960"/>
            <a:ext cx="753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registro passa a dizer se é a comunidade falando ou um terceiro registrando — e é isso que define quem tem autoridade sobre ele.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186;p22"/>
          <p:cNvSpPr/>
          <p:nvPr/>
        </p:nvSpPr>
        <p:spPr>
          <a:xfrm>
            <a:off x="1371600" y="8366760"/>
            <a:ext cx="1471140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Nenhum dos quatro é sobre tecnologia. Os quatro são sobre quem decide — e é por isso que a parte mais difícil não se resolve programando.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80;p22"/>
          <p:cNvSpPr/>
          <p:nvPr/>
        </p:nvSpPr>
        <p:spPr>
          <a:xfrm>
            <a:off x="1342800" y="1552680"/>
            <a:ext cx="1712952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Perguntas que só vocês podem responder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81;p22"/>
          <p:cNvSpPr/>
          <p:nvPr/>
        </p:nvSpPr>
        <p:spPr>
          <a:xfrm>
            <a:off x="1371600" y="3110040"/>
            <a:ext cx="12848040" cy="44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Para a proposta de arquitetura avançar, questões precisam ser respondidas nas três camadas de governança.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  <a:tabLst>
                <a:tab pos="0" algn="l"/>
              </a:tabLst>
            </a:pP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Seria muito bom ter um “ponto focal” do USEFLORA para estabelecer esta ponte entre as diferentes governanças e fazer a proposta de arquitetura avançar.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201F1D"/>
      </a:dk1>
      <a:lt1>
        <a:srgbClr val="FAF6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pt-BR</dc:language>
  <cp:lastModifiedBy/>
  <dcterms:modified xsi:type="dcterms:W3CDTF">2026-08-18T07:11:26Z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