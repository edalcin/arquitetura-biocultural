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8288000" cy="10287000"/>
  <p:notesSz cx="10287000" cy="18288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mover o slide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739FDF2-0745-4E31-BBAF-BAC67940CBCA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Abertura: apresentar a proposta como um convite, não como um sistema de TI.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3A1A42B-EA56-40CB-B321-7467A69E0F6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Visão geral do que será mostrado, em cinco blocos.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93CB795-BF53-4181-9A41-840947F78ED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Abre o primeiro bloco: o problema, contado como história.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433C4C3-BB3E-4ECB-B94A-499C896FDB6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Estabelece a urgência: o conhecimento existe, mas está fragmentado e sob risco.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1F736E5-344E-4D6B-8D85-5B68F689C82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Abre o segundo bloco: as quatro fontes de evidência.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50F6B2E-461C-4903-AC22-4713564C656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As quatro fontes de evidência que a arquitetura acolhe.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50AFF8E-636E-41C0-8646-C9BDC6C0D53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7364A3A-9E64-4BC8-A47C-F87DBDA451C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Explica o papel do BioCultTermos como dicionário vivo e compartilhado, sem impor o nome científico.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Para o público acadêmico: SKOS-XL (W3C) trata o rótulo como recurso de primeira classe, e é isso que permite pendurar accessLevel, povo detentor e consentimento em cada forma textual — inclusive tratar o nome em língua indígena com nível de acesso diferente do nome em português. Alinhamento com GBIF/Darwin Core acontece na camada de mapeamento do Pluriverso, não dentro do vocabulário da comunidade.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452FB48-F1EE-4591-87B0-790EFA919F1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Abre o terceiro bloco: o problema da confiança e a solução federada.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68D8B6D-3064-4D0E-B221-4B47B019BB8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Explica por que a desconfiança das comunidades é legítima — casos reais de apropriação indevida.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77B93E0-BBE6-444B-A1FD-4FAB687D04D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D34EA3A-CADF-4828-8A6B-94A8B20EF4E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Explica soberania federada: sem central, cada participante controla seus próprios dados.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4AB9436-4968-4B6E-BE60-3B20D342399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6F3992F-28C2-4EE2-911B-D90C6763D86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Explica o papel de ponto de encontro do Pluriverso, sem jargão técnico.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B276B4F-5DBD-4734-92A6-B0A9860536F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13C7DA6-24D7-404D-9A59-57C49F63335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Abre o bloco da linha do tempo da arquitetura.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FA15BFA-6B7C-4E5D-8331-3363D80220C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 evolução da arquitetura em quatro marcos, sem números de versão.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5DF443B-A1A5-4884-9BC1-14EC9A9DE71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Abre o bloco final: princípios e governança.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3230D2B-BD59-4A9C-88C0-50D728EE2DC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Os quatro princípios CARE explicados em linguagem simples.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6C4DAE8-6CED-4B3B-89E1-B00BF809026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As três camadas de governança, em linguagem simples, mais o respaldo legal.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2AEF7A1-662B-400A-BEC3-83105274DC5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B3E33E3-94CB-404C-B553-0F08207F23F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D78BCC5-4008-4CB0-9762-CFE9F85AE16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 avanço mais recente da arquitetura, e o mais difícil de enxergar de fora.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Até agora tudo era chamado de 'evidência', inclusive a fala da própria comunidade — o que colocava, sem querer, o registro do pesquisador e a palavra do detentor no mesmo lugar.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 distinção NÃO é sobre qualidade ou veracidade: é sobre quem tem autoridade para classificar o acesso. Evidência não vale menos; é conhecimento com outro dono.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Consequência prática: em registro de Conhecimento, só a comunidade aplica as marcas de uso; a instituição, no máximo, declara um aviso. E a narrativa da comunidade sobre uma peça de museu fica guardada com a comunidade, não dentro do banco do museu — as duas se encontram sem que uma engula a outra.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Emenda para o próximo slide: é justamente por causa dessa distinção que as quatro perguntas seguintes não podem ser respondidas por nós.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5349B70-9082-48C4-B7DD-CCA323BD60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Slide de consolidação: o que a arquitetura ganhou, em quatro marcos, na ordem em que apareceram.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1) Federação (v3.0) — abandono do banco único compartilhado; cada unidade com seu próprio SQLite soberano, Pluriverso como ponto de encontro que só indexa o que foi publicado, e purge imediato na saída.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2) SKOS-XL — rótulo como recurso de primeira classe, o que permite accessLevel, povo detentor e consentimento por forma textual; e nome científico fora do escopo do vocabulário controlado (ADR-014), porque sua autoridade já é externa.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3) Governança — três camadas de decisão, CLPI como ciclo com estágios, rotulagem cultural TK/BC, repartição rastreável; respaldo na Lei 13.123, no Protocolo de Nagoya e na LGPD.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4) Conhecimento × evidência (o mais recente) — a distinção é deôntica, não epistêmica: não diz o que é mais verdadeiro, diz quem tem autoridade para classificar o acesso.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 houver tempo para uma só frase: os três primeiros protegem o dado; o quarto protege quem decide sobre o dado.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496CAB6-8F94-4DD2-A54D-39AF6A541C7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Slide de escuta, não de exposição. Fazer as quatro perguntas e parar de falar.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Contexto de cada uma, se perguntarem: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1) Nome de quem fala — há um conflito real entre dar crédito (direito da pessoa, previsto na Lei 13.123) e proteger dados sensíveis (LGPD, art. 11). A saída recomendada é o pseudônimo escolhido pela própria pessoa, e é a única que exige perguntar.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2) O que não registrar — a documentação do projeto já assume que há conhecimento sagrado que é mais bem protegido pela não existência do registro do que por qualquer camada de acesso.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3) Marcas de uso — são os TK/BC Labels do Local Contexts. Só a comunidade pode aplicá-los; quando aplicados por terceiro, chamam-se Notices e valem menos.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4) Gravações — o registro em vídeo captura prática, não só fala: o gesto, a sequência, o material escolhido. Pode não haver uma palavra dita, e ainda assim é conhecimento inteiro. Em gravação coletiva, cada participante tem direito próprio sobre a própria voz e imagem: a regra adotada por ora é a mais conservadora — se um pede reserva, a gravação inteira sai, e não editamos para suprimir alguém por conta própria. Caso concreto: o vídeo de 42 segundos em língua Panará, sem consentimento formalizado, sem transcrição com falante nativo e sem conferência da grafia — fora de qualquer publicação até que isso se resolva.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Registrar as respostas na hora; elas destravam o desenho do modelo de dados.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38BE3FA-446A-496E-9312-CE0CBDA0086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6;p3"/>
          <p:cNvSpPr/>
          <p:nvPr/>
        </p:nvSpPr>
        <p:spPr>
          <a:xfrm>
            <a:off x="1320480" y="3452760"/>
            <a:ext cx="17154000" cy="11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77000"/>
              </a:lnSpc>
              <a:tabLst>
                <a:tab pos="0" algn="l"/>
              </a:tabLst>
            </a:pPr>
            <a:r>
              <a:rPr lang="en-US" sz="96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Arquitetura BioCultural</a:t>
            </a:r>
            <a:endParaRPr lang="pt-BR" sz="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Google Shape;17;p3"/>
          <p:cNvSpPr/>
          <p:nvPr/>
        </p:nvSpPr>
        <p:spPr>
          <a:xfrm>
            <a:off x="1371600" y="4942440"/>
            <a:ext cx="10721160" cy="20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151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Como garantir o registro, a proteção e a soberania dos conhecimentos tradicionais mantidos por gerações sobre as plantas e os animais. 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Google Shape;18;p3"/>
          <p:cNvSpPr/>
          <p:nvPr/>
        </p:nvSpPr>
        <p:spPr>
          <a:xfrm>
            <a:off x="1371600" y="9250560"/>
            <a:ext cx="1812960" cy="1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136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11F1D"/>
                </a:solidFill>
                <a:effectLst/>
                <a:uFillTx/>
                <a:latin typeface="Arial"/>
                <a:ea typeface="Arial"/>
              </a:rPr>
              <a:t>Eduardo Dalcin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Google Shape;19;p3"/>
          <p:cNvSpPr/>
          <p:nvPr/>
        </p:nvSpPr>
        <p:spPr>
          <a:xfrm>
            <a:off x="3192480" y="9250560"/>
            <a:ext cx="131760" cy="1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136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11F1D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Google Shape;20;p3"/>
          <p:cNvSpPr/>
          <p:nvPr/>
        </p:nvSpPr>
        <p:spPr>
          <a:xfrm>
            <a:off x="3421080" y="9250560"/>
            <a:ext cx="669240" cy="1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136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11F1D"/>
                </a:solidFill>
                <a:effectLst/>
                <a:uFillTx/>
                <a:latin typeface="Arial"/>
                <a:ea typeface="Arial"/>
              </a:rPr>
              <a:t>2026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26;p4"/>
          <p:cNvSpPr/>
          <p:nvPr/>
        </p:nvSpPr>
        <p:spPr>
          <a:xfrm>
            <a:off x="1342800" y="1552680"/>
            <a:ext cx="1712952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94000"/>
              </a:lnSpc>
              <a:tabLst>
                <a:tab pos="0" algn="l"/>
              </a:tabLst>
            </a:pPr>
            <a:r>
              <a:rPr lang="en-US" sz="54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Neste convite</a:t>
            </a:r>
            <a:endParaRPr lang="pt-BR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Google Shape;27;p4"/>
          <p:cNvSpPr/>
          <p:nvPr/>
        </p:nvSpPr>
        <p:spPr>
          <a:xfrm>
            <a:off x="1371600" y="3457440"/>
            <a:ext cx="15543360" cy="7920"/>
          </a:xfrm>
          <a:prstGeom prst="rect">
            <a:avLst/>
          </a:prstGeom>
          <a:solidFill>
            <a:srgbClr val="201F1D">
              <a:alpha val="1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960" rIns="90000" bIns="396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Google Shape;28;p4"/>
          <p:cNvSpPr/>
          <p:nvPr/>
        </p:nvSpPr>
        <p:spPr>
          <a:xfrm>
            <a:off x="1371600" y="2692800"/>
            <a:ext cx="371880" cy="1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136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B68235"/>
                </a:solidFill>
                <a:effectLst/>
                <a:uFillTx/>
                <a:latin typeface="Arial"/>
                <a:ea typeface="Arial"/>
              </a:rPr>
              <a:t>01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Google Shape;29;p4"/>
          <p:cNvSpPr/>
          <p:nvPr/>
        </p:nvSpPr>
        <p:spPr>
          <a:xfrm>
            <a:off x="2183040" y="2585880"/>
            <a:ext cx="630072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133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O conhecimento que corre risco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Google Shape;30;p4"/>
          <p:cNvSpPr/>
          <p:nvPr/>
        </p:nvSpPr>
        <p:spPr>
          <a:xfrm>
            <a:off x="1371600" y="4941720"/>
            <a:ext cx="15543360" cy="7920"/>
          </a:xfrm>
          <a:prstGeom prst="rect">
            <a:avLst/>
          </a:prstGeom>
          <a:solidFill>
            <a:srgbClr val="201F1D">
              <a:alpha val="1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960" rIns="90000" bIns="396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Google Shape;31;p4"/>
          <p:cNvSpPr/>
          <p:nvPr/>
        </p:nvSpPr>
        <p:spPr>
          <a:xfrm>
            <a:off x="1371600" y="4176720"/>
            <a:ext cx="371880" cy="1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136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B68235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Google Shape;32;p4"/>
          <p:cNvSpPr/>
          <p:nvPr/>
        </p:nvSpPr>
        <p:spPr>
          <a:xfrm>
            <a:off x="2183040" y="4070160"/>
            <a:ext cx="747000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133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Quatro fontes, uma linguagem comum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Google Shape;33;p4"/>
          <p:cNvSpPr/>
          <p:nvPr/>
        </p:nvSpPr>
        <p:spPr>
          <a:xfrm>
            <a:off x="1371600" y="6425640"/>
            <a:ext cx="15543360" cy="7920"/>
          </a:xfrm>
          <a:prstGeom prst="rect">
            <a:avLst/>
          </a:prstGeom>
          <a:solidFill>
            <a:srgbClr val="201F1D">
              <a:alpha val="1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960" rIns="90000" bIns="396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Google Shape;34;p4"/>
          <p:cNvSpPr/>
          <p:nvPr/>
        </p:nvSpPr>
        <p:spPr>
          <a:xfrm>
            <a:off x="1371600" y="5660640"/>
            <a:ext cx="371880" cy="1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136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B68235"/>
                </a:solidFill>
                <a:effectLst/>
                <a:uFillTx/>
                <a:latin typeface="Arial"/>
                <a:ea typeface="Arial"/>
              </a:rPr>
              <a:t>03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Google Shape;35;p4"/>
          <p:cNvSpPr/>
          <p:nvPr/>
        </p:nvSpPr>
        <p:spPr>
          <a:xfrm>
            <a:off x="2183040" y="5554080"/>
            <a:ext cx="819792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133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Uma arquitetura para proteger quem sabe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Google Shape;36;p4"/>
          <p:cNvSpPr/>
          <p:nvPr/>
        </p:nvSpPr>
        <p:spPr>
          <a:xfrm>
            <a:off x="1371600" y="7909560"/>
            <a:ext cx="15543360" cy="7920"/>
          </a:xfrm>
          <a:prstGeom prst="rect">
            <a:avLst/>
          </a:prstGeom>
          <a:solidFill>
            <a:srgbClr val="201F1D">
              <a:alpha val="1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960" rIns="90000" bIns="396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Google Shape;37;p4"/>
          <p:cNvSpPr/>
          <p:nvPr/>
        </p:nvSpPr>
        <p:spPr>
          <a:xfrm>
            <a:off x="1371600" y="7144560"/>
            <a:ext cx="371880" cy="1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136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B68235"/>
                </a:solidFill>
                <a:effectLst/>
                <a:uFillTx/>
                <a:latin typeface="Arial"/>
                <a:ea typeface="Arial"/>
              </a:rPr>
              <a:t>04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Google Shape;38;p4"/>
          <p:cNvSpPr/>
          <p:nvPr/>
        </p:nvSpPr>
        <p:spPr>
          <a:xfrm>
            <a:off x="2183040" y="7038000"/>
            <a:ext cx="487584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133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Como chegamos até aqui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Google Shape;39;p4"/>
          <p:cNvSpPr/>
          <p:nvPr/>
        </p:nvSpPr>
        <p:spPr>
          <a:xfrm>
            <a:off x="1371600" y="9393480"/>
            <a:ext cx="15543360" cy="7920"/>
          </a:xfrm>
          <a:prstGeom prst="rect">
            <a:avLst/>
          </a:prstGeom>
          <a:solidFill>
            <a:srgbClr val="201F1D">
              <a:alpha val="1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960" rIns="90000" bIns="396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Google Shape;40;p4"/>
          <p:cNvSpPr/>
          <p:nvPr/>
        </p:nvSpPr>
        <p:spPr>
          <a:xfrm>
            <a:off x="1371600" y="8628840"/>
            <a:ext cx="371880" cy="1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136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B68235"/>
                </a:solidFill>
                <a:effectLst/>
                <a:uFillTx/>
                <a:latin typeface="Arial"/>
                <a:ea typeface="Arial"/>
              </a:rPr>
              <a:t>05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Google Shape;41;p4"/>
          <p:cNvSpPr/>
          <p:nvPr/>
        </p:nvSpPr>
        <p:spPr>
          <a:xfrm>
            <a:off x="2183040" y="8521920"/>
            <a:ext cx="959976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133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Princípios, governança e o que falta perguntar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Google Shape;42;p4"/>
          <p:cNvSpPr/>
          <p:nvPr/>
        </p:nvSpPr>
        <p:spPr>
          <a:xfrm>
            <a:off x="1371600" y="10887120"/>
            <a:ext cx="10476000" cy="7920"/>
          </a:xfrm>
          <a:prstGeom prst="rect">
            <a:avLst/>
          </a:prstGeom>
          <a:solidFill>
            <a:srgbClr val="201F1D">
              <a:alpha val="1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960" rIns="90000" bIns="396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" name="Google Shape;43;p4" descr="preencoded.png"/>
          <p:cNvPicPr/>
          <p:nvPr/>
        </p:nvPicPr>
        <p:blipFill>
          <a:blip r:embed="rId1"/>
          <a:stretch/>
        </p:blipFill>
        <p:spPr>
          <a:xfrm>
            <a:off x="1371600" y="9745920"/>
            <a:ext cx="2840040" cy="158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622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49;p5"/>
          <p:cNvSpPr/>
          <p:nvPr/>
        </p:nvSpPr>
        <p:spPr>
          <a:xfrm>
            <a:off x="1342800" y="4986360"/>
            <a:ext cx="916380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94000"/>
              </a:lnSpc>
              <a:tabLst>
                <a:tab pos="0" algn="l"/>
              </a:tabLst>
            </a:pPr>
            <a:r>
              <a:rPr lang="en-US" sz="5400" b="0" u="none" strike="noStrike">
                <a:solidFill>
                  <a:srgbClr val="FAF6EF"/>
                </a:solidFill>
                <a:effectLst/>
                <a:uFillTx/>
                <a:latin typeface="Arial"/>
                <a:ea typeface="Arial"/>
              </a:rPr>
              <a:t>O conhecimento que corre risco</a:t>
            </a:r>
            <a:endParaRPr lang="pt-BR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55;p6"/>
          <p:cNvSpPr/>
          <p:nvPr/>
        </p:nvSpPr>
        <p:spPr>
          <a:xfrm>
            <a:off x="1342800" y="1552680"/>
            <a:ext cx="1712952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94000"/>
              </a:lnSpc>
              <a:tabLst>
                <a:tab pos="0" algn="l"/>
              </a:tabLst>
            </a:pPr>
            <a:r>
              <a:rPr lang="en-US" sz="54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Um saber espalhado — e em risco de se perder</a:t>
            </a:r>
            <a:endParaRPr lang="pt-BR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Google Shape;56;p6"/>
          <p:cNvSpPr/>
          <p:nvPr/>
        </p:nvSpPr>
        <p:spPr>
          <a:xfrm>
            <a:off x="1342800" y="3118320"/>
            <a:ext cx="14536440" cy="52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 marL="457200" indent="-450720">
              <a:lnSpc>
                <a:spcPct val="125000"/>
              </a:lnSpc>
              <a:buClr>
                <a:srgbClr val="201F1D"/>
              </a:buClr>
              <a:buFont typeface="Arial"/>
              <a:buChar char="●"/>
            </a:pPr>
            <a:r>
              <a:rPr lang="en-US" sz="35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Guardado em artigos científicos que poucos leem, fora do alcance de quem detém o saber</a:t>
            </a:r>
            <a:endParaRPr lang="pt-BR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0720">
              <a:lnSpc>
                <a:spcPct val="125000"/>
              </a:lnSpc>
              <a:buClr>
                <a:srgbClr val="201F1D"/>
              </a:buClr>
              <a:buFont typeface="Arial"/>
              <a:buChar char="●"/>
            </a:pPr>
            <a:r>
              <a:rPr lang="en-US" sz="35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Vivo na memória das comunidades, passado de boca a ouvido — e ameaçado quando os mais velhos partem</a:t>
            </a:r>
            <a:endParaRPr lang="pt-BR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0720">
              <a:lnSpc>
                <a:spcPct val="125000"/>
              </a:lnSpc>
              <a:buClr>
                <a:srgbClr val="201F1D"/>
              </a:buClr>
              <a:buFont typeface="Arial"/>
              <a:buChar char="●"/>
            </a:pPr>
            <a:r>
              <a:rPr lang="en-US" sz="35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Preservado em acervos de museus e arquivos, muitas vezes esquecido em prateleiras</a:t>
            </a:r>
            <a:endParaRPr lang="pt-BR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0720">
              <a:lnSpc>
                <a:spcPct val="125000"/>
              </a:lnSpc>
              <a:buClr>
                <a:srgbClr val="201F1D"/>
              </a:buClr>
              <a:buFont typeface="Arial"/>
              <a:buChar char="●"/>
            </a:pPr>
            <a:r>
              <a:rPr lang="en-US" sz="35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Registrado por viajantes que passaram pelo Brasil há séculos, em livros hoje raros</a:t>
            </a:r>
            <a:endParaRPr lang="pt-BR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" name="Google Shape;57;p6" descr="preencoded.png"/>
          <p:cNvPicPr/>
          <p:nvPr/>
        </p:nvPicPr>
        <p:blipFill>
          <a:blip r:embed="rId1"/>
          <a:stretch/>
        </p:blipFill>
        <p:spPr>
          <a:xfrm>
            <a:off x="1371600" y="9745920"/>
            <a:ext cx="2840040" cy="158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622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74;p8"/>
          <p:cNvSpPr/>
          <p:nvPr/>
        </p:nvSpPr>
        <p:spPr>
          <a:xfrm>
            <a:off x="1342800" y="4986360"/>
            <a:ext cx="89751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94000"/>
              </a:lnSpc>
              <a:tabLst>
                <a:tab pos="0" algn="l"/>
              </a:tabLst>
            </a:pPr>
            <a:r>
              <a:rPr lang="en-US" sz="5400" b="0" u="none" strike="noStrike">
                <a:solidFill>
                  <a:srgbClr val="FAF6EF"/>
                </a:solidFill>
                <a:effectLst/>
                <a:uFillTx/>
                <a:latin typeface="Arial"/>
                <a:ea typeface="Arial"/>
              </a:rPr>
              <a:t>Quatro fontes, uma arquitetura</a:t>
            </a:r>
            <a:endParaRPr lang="pt-BR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80;p9"/>
          <p:cNvSpPr/>
          <p:nvPr/>
        </p:nvSpPr>
        <p:spPr>
          <a:xfrm>
            <a:off x="1342800" y="1552680"/>
            <a:ext cx="1712952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94000"/>
              </a:lnSpc>
              <a:tabLst>
                <a:tab pos="0" algn="l"/>
              </a:tabLst>
            </a:pPr>
            <a:r>
              <a:rPr lang="en-US" sz="54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De onde vem o que a arquitetura reúne</a:t>
            </a:r>
            <a:endParaRPr lang="pt-BR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Google Shape;81;p9"/>
          <p:cNvSpPr/>
          <p:nvPr/>
        </p:nvSpPr>
        <p:spPr>
          <a:xfrm>
            <a:off x="1371600" y="3676680"/>
            <a:ext cx="804528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94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Artigos científicos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Google Shape;82;p9"/>
          <p:cNvSpPr/>
          <p:nvPr/>
        </p:nvSpPr>
        <p:spPr>
          <a:xfrm>
            <a:off x="1371600" y="4257720"/>
            <a:ext cx="7533360" cy="7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151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O que pesquisadores já publicaram sobre o uso de plantas e animais por comunidades tradicionais.</a:t>
            </a:r>
            <a:endParaRPr lang="pt-B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Google Shape;83;p9"/>
          <p:cNvSpPr/>
          <p:nvPr/>
        </p:nvSpPr>
        <p:spPr>
          <a:xfrm>
            <a:off x="9601200" y="3676680"/>
            <a:ext cx="804528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94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Relatos das comunidades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Google Shape;84;p9"/>
          <p:cNvSpPr/>
          <p:nvPr/>
        </p:nvSpPr>
        <p:spPr>
          <a:xfrm>
            <a:off x="9601200" y="4257720"/>
            <a:ext cx="7533360" cy="12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151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O que as próprias comunidades registram e compartilham diretamente, sempre com seu consentimento explícito.</a:t>
            </a:r>
            <a:endParaRPr lang="pt-B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Google Shape;85;p9"/>
          <p:cNvSpPr/>
          <p:nvPr/>
        </p:nvSpPr>
        <p:spPr>
          <a:xfrm>
            <a:off x="1371600" y="5596200"/>
            <a:ext cx="804528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94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Acervos e museus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Google Shape;86;p9"/>
          <p:cNvSpPr/>
          <p:nvPr/>
        </p:nvSpPr>
        <p:spPr>
          <a:xfrm>
            <a:off x="1371600" y="6235920"/>
            <a:ext cx="7533360" cy="73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151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Coleções, registros e documentos históricos preservados em museus e arquivos ao longo do tempo.</a:t>
            </a:r>
            <a:endParaRPr lang="pt-B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Google Shape;87;p9"/>
          <p:cNvSpPr/>
          <p:nvPr/>
        </p:nvSpPr>
        <p:spPr>
          <a:xfrm>
            <a:off x="9601200" y="5596200"/>
            <a:ext cx="804528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94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Obras de naturalistas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Google Shape;88;p9"/>
          <p:cNvSpPr/>
          <p:nvPr/>
        </p:nvSpPr>
        <p:spPr>
          <a:xfrm>
            <a:off x="9601200" y="6235920"/>
            <a:ext cx="7533360" cy="12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151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Relatos de viajantes que passaram pelo Brasil entre os séculos XVII e XIX, registrando o que viram e aprenderam.</a:t>
            </a:r>
            <a:endParaRPr lang="pt-B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Google Shape;89;p9"/>
          <p:cNvSpPr/>
          <p:nvPr/>
        </p:nvSpPr>
        <p:spPr>
          <a:xfrm>
            <a:off x="1508040" y="8165880"/>
            <a:ext cx="15446160" cy="86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175000"/>
              </a:lnSpc>
              <a:tabLst>
                <a:tab pos="0" algn="l"/>
              </a:tabLst>
            </a:pPr>
            <a:r>
              <a:rPr lang="en-US" sz="215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Três dessas fontes trazem o registro feito por um terceiro. Uma delas — os relatos — traz a própria comunidade falando. A diferença parece pequena, e é ela que decide quem manda em cada registro.</a:t>
            </a:r>
            <a:endParaRPr lang="pt-BR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111;p12"/>
          <p:cNvPicPr/>
          <p:nvPr/>
        </p:nvPicPr>
        <p:blipFill>
          <a:blip r:embed="rId1"/>
          <a:stretch/>
        </p:blipFill>
        <p:spPr>
          <a:xfrm>
            <a:off x="1796040" y="0"/>
            <a:ext cx="14694120" cy="10285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95;p10"/>
          <p:cNvSpPr/>
          <p:nvPr/>
        </p:nvSpPr>
        <p:spPr>
          <a:xfrm>
            <a:off x="1342800" y="1552680"/>
            <a:ext cx="1712952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94000"/>
              </a:lnSpc>
              <a:tabLst>
                <a:tab pos="0" algn="l"/>
              </a:tabLst>
            </a:pPr>
            <a:r>
              <a:rPr lang="en-US" sz="54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Uma linguagem comum entre as quatro fontes</a:t>
            </a:r>
            <a:endParaRPr lang="pt-BR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Google Shape;96;p10"/>
          <p:cNvSpPr/>
          <p:nvPr/>
        </p:nvSpPr>
        <p:spPr>
          <a:xfrm>
            <a:off x="1371600" y="3722400"/>
            <a:ext cx="15056640" cy="25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27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Cada fonte fala com suas próprias palavras — nomes populares, sinônimos, usos descritos à maneira e na língua de cada comunidade. O BioCultTermos organiza esses termos como um dicionário vivo, sem exigir que ninguém troque sua forma de nomear pela da ciência.</a:t>
            </a:r>
            <a:endParaRPr lang="pt-B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Google Shape;97;p10"/>
          <p:cNvSpPr/>
          <p:nvPr/>
        </p:nvSpPr>
        <p:spPr>
          <a:xfrm>
            <a:off x="1131480" y="6198840"/>
            <a:ext cx="16249680" cy="10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 marL="240120" indent="-240120">
              <a:lnSpc>
                <a:spcPct val="134000"/>
              </a:lnSpc>
              <a:buClr>
                <a:srgbClr val="201F1D"/>
              </a:buClr>
              <a:buFont typeface="Arial"/>
              <a:buChar char="•"/>
            </a:pPr>
            <a:r>
              <a:rPr lang="en-US" sz="27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Cada comunidade ou iniciativa mantém sua própria cópia desse dicionário, sob seu próprio controle</a:t>
            </a:r>
            <a:endParaRPr lang="pt-B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Google Shape;98;p10"/>
          <p:cNvSpPr/>
          <p:nvPr/>
        </p:nvSpPr>
        <p:spPr>
          <a:xfrm>
            <a:off x="1131480" y="7261920"/>
            <a:ext cx="16249680" cy="10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 marL="240120" indent="-240120">
              <a:lnSpc>
                <a:spcPct val="134000"/>
              </a:lnSpc>
              <a:buClr>
                <a:srgbClr val="201F1D"/>
              </a:buClr>
              <a:buFont typeface="Arial"/>
              <a:buChar char="•"/>
            </a:pPr>
            <a:r>
              <a:rPr lang="en-US" sz="27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Ajuda a relacionar nomes diferentes para a mesma planta, ou um mesmo nome usado por comunidades diferentes, em diferentes línguas.</a:t>
            </a:r>
            <a:endParaRPr lang="pt-B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" name="Google Shape;99;p10" descr="preencoded.png"/>
          <p:cNvPicPr/>
          <p:nvPr/>
        </p:nvPicPr>
        <p:blipFill>
          <a:blip r:embed="rId1"/>
          <a:stretch/>
        </p:blipFill>
        <p:spPr>
          <a:xfrm>
            <a:off x="1371600" y="9745920"/>
            <a:ext cx="2840040" cy="15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Google Shape;98;p10"/>
          <p:cNvSpPr/>
          <p:nvPr/>
        </p:nvSpPr>
        <p:spPr>
          <a:xfrm>
            <a:off x="1134000" y="8458200"/>
            <a:ext cx="1624752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 marL="240120" indent="-240120">
              <a:lnSpc>
                <a:spcPct val="134000"/>
              </a:lnSpc>
              <a:buClr>
                <a:srgbClr val="201F1D"/>
              </a:buClr>
              <a:buFont typeface="Arial"/>
              <a:buChar char="•"/>
            </a:pPr>
            <a:r>
              <a:rPr lang="en-US" sz="27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Por baixo, é um padrão internacional — SKOS-XL — com dados próprios para cada nome.</a:t>
            </a:r>
            <a:endParaRPr lang="pt-B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622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105;p11"/>
          <p:cNvSpPr/>
          <p:nvPr/>
        </p:nvSpPr>
        <p:spPr>
          <a:xfrm>
            <a:off x="1342800" y="4986360"/>
            <a:ext cx="1193868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94000"/>
              </a:lnSpc>
              <a:tabLst>
                <a:tab pos="0" algn="l"/>
              </a:tabLst>
            </a:pPr>
            <a:r>
              <a:rPr lang="en-US" sz="5400" b="0" u="none" strike="noStrike">
                <a:solidFill>
                  <a:srgbClr val="FAF6EF"/>
                </a:solidFill>
                <a:effectLst/>
                <a:uFillTx/>
                <a:latin typeface="Arial"/>
                <a:ea typeface="Arial"/>
              </a:rPr>
              <a:t>Uma arquitetura para proteger quem sabe</a:t>
            </a:r>
            <a:endParaRPr lang="pt-BR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117;p13"/>
          <p:cNvSpPr/>
          <p:nvPr/>
        </p:nvSpPr>
        <p:spPr>
          <a:xfrm>
            <a:off x="739080" y="1552680"/>
            <a:ext cx="1712952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94000"/>
              </a:lnSpc>
              <a:tabLst>
                <a:tab pos="0" algn="l"/>
              </a:tabLst>
            </a:pPr>
            <a:r>
              <a:rPr lang="en-US" sz="54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O risco que nenhuma comunidade quer correr de novo</a:t>
            </a:r>
            <a:endParaRPr lang="pt-BR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Google Shape;118;p13"/>
          <p:cNvSpPr/>
          <p:nvPr/>
        </p:nvSpPr>
        <p:spPr>
          <a:xfrm>
            <a:off x="1131480" y="3722400"/>
            <a:ext cx="15296400" cy="42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29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Casos como o do cupuaçu, da ayahuasca e do jaborandi mostram o que acontece quando um saber tradicional vira patente ou produto sem autorização, nem retorno para quem o originou.</a:t>
            </a:r>
            <a:endParaRPr lang="pt-BR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endParaRPr lang="pt-BR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29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Por isso, muitas comunidades desconfiam — com toda razão — de qualquer sistema que peça seus saberes.</a:t>
            </a:r>
            <a:endParaRPr lang="pt-BR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endParaRPr lang="pt-BR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29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Uma arquitetura que ignora esse risco não vai ganhar a confiança de quem mais precisa confiar nela.</a:t>
            </a:r>
            <a:endParaRPr lang="pt-BR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" name="Google Shape;119;p13" descr="preencoded.png"/>
          <p:cNvPicPr/>
          <p:nvPr/>
        </p:nvPicPr>
        <p:blipFill>
          <a:blip r:embed="rId1"/>
          <a:stretch/>
        </p:blipFill>
        <p:spPr>
          <a:xfrm>
            <a:off x="1371600" y="9745920"/>
            <a:ext cx="2988360" cy="158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125;p14"/>
          <p:cNvPicPr/>
          <p:nvPr/>
        </p:nvPicPr>
        <p:blipFill>
          <a:blip r:embed="rId1"/>
          <a:stretch/>
        </p:blipFill>
        <p:spPr>
          <a:xfrm>
            <a:off x="1427040" y="0"/>
            <a:ext cx="15432840" cy="10285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131;p15"/>
          <p:cNvSpPr/>
          <p:nvPr/>
        </p:nvSpPr>
        <p:spPr>
          <a:xfrm>
            <a:off x="1342800" y="1552680"/>
            <a:ext cx="1712952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94000"/>
              </a:lnSpc>
              <a:tabLst>
                <a:tab pos="0" algn="l"/>
              </a:tabLst>
            </a:pPr>
            <a:r>
              <a:rPr lang="en-US" sz="54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A resposta: cada um guarda a própria chave</a:t>
            </a:r>
            <a:endParaRPr lang="pt-BR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Google Shape;132;p15"/>
          <p:cNvSpPr/>
          <p:nvPr/>
        </p:nvSpPr>
        <p:spPr>
          <a:xfrm>
            <a:off x="1371600" y="3722400"/>
            <a:ext cx="12752640" cy="152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125000"/>
              </a:lnSpc>
              <a:tabLst>
                <a:tab pos="0" algn="l"/>
              </a:tabLst>
            </a:pPr>
            <a:r>
              <a:rPr lang="en-US" sz="27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Em vez de um único sistema central — do qual todos passariam a depender —, cada comunidade, cada acervo, cada iniciativa mantém seus próprios registros, sob seu próprio controle.</a:t>
            </a:r>
            <a:endParaRPr lang="pt-B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Google Shape;133;p15"/>
          <p:cNvSpPr/>
          <p:nvPr/>
        </p:nvSpPr>
        <p:spPr>
          <a:xfrm>
            <a:off x="1371600" y="8507160"/>
            <a:ext cx="1571472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175000"/>
              </a:lnSpc>
              <a:tabLst>
                <a:tab pos="0" algn="l"/>
              </a:tabLst>
            </a:pPr>
            <a:r>
              <a:rPr lang="en-US" sz="255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Nada é compartilhado sem que essa comunidade ou iniciativa decida, explicitamente, o que tornar público.</a:t>
            </a:r>
            <a:endParaRPr lang="pt-B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" name="Google Shape;134;p15"/>
          <p:cNvPicPr/>
          <p:nvPr/>
        </p:nvPicPr>
        <p:blipFill>
          <a:blip r:embed="rId1"/>
          <a:stretch/>
        </p:blipFill>
        <p:spPr>
          <a:xfrm>
            <a:off x="444600" y="6043680"/>
            <a:ext cx="17230320" cy="1664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140;p16"/>
          <p:cNvPicPr/>
          <p:nvPr/>
        </p:nvPicPr>
        <p:blipFill>
          <a:blip r:embed="rId1"/>
          <a:stretch/>
        </p:blipFill>
        <p:spPr>
          <a:xfrm>
            <a:off x="1022400" y="0"/>
            <a:ext cx="16242120" cy="10285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146;p17"/>
          <p:cNvSpPr/>
          <p:nvPr/>
        </p:nvSpPr>
        <p:spPr>
          <a:xfrm>
            <a:off x="1342800" y="1552680"/>
            <a:ext cx="1712952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94000"/>
              </a:lnSpc>
              <a:tabLst>
                <a:tab pos="0" algn="l"/>
              </a:tabLst>
            </a:pPr>
            <a:r>
              <a:rPr lang="en-US" sz="54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O Pluriverso: um ponto de encontro, não um dono</a:t>
            </a:r>
            <a:endParaRPr lang="pt-BR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Google Shape;147;p17"/>
          <p:cNvSpPr/>
          <p:nvPr/>
        </p:nvSpPr>
        <p:spPr>
          <a:xfrm>
            <a:off x="1371600" y="7789680"/>
            <a:ext cx="14714640" cy="70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175000"/>
              </a:lnSpc>
              <a:tabLst>
                <a:tab pos="0" algn="l"/>
              </a:tabLst>
            </a:pPr>
            <a:r>
              <a:rPr lang="en-US" sz="235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Periodicamente, o Pluriverso reúne o que cada participante decidiu tornar público e oferece um só lugar de busca — sem nunca ser dono dos dados de ninguém. Se um participante decide sair, seus dados somem de imediato do índice comum.</a:t>
            </a:r>
            <a:endParaRPr lang="pt-BR" sz="2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Google Shape;148;p17"/>
          <p:cNvPicPr/>
          <p:nvPr/>
        </p:nvPicPr>
        <p:blipFill>
          <a:blip r:embed="rId1"/>
          <a:stretch/>
        </p:blipFill>
        <p:spPr>
          <a:xfrm>
            <a:off x="152280" y="2892600"/>
            <a:ext cx="17981640" cy="4125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154;p18"/>
          <p:cNvPicPr/>
          <p:nvPr/>
        </p:nvPicPr>
        <p:blipFill>
          <a:blip r:embed="rId1"/>
          <a:stretch/>
        </p:blipFill>
        <p:spPr>
          <a:xfrm>
            <a:off x="1662480" y="0"/>
            <a:ext cx="14961600" cy="10285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622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160;p19"/>
          <p:cNvSpPr/>
          <p:nvPr/>
        </p:nvSpPr>
        <p:spPr>
          <a:xfrm>
            <a:off x="1342800" y="4986360"/>
            <a:ext cx="714780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94000"/>
              </a:lnSpc>
              <a:tabLst>
                <a:tab pos="0" algn="l"/>
              </a:tabLst>
            </a:pPr>
            <a:r>
              <a:rPr lang="en-US" sz="5400" b="0" u="none" strike="noStrike">
                <a:solidFill>
                  <a:srgbClr val="FAF6EF"/>
                </a:solidFill>
                <a:effectLst/>
                <a:uFillTx/>
                <a:latin typeface="Arial"/>
                <a:ea typeface="Arial"/>
              </a:rPr>
              <a:t>Como chegamos até aqui</a:t>
            </a:r>
            <a:endParaRPr lang="pt-BR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166;p20"/>
          <p:cNvSpPr/>
          <p:nvPr/>
        </p:nvSpPr>
        <p:spPr>
          <a:xfrm>
            <a:off x="1342800" y="1552680"/>
            <a:ext cx="1712952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94000"/>
              </a:lnSpc>
              <a:tabLst>
                <a:tab pos="0" algn="l"/>
              </a:tabLst>
            </a:pPr>
            <a:r>
              <a:rPr lang="en-US" sz="54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Uma ideia que foi se corrigindo</a:t>
            </a:r>
            <a:endParaRPr lang="pt-BR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168;p20"/>
          <p:cNvSpPr/>
          <p:nvPr/>
        </p:nvSpPr>
        <p:spPr>
          <a:xfrm>
            <a:off x="1783080" y="9144000"/>
            <a:ext cx="1471140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175000"/>
              </a:lnSpc>
              <a:tabLst>
                <a:tab pos="0" algn="l"/>
              </a:tabLst>
            </a:pPr>
            <a:r>
              <a:rPr lang="en-US" sz="195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A arquitetura nasceu de uma provocação sobre como registramos o saber tradicional, passou por uma tentativa de sistema único, e hoje é uma federação onde cada participante é dono dos próprios dados — com uma camada explícita sobre quem decide o quê.</a:t>
            </a:r>
            <a:endParaRPr lang="pt-BR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ectangle 168"/>
          <p:cNvSpPr/>
          <p:nvPr/>
        </p:nvSpPr>
        <p:spPr>
          <a:xfrm>
            <a:off x="914400" y="5760720"/>
            <a:ext cx="16457760" cy="13680"/>
          </a:xfrm>
          <a:prstGeom prst="rect">
            <a:avLst/>
          </a:prstGeom>
          <a:solidFill>
            <a:srgbClr val="C9B79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9880" rIns="90000" bIns="-29880" anchor="ctr">
            <a:noAutofit/>
          </a:bodyPr>
          <a:p>
            <a:endParaRPr lang="pt-BR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3" name="Oval 169"/>
          <p:cNvSpPr/>
          <p:nvPr/>
        </p:nvSpPr>
        <p:spPr>
          <a:xfrm>
            <a:off x="3388680" y="5685840"/>
            <a:ext cx="163080" cy="163080"/>
          </a:xfrm>
          <a:prstGeom prst="ellipse">
            <a:avLst/>
          </a:prstGeom>
          <a:solidFill>
            <a:srgbClr val="2E6B4F"/>
          </a:solidFill>
          <a:ln w="19050">
            <a:solidFill>
              <a:srgbClr val="FAF6E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1720" tIns="45000" rIns="81720" bIns="45000" anchor="ctr">
            <a:noAutofit/>
          </a:bodyPr>
          <a:p>
            <a:endParaRPr lang="pt-BR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170"/>
          <p:cNvSpPr/>
          <p:nvPr/>
        </p:nvSpPr>
        <p:spPr>
          <a:xfrm>
            <a:off x="2660760" y="5230440"/>
            <a:ext cx="161892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pt-BR" sz="1350" b="1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jan/2025 · </a:t>
            </a:r>
            <a:r>
              <a:rPr lang="pt-BR" sz="1350" b="1" u="none" strike="noStrike">
                <a:solidFill>
                  <a:srgbClr val="2E6B4F"/>
                </a:solidFill>
                <a:effectLst/>
                <a:uFillTx/>
                <a:latin typeface="Arial"/>
                <a:ea typeface="Arial"/>
              </a:rPr>
              <a:t>v1.0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71"/>
          <p:cNvSpPr/>
          <p:nvPr/>
        </p:nvSpPr>
        <p:spPr>
          <a:xfrm>
            <a:off x="2660760" y="4218840"/>
            <a:ext cx="1618920" cy="91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spAutoFit/>
          </a:bodyPr>
          <a:p>
            <a:pPr algn="ctr">
              <a:lnSpc>
                <a:spcPct val="100000"/>
              </a:lnSpc>
            </a:pPr>
            <a:r>
              <a:rPr lang="pt-BR" sz="1600" b="1" u="none" strike="noStrike">
                <a:solidFill>
                  <a:srgbClr val="2E6B4F"/>
                </a:solidFill>
                <a:effectLst/>
                <a:uFillTx/>
                <a:latin typeface="Arial"/>
                <a:ea typeface="Arial"/>
              </a:rPr>
              <a:t>A chegada do</a:t>
            </a:r>
            <a:br>
              <a:rPr sz="1600"/>
            </a:br>
            <a:r>
              <a:rPr lang="pt-BR" sz="1600" b="1" u="none" strike="noStrike">
                <a:solidFill>
                  <a:srgbClr val="2E6B4F"/>
                </a:solidFill>
                <a:effectLst/>
                <a:uFillTx/>
                <a:latin typeface="Arial"/>
                <a:ea typeface="Arial"/>
              </a:rPr>
              <a:t>USEFLORA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pt-BR" sz="1250" b="0" u="none" strike="noStrike">
                <a:solidFill>
                  <a:srgbClr val="5C554C"/>
                </a:solidFill>
                <a:effectLst/>
                <a:uFillTx/>
                <a:latin typeface="Arial"/>
                <a:ea typeface="Arial"/>
              </a:rPr>
              <a:t>Início da parceria e </a:t>
            </a:r>
            <a:br>
              <a:rPr sz="1250"/>
            </a:br>
            <a:r>
              <a:rPr lang="pt-BR" sz="1250" b="0" u="none" strike="noStrike">
                <a:solidFill>
                  <a:srgbClr val="5C554C"/>
                </a:solidFill>
                <a:effectLst/>
                <a:uFillTx/>
                <a:latin typeface="Arial"/>
                <a:ea typeface="Arial"/>
              </a:rPr>
              <a:t>acesso aos dados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Oval 172"/>
          <p:cNvSpPr/>
          <p:nvPr/>
        </p:nvSpPr>
        <p:spPr>
          <a:xfrm>
            <a:off x="5033160" y="5685840"/>
            <a:ext cx="163080" cy="163080"/>
          </a:xfrm>
          <a:prstGeom prst="ellipse">
            <a:avLst/>
          </a:prstGeom>
          <a:solidFill>
            <a:srgbClr val="B4542F"/>
          </a:solidFill>
          <a:ln w="19050">
            <a:solidFill>
              <a:srgbClr val="FAF6E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1720" tIns="45000" rIns="81720" bIns="45000" anchor="ctr">
            <a:noAutofit/>
          </a:bodyPr>
          <a:p>
            <a:endParaRPr lang="pt-BR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173"/>
          <p:cNvSpPr/>
          <p:nvPr/>
        </p:nvSpPr>
        <p:spPr>
          <a:xfrm>
            <a:off x="4305240" y="5989320"/>
            <a:ext cx="161892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pt-BR" sz="1350" b="1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dez/2025 · </a:t>
            </a:r>
            <a:r>
              <a:rPr lang="pt-BR" sz="1350" b="1" u="none" strike="noStrike">
                <a:solidFill>
                  <a:srgbClr val="B4542F"/>
                </a:solidFill>
                <a:effectLst/>
                <a:uFillTx/>
                <a:latin typeface="Arial"/>
                <a:ea typeface="Arial"/>
              </a:rPr>
              <a:t>v1.2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74"/>
          <p:cNvSpPr/>
          <p:nvPr/>
        </p:nvSpPr>
        <p:spPr>
          <a:xfrm>
            <a:off x="4305240" y="6355080"/>
            <a:ext cx="1618920" cy="11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pt-BR" sz="1600" b="1" u="none" strike="noStrike">
                <a:solidFill>
                  <a:srgbClr val="B4542F"/>
                </a:solidFill>
                <a:effectLst/>
                <a:uFillTx/>
                <a:latin typeface="Arial"/>
                <a:ea typeface="Arial"/>
              </a:rPr>
              <a:t>Primeiras ferramentas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pt-BR" sz="1250" b="0" u="none" strike="noStrike">
                <a:solidFill>
                  <a:srgbClr val="5C554C"/>
                </a:solidFill>
                <a:effectLst/>
                <a:uFillTx/>
                <a:latin typeface="Arial"/>
                <a:ea typeface="Arial"/>
              </a:rPr>
              <a:t>BioCultDB e a extração de artigos saem do papel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Oval 175"/>
          <p:cNvSpPr/>
          <p:nvPr/>
        </p:nvSpPr>
        <p:spPr>
          <a:xfrm>
            <a:off x="6677280" y="5685840"/>
            <a:ext cx="163080" cy="163080"/>
          </a:xfrm>
          <a:prstGeom prst="ellipse">
            <a:avLst/>
          </a:prstGeom>
          <a:solidFill>
            <a:srgbClr val="A8801F"/>
          </a:solidFill>
          <a:ln w="19050">
            <a:solidFill>
              <a:srgbClr val="FAF6E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1720" tIns="45000" rIns="81720" bIns="45000" anchor="ctr">
            <a:noAutofit/>
          </a:bodyPr>
          <a:p>
            <a:endParaRPr lang="pt-BR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176"/>
          <p:cNvSpPr/>
          <p:nvPr/>
        </p:nvSpPr>
        <p:spPr>
          <a:xfrm>
            <a:off x="5949360" y="5230440"/>
            <a:ext cx="161892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pt-BR" sz="1350" b="1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jun/2026 · </a:t>
            </a:r>
            <a:r>
              <a:rPr lang="pt-BR" sz="1350" b="1" u="none" strike="noStrike">
                <a:solidFill>
                  <a:srgbClr val="A8801F"/>
                </a:solidFill>
                <a:effectLst/>
                <a:uFillTx/>
                <a:latin typeface="Arial"/>
                <a:ea typeface="Arial"/>
              </a:rPr>
              <a:t>v2.0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77"/>
          <p:cNvSpPr/>
          <p:nvPr/>
        </p:nvSpPr>
        <p:spPr>
          <a:xfrm>
            <a:off x="5949360" y="3837960"/>
            <a:ext cx="1618920" cy="12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spAutoFit/>
          </a:bodyPr>
          <a:p>
            <a:pPr algn="ctr">
              <a:lnSpc>
                <a:spcPct val="100000"/>
              </a:lnSpc>
            </a:pPr>
            <a:r>
              <a:rPr lang="pt-BR" sz="1600" b="1" u="none" strike="noStrike">
                <a:solidFill>
                  <a:srgbClr val="A8801F"/>
                </a:solidFill>
                <a:effectLst/>
                <a:uFillTx/>
                <a:latin typeface="Arial"/>
                <a:ea typeface="Arial"/>
              </a:rPr>
              <a:t>A comunidade entra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pt-BR" sz="1250" b="0" u="none" strike="noStrike">
                <a:solidFill>
                  <a:srgbClr val="5C554C"/>
                </a:solidFill>
                <a:effectLst/>
                <a:uFillTx/>
                <a:latin typeface="Arial"/>
                <a:ea typeface="Arial"/>
              </a:rPr>
              <a:t>nasce o BioCultRelatos, com consentimento (CLPI) obrigatório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Oval 178"/>
          <p:cNvSpPr/>
          <p:nvPr/>
        </p:nvSpPr>
        <p:spPr>
          <a:xfrm>
            <a:off x="8321760" y="5685840"/>
            <a:ext cx="163080" cy="163080"/>
          </a:xfrm>
          <a:prstGeom prst="ellipse">
            <a:avLst/>
          </a:prstGeom>
          <a:solidFill>
            <a:srgbClr val="3D5A80"/>
          </a:solidFill>
          <a:ln w="19050">
            <a:solidFill>
              <a:srgbClr val="FAF6E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1720" tIns="45000" rIns="81720" bIns="45000" anchor="ctr">
            <a:noAutofit/>
          </a:bodyPr>
          <a:p>
            <a:endParaRPr lang="pt-BR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79"/>
          <p:cNvSpPr/>
          <p:nvPr/>
        </p:nvSpPr>
        <p:spPr>
          <a:xfrm>
            <a:off x="7593840" y="5989320"/>
            <a:ext cx="161892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pt-BR" sz="1350" b="1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jun/2026 · </a:t>
            </a:r>
            <a:r>
              <a:rPr lang="pt-BR" sz="1350" b="1" u="none" strike="noStrike">
                <a:solidFill>
                  <a:srgbClr val="3D5A80"/>
                </a:solidFill>
                <a:effectLst/>
                <a:uFillTx/>
                <a:latin typeface="Arial"/>
                <a:ea typeface="Arial"/>
              </a:rPr>
              <a:t>v3.0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80"/>
          <p:cNvSpPr/>
          <p:nvPr/>
        </p:nvSpPr>
        <p:spPr>
          <a:xfrm>
            <a:off x="7593840" y="6355080"/>
            <a:ext cx="1618920" cy="11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pt-BR" sz="1600" b="1" u="none" strike="noStrike">
                <a:solidFill>
                  <a:srgbClr val="3D5A80"/>
                </a:solidFill>
                <a:effectLst/>
                <a:uFillTx/>
                <a:latin typeface="Arial"/>
                <a:ea typeface="Arial"/>
              </a:rPr>
              <a:t>A virada federada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pt-BR" sz="1250" b="0" u="none" strike="noStrike">
                <a:solidFill>
                  <a:srgbClr val="5C554C"/>
                </a:solidFill>
                <a:effectLst/>
                <a:uFillTx/>
                <a:latin typeface="Arial"/>
                <a:ea typeface="Arial"/>
              </a:rPr>
              <a:t>Cada participante soberano; nasce o Pluriverso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Oval 181"/>
          <p:cNvSpPr/>
          <p:nvPr/>
        </p:nvSpPr>
        <p:spPr>
          <a:xfrm>
            <a:off x="9965880" y="5685840"/>
            <a:ext cx="163080" cy="163080"/>
          </a:xfrm>
          <a:prstGeom prst="ellipse">
            <a:avLst/>
          </a:prstGeom>
          <a:solidFill>
            <a:srgbClr val="2E6B4F"/>
          </a:solidFill>
          <a:ln w="19050">
            <a:solidFill>
              <a:srgbClr val="FAF6E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1720" tIns="45000" rIns="81720" bIns="45000" anchor="ctr">
            <a:noAutofit/>
          </a:bodyPr>
          <a:p>
            <a:endParaRPr lang="pt-BR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182"/>
          <p:cNvSpPr/>
          <p:nvPr/>
        </p:nvSpPr>
        <p:spPr>
          <a:xfrm>
            <a:off x="9237960" y="5230440"/>
            <a:ext cx="161892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pt-BR" sz="1350" b="1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jul/2026 · </a:t>
            </a:r>
            <a:r>
              <a:rPr lang="pt-BR" sz="1350" b="1" u="none" strike="noStrike">
                <a:solidFill>
                  <a:srgbClr val="2E6B4F"/>
                </a:solidFill>
                <a:effectLst/>
                <a:uFillTx/>
                <a:latin typeface="Arial"/>
                <a:ea typeface="Arial"/>
              </a:rPr>
              <a:t>v3.1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83"/>
          <p:cNvSpPr/>
          <p:nvPr/>
        </p:nvSpPr>
        <p:spPr>
          <a:xfrm>
            <a:off x="9237960" y="4028400"/>
            <a:ext cx="1618920" cy="11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spAutoFit/>
          </a:bodyPr>
          <a:p>
            <a:pPr algn="ctr">
              <a:lnSpc>
                <a:spcPct val="100000"/>
              </a:lnSpc>
            </a:pPr>
            <a:r>
              <a:rPr lang="pt-BR" sz="1600" b="1" u="none" strike="noStrike">
                <a:solidFill>
                  <a:srgbClr val="2E6B4F"/>
                </a:solidFill>
                <a:effectLst/>
                <a:uFillTx/>
                <a:latin typeface="Arial"/>
                <a:ea typeface="Arial"/>
              </a:rPr>
              <a:t>O dado mora em casa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pt-BR" sz="1250" b="0" u="none" strike="noStrike">
                <a:solidFill>
                  <a:srgbClr val="5C554C"/>
                </a:solidFill>
                <a:effectLst/>
                <a:uFillTx/>
                <a:latin typeface="Arial"/>
                <a:ea typeface="Arial"/>
              </a:rPr>
              <a:t>Um arquivo próprio por unidade, sem banco central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Oval 184"/>
          <p:cNvSpPr/>
          <p:nvPr/>
        </p:nvSpPr>
        <p:spPr>
          <a:xfrm>
            <a:off x="11610360" y="5685840"/>
            <a:ext cx="163080" cy="163080"/>
          </a:xfrm>
          <a:prstGeom prst="ellipse">
            <a:avLst/>
          </a:prstGeom>
          <a:solidFill>
            <a:srgbClr val="B4542F"/>
          </a:solidFill>
          <a:ln w="19050">
            <a:solidFill>
              <a:srgbClr val="FAF6E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1720" tIns="45000" rIns="81720" bIns="45000" anchor="ctr">
            <a:noAutofit/>
          </a:bodyPr>
          <a:p>
            <a:endParaRPr lang="pt-BR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185"/>
          <p:cNvSpPr/>
          <p:nvPr/>
        </p:nvSpPr>
        <p:spPr>
          <a:xfrm>
            <a:off x="10882440" y="5989320"/>
            <a:ext cx="161892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pt-BR" sz="1350" b="1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jul/2026 · </a:t>
            </a:r>
            <a:r>
              <a:rPr lang="pt-BR" sz="1350" b="1" u="none" strike="noStrike">
                <a:solidFill>
                  <a:srgbClr val="B4542F"/>
                </a:solidFill>
                <a:effectLst/>
                <a:uFillTx/>
                <a:latin typeface="Arial"/>
                <a:ea typeface="Arial"/>
              </a:rPr>
              <a:t>v3.2–3.3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186"/>
          <p:cNvSpPr/>
          <p:nvPr/>
        </p:nvSpPr>
        <p:spPr>
          <a:xfrm>
            <a:off x="10882440" y="6355080"/>
            <a:ext cx="1618920" cy="10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pt-BR" sz="1600" b="1" u="none" strike="noStrike">
                <a:solidFill>
                  <a:srgbClr val="B4542F"/>
                </a:solidFill>
                <a:effectLst/>
                <a:uFillTx/>
                <a:latin typeface="Arial"/>
                <a:ea typeface="Arial"/>
              </a:rPr>
              <a:t>Quatro fontes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pt-BR" sz="1250" b="0" u="none" strike="noStrike">
                <a:solidFill>
                  <a:srgbClr val="5C554C"/>
                </a:solidFill>
                <a:effectLst/>
                <a:uFillTx/>
                <a:latin typeface="Arial"/>
                <a:ea typeface="Arial"/>
              </a:rPr>
              <a:t>Entram acervos, museus e naturalistas; Pluriverso em várias instâncias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Oval 187"/>
          <p:cNvSpPr/>
          <p:nvPr/>
        </p:nvSpPr>
        <p:spPr>
          <a:xfrm>
            <a:off x="13254480" y="5685840"/>
            <a:ext cx="163080" cy="163080"/>
          </a:xfrm>
          <a:prstGeom prst="ellipse">
            <a:avLst/>
          </a:prstGeom>
          <a:solidFill>
            <a:srgbClr val="A8801F"/>
          </a:solidFill>
          <a:ln w="19050">
            <a:solidFill>
              <a:srgbClr val="FAF6E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1720" tIns="45000" rIns="81720" bIns="45000" anchor="ctr">
            <a:noAutofit/>
          </a:bodyPr>
          <a:p>
            <a:endParaRPr lang="pt-BR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188"/>
          <p:cNvSpPr/>
          <p:nvPr/>
        </p:nvSpPr>
        <p:spPr>
          <a:xfrm>
            <a:off x="12526560" y="5230440"/>
            <a:ext cx="161892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pt-BR" sz="1350" b="1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ago/2026 · </a:t>
            </a:r>
            <a:r>
              <a:rPr lang="pt-BR" sz="1350" b="1" u="none" strike="noStrike">
                <a:solidFill>
                  <a:srgbClr val="A8801F"/>
                </a:solidFill>
                <a:effectLst/>
                <a:uFillTx/>
                <a:latin typeface="Arial"/>
                <a:ea typeface="Arial"/>
              </a:rPr>
              <a:t>v3.4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189"/>
          <p:cNvSpPr/>
          <p:nvPr/>
        </p:nvSpPr>
        <p:spPr>
          <a:xfrm>
            <a:off x="12526560" y="4272120"/>
            <a:ext cx="1618920" cy="8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spAutoFit/>
          </a:bodyPr>
          <a:p>
            <a:pPr algn="ctr">
              <a:lnSpc>
                <a:spcPct val="100000"/>
              </a:lnSpc>
            </a:pPr>
            <a:r>
              <a:rPr lang="pt-BR" sz="1600" b="1" u="none" strike="noStrike">
                <a:solidFill>
                  <a:srgbClr val="A8801F"/>
                </a:solidFill>
                <a:effectLst/>
                <a:uFillTx/>
                <a:latin typeface="Arial"/>
                <a:ea typeface="Arial"/>
              </a:rPr>
              <a:t>Regras escritas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pt-BR" sz="1250" b="0" u="none" strike="noStrike">
                <a:solidFill>
                  <a:srgbClr val="5C554C"/>
                </a:solidFill>
                <a:effectLst/>
                <a:uFillTx/>
                <a:latin typeface="Arial"/>
                <a:ea typeface="Arial"/>
              </a:rPr>
              <a:t>Governança em três camadas: quem decide o quê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Oval 190"/>
          <p:cNvSpPr/>
          <p:nvPr/>
        </p:nvSpPr>
        <p:spPr>
          <a:xfrm>
            <a:off x="14898960" y="5685840"/>
            <a:ext cx="163080" cy="163080"/>
          </a:xfrm>
          <a:prstGeom prst="ellipse">
            <a:avLst/>
          </a:prstGeom>
          <a:solidFill>
            <a:srgbClr val="3D5A80"/>
          </a:solidFill>
          <a:ln w="19050">
            <a:solidFill>
              <a:srgbClr val="FAF6E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1720" tIns="45000" rIns="81720" bIns="45000" anchor="ctr">
            <a:noAutofit/>
          </a:bodyPr>
          <a:p>
            <a:endParaRPr lang="pt-BR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191"/>
          <p:cNvSpPr/>
          <p:nvPr/>
        </p:nvSpPr>
        <p:spPr>
          <a:xfrm>
            <a:off x="14171040" y="5989320"/>
            <a:ext cx="161892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pt-BR" sz="1350" b="1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ago/2026 · </a:t>
            </a:r>
            <a:r>
              <a:rPr lang="pt-BR" sz="1350" b="1" u="none" strike="noStrike">
                <a:solidFill>
                  <a:srgbClr val="3D5A80"/>
                </a:solidFill>
                <a:effectLst/>
                <a:uFillTx/>
                <a:latin typeface="Arial"/>
                <a:ea typeface="Arial"/>
              </a:rPr>
              <a:t>v3.5–3.6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192"/>
          <p:cNvSpPr/>
          <p:nvPr/>
        </p:nvSpPr>
        <p:spPr>
          <a:xfrm>
            <a:off x="14171040" y="6355080"/>
            <a:ext cx="1618920" cy="10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pt-BR" sz="1600" b="1" u="none" strike="noStrike">
                <a:solidFill>
                  <a:srgbClr val="3D5A80"/>
                </a:solidFill>
                <a:effectLst/>
                <a:uFillTx/>
                <a:latin typeface="Arial"/>
                <a:ea typeface="Arial"/>
              </a:rPr>
              <a:t>Simplificação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pt-BR" sz="1250" b="0" u="none" strike="noStrike">
                <a:solidFill>
                  <a:srgbClr val="5C554C"/>
                </a:solidFill>
                <a:effectLst/>
                <a:uFillTx/>
                <a:latin typeface="Arial"/>
                <a:ea typeface="Arial"/>
              </a:rPr>
              <a:t>Extração por IA dentro do BioCultDB; BioCultTermos integrado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Oval 193"/>
          <p:cNvSpPr/>
          <p:nvPr/>
        </p:nvSpPr>
        <p:spPr>
          <a:xfrm>
            <a:off x="16543080" y="5685840"/>
            <a:ext cx="163080" cy="163080"/>
          </a:xfrm>
          <a:prstGeom prst="ellipse">
            <a:avLst/>
          </a:prstGeom>
          <a:solidFill>
            <a:srgbClr val="2E6B4F"/>
          </a:solidFill>
          <a:ln w="19050">
            <a:solidFill>
              <a:srgbClr val="FAF6E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1720" tIns="45000" rIns="81720" bIns="45000" anchor="ctr">
            <a:noAutofit/>
          </a:bodyPr>
          <a:p>
            <a:endParaRPr lang="pt-BR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194"/>
          <p:cNvSpPr/>
          <p:nvPr/>
        </p:nvSpPr>
        <p:spPr>
          <a:xfrm>
            <a:off x="15815160" y="5230440"/>
            <a:ext cx="161892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pt-BR" sz="1350" b="1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ago/2026 · </a:t>
            </a:r>
            <a:r>
              <a:rPr lang="pt-BR" sz="1350" b="1" u="none" strike="noStrike">
                <a:solidFill>
                  <a:srgbClr val="2E6B4F"/>
                </a:solidFill>
                <a:effectLst/>
                <a:uFillTx/>
                <a:latin typeface="Arial"/>
                <a:ea typeface="Arial"/>
              </a:rPr>
              <a:t>v3.7–3.9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195"/>
          <p:cNvSpPr/>
          <p:nvPr/>
        </p:nvSpPr>
        <p:spPr>
          <a:xfrm>
            <a:off x="15815160" y="3647520"/>
            <a:ext cx="1618920" cy="14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spAutoFit/>
          </a:bodyPr>
          <a:p>
            <a:pPr algn="ctr">
              <a:lnSpc>
                <a:spcPct val="100000"/>
              </a:lnSpc>
            </a:pPr>
            <a:r>
              <a:rPr lang="pt-BR" sz="1600" b="1" u="none" strike="noStrike">
                <a:solidFill>
                  <a:srgbClr val="2E6B4F"/>
                </a:solidFill>
                <a:effectLst/>
                <a:uFillTx/>
                <a:latin typeface="Arial"/>
                <a:ea typeface="Arial"/>
              </a:rPr>
              <a:t>Conhecimento ≠ evidência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pt-BR" sz="1250" b="0" u="none" strike="noStrike">
                <a:solidFill>
                  <a:srgbClr val="5C554C"/>
                </a:solidFill>
                <a:effectLst/>
                <a:uFillTx/>
                <a:latin typeface="Arial"/>
                <a:ea typeface="Arial"/>
              </a:rPr>
              <a:t>O Relato, o consentimento como processo, as gravações e as oficinas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Oval 200"/>
          <p:cNvSpPr/>
          <p:nvPr/>
        </p:nvSpPr>
        <p:spPr>
          <a:xfrm>
            <a:off x="1744560" y="5685840"/>
            <a:ext cx="163080" cy="163080"/>
          </a:xfrm>
          <a:prstGeom prst="ellipse">
            <a:avLst/>
          </a:prstGeom>
          <a:solidFill>
            <a:srgbClr val="B4542F"/>
          </a:solidFill>
          <a:ln w="19050">
            <a:solidFill>
              <a:srgbClr val="FAF6E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1720" tIns="45000" rIns="81720" bIns="45000" anchor="ctr">
            <a:noAutofit/>
          </a:bodyPr>
          <a:p>
            <a:endParaRPr lang="pt-BR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201"/>
          <p:cNvSpPr/>
          <p:nvPr/>
        </p:nvSpPr>
        <p:spPr>
          <a:xfrm>
            <a:off x="1016640" y="5989320"/>
            <a:ext cx="161892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pt-BR" sz="1350" b="1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jan/2024 · v0.1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202"/>
          <p:cNvSpPr/>
          <p:nvPr/>
        </p:nvSpPr>
        <p:spPr>
          <a:xfrm>
            <a:off x="1016640" y="6355080"/>
            <a:ext cx="1618920" cy="13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pt-BR" sz="1600" b="1" u="none" strike="noStrike">
                <a:solidFill>
                  <a:srgbClr val="B4542F"/>
                </a:solidFill>
                <a:effectLst/>
                <a:uFillTx/>
                <a:latin typeface="Arial"/>
                <a:ea typeface="Arial"/>
              </a:rPr>
              <a:t>Base de Dados de Plantas Medicinais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pt-BR" sz="1250" b="0" u="none" strike="noStrike">
                <a:solidFill>
                  <a:srgbClr val="5C554C"/>
                </a:solidFill>
                <a:effectLst/>
                <a:uFillTx/>
                <a:latin typeface="Arial"/>
                <a:ea typeface="Arial"/>
              </a:rPr>
              <a:t>Dra. Viviane Fonseca · gitserver.jbrj.gov.br/edalcin/bdmedicinais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622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74;p21"/>
          <p:cNvSpPr/>
          <p:nvPr/>
        </p:nvSpPr>
        <p:spPr>
          <a:xfrm>
            <a:off x="1342800" y="4986360"/>
            <a:ext cx="756936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94000"/>
              </a:lnSpc>
              <a:tabLst>
                <a:tab pos="0" algn="l"/>
              </a:tabLst>
            </a:pPr>
            <a:r>
              <a:rPr lang="en-US" sz="5400" b="0" u="none" strike="noStrike">
                <a:solidFill>
                  <a:srgbClr val="FAF6EF"/>
                </a:solidFill>
                <a:effectLst/>
                <a:uFillTx/>
                <a:latin typeface="Arial"/>
                <a:ea typeface="Arial"/>
              </a:rPr>
              <a:t>Princípios que guiam tudo</a:t>
            </a:r>
            <a:endParaRPr lang="pt-BR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80;p22"/>
          <p:cNvSpPr/>
          <p:nvPr/>
        </p:nvSpPr>
        <p:spPr>
          <a:xfrm>
            <a:off x="1342800" y="1552680"/>
            <a:ext cx="1712952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94000"/>
              </a:lnSpc>
              <a:tabLst>
                <a:tab pos="0" algn="l"/>
              </a:tabLst>
            </a:pPr>
            <a:r>
              <a:rPr lang="en-US" sz="54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Quatro princípios, sempre</a:t>
            </a:r>
            <a:endParaRPr lang="pt-BR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181;p22"/>
          <p:cNvSpPr/>
          <p:nvPr/>
        </p:nvSpPr>
        <p:spPr>
          <a:xfrm>
            <a:off x="1371600" y="3676680"/>
            <a:ext cx="804528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94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Benefício coletivo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182;p22"/>
          <p:cNvSpPr/>
          <p:nvPr/>
        </p:nvSpPr>
        <p:spPr>
          <a:xfrm>
            <a:off x="1371600" y="4257720"/>
            <a:ext cx="7533360" cy="7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151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Os dados devem beneficiar, antes de tudo, as comunidades que os originaram — nunca terceiros.</a:t>
            </a:r>
            <a:endParaRPr lang="pt-B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Google Shape;183;p22"/>
          <p:cNvSpPr/>
          <p:nvPr/>
        </p:nvSpPr>
        <p:spPr>
          <a:xfrm>
            <a:off x="9601200" y="3676680"/>
            <a:ext cx="804528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94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Autoridade para decidir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Google Shape;184;p22"/>
          <p:cNvSpPr/>
          <p:nvPr/>
        </p:nvSpPr>
        <p:spPr>
          <a:xfrm>
            <a:off x="9601200" y="4257720"/>
            <a:ext cx="7533360" cy="12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151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Cada comunidade mantém o controle sobre seu próprio conhecimento: o que registrar, o que publicar, o que retirar.</a:t>
            </a:r>
            <a:endParaRPr lang="pt-B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Google Shape;185;p22"/>
          <p:cNvSpPr/>
          <p:nvPr/>
        </p:nvSpPr>
        <p:spPr>
          <a:xfrm>
            <a:off x="1371600" y="6648480"/>
            <a:ext cx="804528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94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Responsabilidade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Google Shape;186;p22"/>
          <p:cNvSpPr/>
          <p:nvPr/>
        </p:nvSpPr>
        <p:spPr>
          <a:xfrm>
            <a:off x="1371600" y="7229520"/>
            <a:ext cx="7533360" cy="7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151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Quem lida com esses dados responde por como os trata, protege e compartilha.</a:t>
            </a:r>
            <a:endParaRPr lang="pt-B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Google Shape;187;p22"/>
          <p:cNvSpPr/>
          <p:nvPr/>
        </p:nvSpPr>
        <p:spPr>
          <a:xfrm>
            <a:off x="9601200" y="6648480"/>
            <a:ext cx="804528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94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Ética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Google Shape;188;p22"/>
          <p:cNvSpPr/>
          <p:nvPr/>
        </p:nvSpPr>
        <p:spPr>
          <a:xfrm>
            <a:off x="9601200" y="7229520"/>
            <a:ext cx="7533360" cy="7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151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Respeito às práticas, aos valores e à cultura de cada comunidade, sempre.</a:t>
            </a:r>
            <a:endParaRPr lang="pt-B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94;p23"/>
          <p:cNvSpPr/>
          <p:nvPr/>
        </p:nvSpPr>
        <p:spPr>
          <a:xfrm>
            <a:off x="1342800" y="1552680"/>
            <a:ext cx="1712952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94000"/>
              </a:lnSpc>
              <a:tabLst>
                <a:tab pos="0" algn="l"/>
              </a:tabLst>
            </a:pPr>
            <a:r>
              <a:rPr lang="en-US" sz="54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Quem decide o quê</a:t>
            </a:r>
            <a:endParaRPr lang="pt-BR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Google Shape;195;p23"/>
          <p:cNvSpPr/>
          <p:nvPr/>
        </p:nvSpPr>
        <p:spPr>
          <a:xfrm>
            <a:off x="1371600" y="4444200"/>
            <a:ext cx="2005560" cy="7920"/>
          </a:xfrm>
          <a:prstGeom prst="rect">
            <a:avLst/>
          </a:prstGeom>
          <a:solidFill>
            <a:srgbClr val="201F1D">
              <a:alpha val="1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960" rIns="90000" bIns="396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Google Shape;196;p23"/>
          <p:cNvSpPr/>
          <p:nvPr/>
        </p:nvSpPr>
        <p:spPr>
          <a:xfrm>
            <a:off x="1371600" y="3875760"/>
            <a:ext cx="1815120" cy="1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>
              <a:lnSpc>
                <a:spcPct val="136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0201C"/>
                </a:solidFill>
                <a:effectLst/>
                <a:uFillTx/>
                <a:latin typeface="Arial"/>
                <a:ea typeface="Arial"/>
              </a:rPr>
              <a:t>CAMADA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Google Shape;197;p23"/>
          <p:cNvSpPr/>
          <p:nvPr/>
        </p:nvSpPr>
        <p:spPr>
          <a:xfrm>
            <a:off x="3378600" y="4444200"/>
            <a:ext cx="5969520" cy="7920"/>
          </a:xfrm>
          <a:prstGeom prst="rect">
            <a:avLst/>
          </a:prstGeom>
          <a:solidFill>
            <a:srgbClr val="201F1D">
              <a:alpha val="1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960" rIns="90000" bIns="396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Google Shape;198;p23"/>
          <p:cNvSpPr/>
          <p:nvPr/>
        </p:nvSpPr>
        <p:spPr>
          <a:xfrm>
            <a:off x="3645360" y="3875760"/>
            <a:ext cx="5615280" cy="1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>
              <a:lnSpc>
                <a:spcPct val="136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0201C"/>
                </a:solidFill>
                <a:effectLst/>
                <a:uFillTx/>
                <a:latin typeface="Arial"/>
                <a:ea typeface="Arial"/>
              </a:rPr>
              <a:t>QUEM DECIDE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199;p23"/>
          <p:cNvSpPr/>
          <p:nvPr/>
        </p:nvSpPr>
        <p:spPr>
          <a:xfrm>
            <a:off x="9349920" y="4444200"/>
            <a:ext cx="7565400" cy="7920"/>
          </a:xfrm>
          <a:prstGeom prst="rect">
            <a:avLst/>
          </a:prstGeom>
          <a:solidFill>
            <a:srgbClr val="201F1D">
              <a:alpha val="1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960" rIns="90000" bIns="396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200;p23"/>
          <p:cNvSpPr/>
          <p:nvPr/>
        </p:nvSpPr>
        <p:spPr>
          <a:xfrm>
            <a:off x="9616320" y="3875760"/>
            <a:ext cx="7258680" cy="1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>
              <a:lnSpc>
                <a:spcPct val="136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0201C"/>
                </a:solidFill>
                <a:effectLst/>
                <a:uFillTx/>
                <a:latin typeface="Arial"/>
                <a:ea typeface="Arial"/>
              </a:rPr>
              <a:t>SOBRE O QUÊ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201;p23"/>
          <p:cNvSpPr/>
          <p:nvPr/>
        </p:nvSpPr>
        <p:spPr>
          <a:xfrm>
            <a:off x="1371600" y="5433120"/>
            <a:ext cx="2005560" cy="7920"/>
          </a:xfrm>
          <a:prstGeom prst="rect">
            <a:avLst/>
          </a:prstGeom>
          <a:solidFill>
            <a:srgbClr val="201F1D">
              <a:alpha val="1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960" rIns="90000" bIns="396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202;p23"/>
          <p:cNvSpPr/>
          <p:nvPr/>
        </p:nvSpPr>
        <p:spPr>
          <a:xfrm>
            <a:off x="1371600" y="4842360"/>
            <a:ext cx="181512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>
              <a:lnSpc>
                <a:spcPct val="135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Dados</a:t>
            </a:r>
            <a:endParaRPr lang="pt-B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203;p23"/>
          <p:cNvSpPr/>
          <p:nvPr/>
        </p:nvSpPr>
        <p:spPr>
          <a:xfrm>
            <a:off x="3378600" y="5433120"/>
            <a:ext cx="5969520" cy="7920"/>
          </a:xfrm>
          <a:prstGeom prst="rect">
            <a:avLst/>
          </a:prstGeom>
          <a:solidFill>
            <a:srgbClr val="201F1D">
              <a:alpha val="1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960" rIns="90000" bIns="396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204;p23"/>
          <p:cNvSpPr/>
          <p:nvPr/>
        </p:nvSpPr>
        <p:spPr>
          <a:xfrm>
            <a:off x="3645360" y="4842360"/>
            <a:ext cx="561528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>
              <a:lnSpc>
                <a:spcPct val="135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A própria comunidade</a:t>
            </a:r>
            <a:endParaRPr lang="pt-B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205;p23"/>
          <p:cNvSpPr/>
          <p:nvPr/>
        </p:nvSpPr>
        <p:spPr>
          <a:xfrm>
            <a:off x="9349920" y="5433120"/>
            <a:ext cx="7565400" cy="7920"/>
          </a:xfrm>
          <a:prstGeom prst="rect">
            <a:avLst/>
          </a:prstGeom>
          <a:solidFill>
            <a:srgbClr val="201F1D">
              <a:alpha val="1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960" rIns="90000" bIns="396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Google Shape;206;p23"/>
          <p:cNvSpPr/>
          <p:nvPr/>
        </p:nvSpPr>
        <p:spPr>
          <a:xfrm>
            <a:off x="9616320" y="4842360"/>
            <a:ext cx="725868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>
              <a:lnSpc>
                <a:spcPct val="135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o que se registra, o que se publica, o que se retira</a:t>
            </a:r>
            <a:endParaRPr lang="pt-B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Google Shape;207;p23"/>
          <p:cNvSpPr/>
          <p:nvPr/>
        </p:nvSpPr>
        <p:spPr>
          <a:xfrm>
            <a:off x="1371600" y="6421680"/>
            <a:ext cx="2005560" cy="7920"/>
          </a:xfrm>
          <a:prstGeom prst="rect">
            <a:avLst/>
          </a:prstGeom>
          <a:solidFill>
            <a:srgbClr val="201F1D">
              <a:alpha val="1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960" rIns="90000" bIns="396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Google Shape;208;p23"/>
          <p:cNvSpPr/>
          <p:nvPr/>
        </p:nvSpPr>
        <p:spPr>
          <a:xfrm>
            <a:off x="1371600" y="5830920"/>
            <a:ext cx="181512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>
              <a:lnSpc>
                <a:spcPct val="135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Ferramentas</a:t>
            </a:r>
            <a:endParaRPr lang="pt-B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Google Shape;209;p23"/>
          <p:cNvSpPr/>
          <p:nvPr/>
        </p:nvSpPr>
        <p:spPr>
          <a:xfrm>
            <a:off x="3378600" y="6421680"/>
            <a:ext cx="5969520" cy="7920"/>
          </a:xfrm>
          <a:prstGeom prst="rect">
            <a:avLst/>
          </a:prstGeom>
          <a:solidFill>
            <a:srgbClr val="201F1D">
              <a:alpha val="1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960" rIns="90000" bIns="396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Google Shape;210;p23"/>
          <p:cNvSpPr/>
          <p:nvPr/>
        </p:nvSpPr>
        <p:spPr>
          <a:xfrm>
            <a:off x="3645360" y="5830920"/>
            <a:ext cx="561528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>
              <a:lnSpc>
                <a:spcPct val="135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Quem mantém cada sistema</a:t>
            </a:r>
            <a:endParaRPr lang="pt-B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Google Shape;211;p23"/>
          <p:cNvSpPr/>
          <p:nvPr/>
        </p:nvSpPr>
        <p:spPr>
          <a:xfrm>
            <a:off x="9349920" y="6421680"/>
            <a:ext cx="7565400" cy="7920"/>
          </a:xfrm>
          <a:prstGeom prst="rect">
            <a:avLst/>
          </a:prstGeom>
          <a:solidFill>
            <a:srgbClr val="201F1D">
              <a:alpha val="1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960" rIns="90000" bIns="396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Google Shape;212;p23"/>
          <p:cNvSpPr/>
          <p:nvPr/>
        </p:nvSpPr>
        <p:spPr>
          <a:xfrm>
            <a:off x="9616320" y="5830920"/>
            <a:ext cx="725868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>
              <a:lnSpc>
                <a:spcPct val="135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atualizações, cópias de segurança, proteção</a:t>
            </a:r>
            <a:endParaRPr lang="pt-B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Google Shape;213;p23"/>
          <p:cNvSpPr/>
          <p:nvPr/>
        </p:nvSpPr>
        <p:spPr>
          <a:xfrm>
            <a:off x="1371600" y="7410240"/>
            <a:ext cx="2005560" cy="7920"/>
          </a:xfrm>
          <a:prstGeom prst="rect">
            <a:avLst/>
          </a:prstGeom>
          <a:solidFill>
            <a:srgbClr val="201F1D">
              <a:alpha val="1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960" rIns="90000" bIns="396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Google Shape;214;p23"/>
          <p:cNvSpPr/>
          <p:nvPr/>
        </p:nvSpPr>
        <p:spPr>
          <a:xfrm>
            <a:off x="1371600" y="6819840"/>
            <a:ext cx="181512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>
              <a:lnSpc>
                <a:spcPct val="135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Arquitetura</a:t>
            </a:r>
            <a:endParaRPr lang="pt-B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Google Shape;215;p23"/>
          <p:cNvSpPr/>
          <p:nvPr/>
        </p:nvSpPr>
        <p:spPr>
          <a:xfrm>
            <a:off x="3378600" y="7410240"/>
            <a:ext cx="5969520" cy="7920"/>
          </a:xfrm>
          <a:prstGeom prst="rect">
            <a:avLst/>
          </a:prstGeom>
          <a:solidFill>
            <a:srgbClr val="201F1D">
              <a:alpha val="1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960" rIns="90000" bIns="396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Google Shape;216;p23"/>
          <p:cNvSpPr/>
          <p:nvPr/>
        </p:nvSpPr>
        <p:spPr>
          <a:xfrm>
            <a:off x="3645360" y="6819840"/>
            <a:ext cx="561528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>
              <a:lnSpc>
                <a:spcPct val="135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Um comitê com todos os participantes</a:t>
            </a:r>
            <a:endParaRPr lang="pt-B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Google Shape;217;p23"/>
          <p:cNvSpPr/>
          <p:nvPr/>
        </p:nvSpPr>
        <p:spPr>
          <a:xfrm>
            <a:off x="9349920" y="7410240"/>
            <a:ext cx="7565400" cy="7920"/>
          </a:xfrm>
          <a:prstGeom prst="rect">
            <a:avLst/>
          </a:prstGeom>
          <a:solidFill>
            <a:srgbClr val="201F1D">
              <a:alpha val="1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960" rIns="90000" bIns="3960" anchor="ctr">
            <a:noAutofit/>
          </a:bodyPr>
          <a:p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Google Shape;218;p23"/>
          <p:cNvSpPr/>
          <p:nvPr/>
        </p:nvSpPr>
        <p:spPr>
          <a:xfrm>
            <a:off x="9616320" y="6819840"/>
            <a:ext cx="725868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>
              <a:lnSpc>
                <a:spcPct val="135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as regras gerais e quem pode entrar na federação</a:t>
            </a:r>
            <a:endParaRPr lang="pt-B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Google Shape;219;p23"/>
          <p:cNvSpPr/>
          <p:nvPr/>
        </p:nvSpPr>
        <p:spPr>
          <a:xfrm>
            <a:off x="1371600" y="8238960"/>
            <a:ext cx="14714640" cy="70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175000"/>
              </a:lnSpc>
              <a:tabLst>
                <a:tab pos="0" algn="l"/>
              </a:tabLst>
            </a:pPr>
            <a:r>
              <a:rPr lang="en-US" sz="195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Isso não é só uma boa prática — é também respaldado por lei: a Lei da Biodiversidade e o Protocolo de Nagoya exigem consentimento e retorno de benefícios sempre que o conhecimento tradicional for usado.</a:t>
            </a:r>
            <a:endParaRPr lang="pt-BR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225;p24"/>
          <p:cNvPicPr/>
          <p:nvPr/>
        </p:nvPicPr>
        <p:blipFill>
          <a:blip r:embed="rId1"/>
          <a:stretch/>
        </p:blipFill>
        <p:spPr>
          <a:xfrm>
            <a:off x="572760" y="0"/>
            <a:ext cx="17140680" cy="10285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231;p25"/>
          <p:cNvPicPr/>
          <p:nvPr/>
        </p:nvPicPr>
        <p:blipFill>
          <a:blip r:embed="rId1"/>
          <a:stretch/>
        </p:blipFill>
        <p:spPr>
          <a:xfrm>
            <a:off x="1798200" y="0"/>
            <a:ext cx="14690160" cy="10285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63;p7"/>
          <p:cNvSpPr/>
          <p:nvPr/>
        </p:nvSpPr>
        <p:spPr>
          <a:xfrm>
            <a:off x="1342800" y="1552680"/>
            <a:ext cx="1712952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94000"/>
              </a:lnSpc>
              <a:tabLst>
                <a:tab pos="0" algn="l"/>
              </a:tabLst>
            </a:pPr>
            <a:r>
              <a:rPr lang="en-US" sz="54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Conhecimento e evidência não são a mesma coisa</a:t>
            </a:r>
            <a:endParaRPr lang="pt-BR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Google Shape;64;p7"/>
          <p:cNvSpPr/>
          <p:nvPr/>
        </p:nvSpPr>
        <p:spPr>
          <a:xfrm>
            <a:off x="1371600" y="3676680"/>
            <a:ext cx="800352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94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Evidência: contada por outros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Google Shape;65;p7"/>
          <p:cNvSpPr/>
          <p:nvPr/>
        </p:nvSpPr>
        <p:spPr>
          <a:xfrm>
            <a:off x="1371600" y="4257720"/>
            <a:ext cx="7494120" cy="17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 algn="just">
              <a:lnSpc>
                <a:spcPct val="151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Quando um pesquisador, um museu ou um livro de trezentos anos registra que uma comunidade usa certa planta, quem está falando é quem registrou. É um testemunho de terceiro. Tem valor, e muita coisa só sobreviveu assim — mas a autoridade sobre aquele registro é de quem o guarda.</a:t>
            </a:r>
            <a:endParaRPr lang="pt-B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Google Shape;66;p7"/>
          <p:cNvSpPr/>
          <p:nvPr/>
        </p:nvSpPr>
        <p:spPr>
          <a:xfrm>
            <a:off x="9639360" y="3676680"/>
            <a:ext cx="800352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94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Conhecimento: dito por vocês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Google Shape;67;p7"/>
          <p:cNvSpPr/>
          <p:nvPr/>
        </p:nvSpPr>
        <p:spPr>
          <a:xfrm>
            <a:off x="9639360" y="4257720"/>
            <a:ext cx="7494120" cy="221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 algn="just">
              <a:lnSpc>
                <a:spcPct val="151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Quando é a própria comunidade que diz, na sua língua, o que sabe e de quem aprendeu, isso é outra coisa. Não vale mais nem menos: tem outro dono. E é esse dono — a comunidade — que decide o que pode ser publicado, o que fica reservado e o que se retira depois.</a:t>
            </a:r>
            <a:endParaRPr lang="pt-B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6" name="Picture 67" descr="image.png"/>
          <p:cNvPicPr/>
          <p:nvPr/>
        </p:nvPicPr>
        <p:blipFill>
          <a:blip r:embed="rId1"/>
          <a:stretch/>
        </p:blipFill>
        <p:spPr>
          <a:xfrm>
            <a:off x="1371600" y="9745920"/>
            <a:ext cx="2840040" cy="15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Google Shape;65;p7"/>
          <p:cNvSpPr/>
          <p:nvPr/>
        </p:nvSpPr>
        <p:spPr>
          <a:xfrm>
            <a:off x="1371600" y="7863840"/>
            <a:ext cx="1627488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 algn="just">
              <a:lnSpc>
                <a:spcPct val="151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A arquitetura passou a marcar essa diferença em cada registro. Não para dizer o que é mais verdadeiro — os dois são conhecimento —, mas para saber, sempre, quem tem autoridade para decidir sobre aquilo. Quando o registro é de vocês, quem decide são vocês.</a:t>
            </a:r>
            <a:endParaRPr lang="pt-B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80;p22"/>
          <p:cNvSpPr/>
          <p:nvPr/>
        </p:nvSpPr>
        <p:spPr>
          <a:xfrm>
            <a:off x="1342800" y="1552680"/>
            <a:ext cx="1712952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94000"/>
              </a:lnSpc>
              <a:tabLst>
                <a:tab pos="0" algn="l"/>
              </a:tabLst>
            </a:pPr>
            <a:r>
              <a:rPr lang="en-US" sz="54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Quatro avanços, e o que cada um protege</a:t>
            </a:r>
            <a:endParaRPr lang="pt-BR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Google Shape;181;p22"/>
          <p:cNvSpPr/>
          <p:nvPr/>
        </p:nvSpPr>
        <p:spPr>
          <a:xfrm>
            <a:off x="1371600" y="3566160"/>
            <a:ext cx="804528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94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Cada um guarda a própria chave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Google Shape;182;p22"/>
          <p:cNvSpPr/>
          <p:nvPr/>
        </p:nvSpPr>
        <p:spPr>
          <a:xfrm>
            <a:off x="1371600" y="4114800"/>
            <a:ext cx="7533360" cy="14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151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Não existe um banco central. Cada comunidade e cada instituição mantém os próprios registros, e quem sai leva tudo embora do índice comum na hora.</a:t>
            </a:r>
            <a:endParaRPr lang="pt-B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Google Shape;183;p22"/>
          <p:cNvSpPr/>
          <p:nvPr/>
        </p:nvSpPr>
        <p:spPr>
          <a:xfrm>
            <a:off x="9601200" y="3566160"/>
            <a:ext cx="84110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5560" rIns="0" bIns="25560" anchor="t">
            <a:noAutofit/>
          </a:bodyPr>
          <a:p>
            <a:pPr>
              <a:lnSpc>
                <a:spcPct val="94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Um dicionário vivo, não uma imposição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Google Shape;184;p22"/>
          <p:cNvSpPr/>
          <p:nvPr/>
        </p:nvSpPr>
        <p:spPr>
          <a:xfrm>
            <a:off x="9601200" y="4114800"/>
            <a:ext cx="7533360" cy="14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151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Os nomes de cada comunidade, em cada língua, são registro de primeira classe — com dono, origem e nível de acesso próprios. O nome científico deixa de ser o centro.</a:t>
            </a:r>
            <a:endParaRPr lang="pt-B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Google Shape;185;p22"/>
          <p:cNvSpPr/>
          <p:nvPr/>
        </p:nvSpPr>
        <p:spPr>
          <a:xfrm>
            <a:off x="1371600" y="5989320"/>
            <a:ext cx="804528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94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Regras escritas antes do conflito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Google Shape;186;p22"/>
          <p:cNvSpPr/>
          <p:nvPr/>
        </p:nvSpPr>
        <p:spPr>
          <a:xfrm>
            <a:off x="1371600" y="6537960"/>
            <a:ext cx="7533360" cy="14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151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Quem decide o quê, em três camadas; consentimento como processo, não como assinatura; e marcas de uso definidas pela comunidade. Com respaldo em lei.</a:t>
            </a:r>
            <a:endParaRPr lang="pt-B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Google Shape;187;p22"/>
          <p:cNvSpPr/>
          <p:nvPr/>
        </p:nvSpPr>
        <p:spPr>
          <a:xfrm>
            <a:off x="9601200" y="5989320"/>
            <a:ext cx="804528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94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Conhecimento e evidência separados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Google Shape;188;p22"/>
          <p:cNvSpPr/>
          <p:nvPr/>
        </p:nvSpPr>
        <p:spPr>
          <a:xfrm>
            <a:off x="9601200" y="6537960"/>
            <a:ext cx="7533360" cy="14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151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Cada registro passa a dizer se é a comunidade falando ou um terceiro registrando — e é isso que define quem tem autoridade sobre ele.</a:t>
            </a:r>
            <a:endParaRPr lang="pt-B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Google Shape;186;p22"/>
          <p:cNvSpPr/>
          <p:nvPr/>
        </p:nvSpPr>
        <p:spPr>
          <a:xfrm>
            <a:off x="1371600" y="8366760"/>
            <a:ext cx="1471140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151000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Nenhum dos quatro é sobre tecnologia. Os quatro são sobre quem decide — e é por isso que a parte mais difícil não se resolve programando.</a:t>
            </a:r>
            <a:endParaRPr lang="pt-BR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80;p22"/>
          <p:cNvSpPr/>
          <p:nvPr/>
        </p:nvSpPr>
        <p:spPr>
          <a:xfrm>
            <a:off x="1342800" y="1552680"/>
            <a:ext cx="1712952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94000"/>
              </a:lnSpc>
              <a:tabLst>
                <a:tab pos="0" algn="l"/>
              </a:tabLst>
            </a:pPr>
            <a:r>
              <a:rPr lang="en-US" sz="54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Perguntas que só vocês podem responder</a:t>
            </a:r>
            <a:endParaRPr lang="pt-BR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Google Shape;181;p22"/>
          <p:cNvSpPr/>
          <p:nvPr/>
        </p:nvSpPr>
        <p:spPr>
          <a:xfrm>
            <a:off x="1371600" y="3110040"/>
            <a:ext cx="12848040" cy="444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>
              <a:lnSpc>
                <a:spcPct val="94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Para a proposta de arquitetura avançar, questões precisam ser respondidas nas três camadas de governança.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4000"/>
              </a:lnSpc>
              <a:tabLst>
                <a:tab pos="0" algn="l"/>
              </a:tabLst>
            </a:pP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4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201F1D"/>
                </a:solidFill>
                <a:effectLst/>
                <a:uFillTx/>
                <a:latin typeface="Arial"/>
                <a:ea typeface="Arial"/>
              </a:rPr>
              <a:t>Seria muito bom ter um “ponto focal” do USEFLORA para estabelecer esta ponte entre as diferentes governanças e fazer a proposta de arquitetura avançar.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201F1D"/>
      </a:dk1>
      <a:lt1>
        <a:srgbClr val="FAF6E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Application>LibreOffice/26.2.5.2$Windows_X86_64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pt-BR</dc:language>
  <cp:lastModifiedBy/>
  <dcterms:modified xsi:type="dcterms:W3CDTF">2026-08-18T07:11:26Z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